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 type="screen16x9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slideViewPr/>
  <p:notesTextViewPr/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roc.N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panel-gradient-cover-5576e2e4.jpg"/><Relationship Id="rId101" Type="http://schemas.openxmlformats.org/officeDocument/2006/relationships/image" Target="../media/logo-3c306ff2.png"/><Relationship Id="rId102" Type="http://schemas.openxmlformats.org/officeDocument/2006/relationships/image" Target="../media/lukasz-pyrzyk-b2ee3a5a.jpg"/><Relationship Id="rId103" Type="http://schemas.openxmlformats.org/officeDocument/2006/relationships/image" Target="../media/lukasz-olbromski-ce33fe8b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4" Type="http://schemas.openxmlformats.org/officeDocument/2006/relationships/image" Target="../media/devstyle-c48cfc34.png"/><Relationship Id="rId105" Type="http://schemas.openxmlformats.org/officeDocument/2006/relationships/image" Target="../media/helion-4daf6405.jpg"/><Relationship Id="rId106" Type="http://schemas.openxmlformats.org/officeDocument/2006/relationships/image" Target="../media/hued-me-959179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7" Type="http://schemas.openxmlformats.org/officeDocument/2006/relationships/image" Target="../media/wrocnet-home-a5b7491a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8" Type="http://schemas.openxmlformats.org/officeDocument/2006/relationships/image" Target="../media/wrocnet-zostan-prelegentem-a0a97dce.png"/><Relationship Id="rId109" Type="http://schemas.openxmlformats.org/officeDocument/2006/relationships/image" Target="../media/panel-speaker-c7da979d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10" Type="http://schemas.openxmlformats.org/officeDocument/2006/relationships/image" Target="../media/wrocnet-organizatorzy-ea444f2f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11" Type="http://schemas.openxmlformats.org/officeDocument/2006/relationships/image" Target="../media/wrocnet-wystapili-u-nas-b0d312bd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12" Type="http://schemas.openxmlformats.org/officeDocument/2006/relationships/image" Target="../media/whatsappgrupa-fe5c95a9.jpg"/><Relationship Id="rId113" Type="http://schemas.openxmlformats.org/officeDocument/2006/relationships/image" Target="../media/panel-whatsapp-c653c172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2" Type="http://schemas.openxmlformats.org/officeDocument/2006/relationships/image" Target="../media/lukasz-pyrzyk-b2ee3a5a.jpg"/><Relationship Id="rId103" Type="http://schemas.openxmlformats.org/officeDocument/2006/relationships/image" Target="../media/lukasz-olbromski-ce33fe8b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0E22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pic>
        <p:nvPicPr>
          <p:cNvPr id="4" name="Grafika panelu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7827264" y="118872"/>
            <a:ext cx="4361688" cy="6739128"/>
          </a:xfrm>
          <a:prstGeom prst="rect">
            <a:avLst/>
          </a:prstGeom>
          <a:ln>
            <a:noFill/>
          </a:ln>
        </p:spPr>
      </p:pic>
      <p:sp>
        <p:nvSpPr>
          <p:cNvPr id="6" name="Text 6"/>
          <p:cNvSpPr txBox="1"/>
          <p:nvPr/>
        </p:nvSpPr>
        <p:spPr>
          <a:xfrm>
            <a:off x="749808" y="502920"/>
            <a:ext cx="6217920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D51A96"/>
                </a:solidFill>
                <a:latin typeface="Arial"/>
              </a:rPr>
              <a:t>170. SPOTKANIE WROC.NET</a:t>
            </a:r>
            <a:endParaRPr lang="pl-PL" sz="1100"/>
          </a:p>
        </p:txBody>
      </p:sp>
      <p:sp>
        <p:nvSpPr>
          <p:cNvPr id="7" name="Text 7"/>
          <p:cNvSpPr txBox="1"/>
          <p:nvPr/>
        </p:nvSpPr>
        <p:spPr>
          <a:xfrm>
            <a:off x="713232" y="1078992"/>
            <a:ext cx="6629400" cy="15727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4900" b="1">
                <a:solidFill>
                  <a:srgbClr val="FFFFFF"/>
                </a:solidFill>
                <a:latin typeface="Arial"/>
              </a:rPr>
              <a:t>OTWARCIE</a:t>
            </a:r>
            <a:endParaRPr lang="pl-PL" sz="4900"/>
          </a:p>
          <a:p>
            <a:pPr algn="l"/>
            <a:r>
              <a:rPr lang="pl-PL" sz="4900" b="1">
                <a:solidFill>
                  <a:srgbClr val="FFFFFF"/>
                </a:solidFill>
                <a:latin typeface="Arial"/>
              </a:rPr>
              <a:t>SEZONU</a:t>
            </a:r>
            <a:endParaRPr lang="pl-PL" sz="4900"/>
          </a:p>
        </p:txBody>
      </p:sp>
      <p:sp>
        <p:nvSpPr>
          <p:cNvPr id="8" name="Text 8"/>
          <p:cNvSpPr txBox="1"/>
          <p:nvPr/>
        </p:nvSpPr>
        <p:spPr>
          <a:xfrm>
            <a:off x="749808" y="2761488"/>
            <a:ext cx="6217920" cy="5486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600" b="1">
                <a:solidFill>
                  <a:srgbClr val="D51A96"/>
                </a:solidFill>
                <a:latin typeface="Arial"/>
              </a:rPr>
              <a:t>2026 / 2027</a:t>
            </a:r>
            <a:endParaRPr lang="pl-PL" sz="2600"/>
          </a:p>
        </p:txBody>
      </p:sp>
      <p:sp>
        <p:nvSpPr>
          <p:cNvPr id="10" name="Text 10"/>
          <p:cNvSpPr txBox="1"/>
          <p:nvPr/>
        </p:nvSpPr>
        <p:spPr>
          <a:xfrm>
            <a:off x="749808" y="3931920"/>
            <a:ext cx="6217920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1">
                <a:solidFill>
                  <a:srgbClr val="5E5264"/>
                </a:solidFill>
                <a:latin typeface="Arial"/>
              </a:rPr>
              <a:t>PANEL DYSKUSYJNY</a:t>
            </a:r>
            <a:endParaRPr lang="pl-PL" sz="1200"/>
          </a:p>
        </p:txBody>
      </p:sp>
      <p:sp>
        <p:nvSpPr>
          <p:cNvPr id="11" name="Text 11"/>
          <p:cNvSpPr txBox="1"/>
          <p:nvPr/>
        </p:nvSpPr>
        <p:spPr>
          <a:xfrm>
            <a:off x="749808" y="4297680"/>
            <a:ext cx="6492240" cy="9601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800" b="1">
                <a:solidFill>
                  <a:srgbClr val="FFFFFF"/>
                </a:solidFill>
                <a:latin typeface="Arial"/>
              </a:rPr>
              <a:t>Kod staniał.</a:t>
            </a:r>
            <a:endParaRPr lang="pl-PL" sz="2800"/>
          </a:p>
          <a:p>
            <a:pPr algn="l"/>
            <a:r>
              <a:rPr lang="pl-PL" sz="2800" b="1">
                <a:solidFill>
                  <a:srgbClr val="FFFFFF"/>
                </a:solidFill>
                <a:latin typeface="Arial"/>
              </a:rPr>
              <a:t>Odpowiedzialność nie.</a:t>
            </a:r>
            <a:endParaRPr lang="pl-PL" sz="2800"/>
          </a:p>
        </p:txBody>
      </p:sp>
      <p:sp>
        <p:nvSpPr>
          <p:cNvPr id="12" name="Text 12"/>
          <p:cNvSpPr txBox="1"/>
          <p:nvPr/>
        </p:nvSpPr>
        <p:spPr>
          <a:xfrm>
            <a:off x="749808" y="6053328"/>
            <a:ext cx="6583680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1">
                <a:solidFill>
                  <a:srgbClr val="FFFFFF"/>
                </a:solidFill>
                <a:latin typeface="Arial"/>
              </a:rPr>
              <a:t>22 WRZEŚNIA 2026  ·  18:30  ·  PUB WĘDRÓWKI</a:t>
            </a:r>
            <a:endParaRPr lang="pl-PL" sz="1200"/>
          </a:p>
        </p:txBody>
      </p:sp>
      <p:sp>
        <p:nvSpPr>
          <p:cNvPr id="13" name="Text 13"/>
          <p:cNvSpPr txBox="1"/>
          <p:nvPr/>
        </p:nvSpPr>
        <p:spPr>
          <a:xfrm>
            <a:off x="749808" y="6492240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</a:t>
            </a:r>
            <a:endParaRPr lang="pl-PL" sz="900"/>
          </a:p>
        </p:txBody>
      </p:sp>
      <p:pic>
        <p:nvPicPr>
          <p:cNvPr id="14" name="Wroc.NET logo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9500616" y="475488"/>
            <a:ext cx="1005840" cy="1005840"/>
          </a:xfrm>
          <a:prstGeom prst="rect">
            <a:avLst/>
          </a:prstGeom>
          <a:ln>
            <a:noFill/>
          </a:ln>
        </p:spPr>
      </p:pic>
      <p:sp>
        <p:nvSpPr>
          <p:cNvPr id="15" name="Shape 15"/>
          <p:cNvSpPr/>
          <p:nvPr/>
        </p:nvSpPr>
        <p:spPr>
          <a:xfrm>
            <a:off x="8183880" y="1856232"/>
            <a:ext cx="1627632" cy="162763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6" name="Łukasz Pyrzyk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284464" y="1956816"/>
            <a:ext cx="1426464" cy="1426464"/>
          </a:xfrm>
          <a:prstGeom prst="rect">
            <a:avLst/>
          </a:prstGeom>
          <a:ln>
            <a:noFill/>
          </a:ln>
        </p:spPr>
      </p:pic>
      <p:sp>
        <p:nvSpPr>
          <p:cNvPr id="17" name="Shape 17"/>
          <p:cNvSpPr/>
          <p:nvPr/>
        </p:nvSpPr>
        <p:spPr>
          <a:xfrm>
            <a:off x="10149840" y="1856232"/>
            <a:ext cx="1627632" cy="162763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8" name="Łukasz Olbromski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0250424" y="1956816"/>
            <a:ext cx="1426464" cy="1426464"/>
          </a:xfrm>
          <a:prstGeom prst="rect">
            <a:avLst/>
          </a:prstGeom>
          <a:ln>
            <a:noFill/>
          </a:ln>
        </p:spPr>
      </p:pic>
      <p:sp>
        <p:nvSpPr>
          <p:cNvPr id="19" name="Text 19"/>
          <p:cNvSpPr txBox="1"/>
          <p:nvPr/>
        </p:nvSpPr>
        <p:spPr>
          <a:xfrm>
            <a:off x="8065008" y="3675888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1">
                <a:solidFill>
                  <a:srgbClr val="FFFFFF"/>
                </a:solidFill>
                <a:latin typeface="Arial"/>
              </a:rPr>
              <a:t>Łukasz Pyrzyk</a:t>
            </a:r>
            <a:endParaRPr lang="pl-PL" sz="1200"/>
          </a:p>
        </p:txBody>
      </p:sp>
      <p:sp>
        <p:nvSpPr>
          <p:cNvPr id="20" name="Text 20"/>
          <p:cNvSpPr txBox="1"/>
          <p:nvPr/>
        </p:nvSpPr>
        <p:spPr>
          <a:xfrm>
            <a:off x="10040112" y="3675888"/>
            <a:ext cx="193852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1">
                <a:solidFill>
                  <a:srgbClr val="FFFFFF"/>
                </a:solidFill>
                <a:latin typeface="Arial"/>
              </a:rPr>
              <a:t>Łukasz Olbromski</a:t>
            </a:r>
            <a:endParaRPr lang="pl-PL" sz="1200"/>
          </a:p>
        </p:txBody>
      </p:sp>
      <p:sp>
        <p:nvSpPr>
          <p:cNvPr id="21" name="Text 21"/>
          <p:cNvSpPr txBox="1"/>
          <p:nvPr/>
        </p:nvSpPr>
        <p:spPr>
          <a:xfrm>
            <a:off x="8247888" y="5486400"/>
            <a:ext cx="3520440" cy="8686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900" b="1">
                <a:solidFill>
                  <a:srgbClr val="FFFFFF"/>
                </a:solidFill>
                <a:latin typeface="Arial"/>
              </a:rPr>
              <a:t>DYSKUSJA</a:t>
            </a:r>
            <a:endParaRPr lang="pl-PL" sz="1900"/>
          </a:p>
          <a:p>
            <a:pPr algn="c"/>
            <a:r>
              <a:rPr lang="pl-PL" sz="1900" b="1">
                <a:solidFill>
                  <a:srgbClr val="FFFFFF"/>
                </a:solidFill>
                <a:latin typeface="Arial"/>
              </a:rPr>
              <a:t>ZACZYNA SIĘ</a:t>
            </a:r>
            <a:endParaRPr lang="pl-PL" sz="1900"/>
          </a:p>
          <a:p>
            <a:pPr algn="c"/>
            <a:r>
              <a:rPr lang="pl-PL" sz="1900" b="1">
                <a:solidFill>
                  <a:srgbClr val="FFFFFF"/>
                </a:solidFill>
                <a:latin typeface="Arial"/>
              </a:rPr>
              <a:t>OD WAS</a:t>
            </a:r>
            <a:endParaRPr lang="pl-PL" sz="1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SEZON 2026/2027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Spotykamy się regularnie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02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755648"/>
            <a:ext cx="10515600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700" b="0">
                <a:solidFill>
                  <a:srgbClr val="5E5264"/>
                </a:solidFill>
                <a:latin typeface="Arial"/>
              </a:rPr>
              <a:t>Po dzisiejszym otwarciu: zawsze trzeci wtorek miesiąca.</a:t>
            </a:r>
            <a:endParaRPr lang="pl-PL" sz="1700"/>
          </a:p>
        </p:txBody>
      </p:sp>
      <p:sp>
        <p:nvSpPr>
          <p:cNvPr id="11" name="Line 11"/>
          <p:cNvSpPr/>
          <p:nvPr/>
        </p:nvSpPr>
        <p:spPr>
          <a:xfrm>
            <a:off x="1243584" y="3081528"/>
            <a:ext cx="9701784" cy="0"/>
          </a:xfrm>
          <a:prstGeom prst="line">
            <a:avLst/>
          </a:prstGeom>
          <a:ln w="25400">
            <a:solidFill>
              <a:srgbClr val="D8C4DF"/>
            </a:solidFill>
          </a:ln>
        </p:spPr>
      </p:sp>
      <p:sp>
        <p:nvSpPr>
          <p:cNvPr id="20" name="Circle 20"/>
          <p:cNvSpPr/>
          <p:nvPr/>
        </p:nvSpPr>
        <p:spPr>
          <a:xfrm>
            <a:off x="1581912" y="2862072"/>
            <a:ext cx="438912" cy="438912"/>
          </a:xfrm>
          <a:prstGeom prst="ellipse">
            <a:avLst/>
          </a:prstGeom>
          <a:solidFill>
            <a:srgbClr val="D51A96"/>
          </a:solidFill>
          <a:ln w="19050">
            <a:solidFill>
              <a:srgbClr val="FFFFFF"/>
            </a:solidFill>
          </a:ln>
        </p:spPr>
      </p:sp>
      <p:sp>
        <p:nvSpPr>
          <p:cNvPr id="21" name="Text 21"/>
          <p:cNvSpPr txBox="1"/>
          <p:nvPr/>
        </p:nvSpPr>
        <p:spPr>
          <a:xfrm>
            <a:off x="87782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D51A96"/>
                </a:solidFill>
                <a:latin typeface="Arial"/>
              </a:rPr>
              <a:t>22 WRZ</a:t>
            </a:r>
            <a:endParaRPr lang="pl-PL" sz="2500"/>
          </a:p>
        </p:txBody>
      </p:sp>
      <p:sp>
        <p:nvSpPr>
          <p:cNvPr id="22" name="Text 22"/>
          <p:cNvSpPr txBox="1"/>
          <p:nvPr/>
        </p:nvSpPr>
        <p:spPr>
          <a:xfrm>
            <a:off x="87782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1">
                <a:solidFill>
                  <a:srgbClr val="5E5264"/>
                </a:solidFill>
                <a:latin typeface="Arial"/>
              </a:rPr>
              <a:t>otwarcie</a:t>
            </a:r>
            <a:endParaRPr lang="pl-PL" sz="1200"/>
          </a:p>
        </p:txBody>
      </p:sp>
      <p:sp>
        <p:nvSpPr>
          <p:cNvPr id="23" name="Circle 23"/>
          <p:cNvSpPr/>
          <p:nvPr/>
        </p:nvSpPr>
        <p:spPr>
          <a:xfrm>
            <a:off x="4416552" y="2862072"/>
            <a:ext cx="438912" cy="438912"/>
          </a:xfrm>
          <a:prstGeom prst="ellipse">
            <a:avLst/>
          </a:prstGeom>
          <a:solidFill>
            <a:srgbClr val="641E78"/>
          </a:solidFill>
          <a:ln w="19050">
            <a:solidFill>
              <a:srgbClr val="FFFFFF"/>
            </a:solidFill>
          </a:ln>
        </p:spPr>
      </p:sp>
      <p:sp>
        <p:nvSpPr>
          <p:cNvPr id="24" name="Text 24"/>
          <p:cNvSpPr txBox="1"/>
          <p:nvPr/>
        </p:nvSpPr>
        <p:spPr>
          <a:xfrm>
            <a:off x="371246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171219"/>
                </a:solidFill>
                <a:latin typeface="Arial"/>
              </a:rPr>
              <a:t>20 PAŹ</a:t>
            </a:r>
            <a:endParaRPr lang="pl-PL" sz="2500"/>
          </a:p>
        </p:txBody>
      </p:sp>
      <p:sp>
        <p:nvSpPr>
          <p:cNvPr id="25" name="Text 25"/>
          <p:cNvSpPr txBox="1"/>
          <p:nvPr/>
        </p:nvSpPr>
        <p:spPr>
          <a:xfrm>
            <a:off x="371246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0">
                <a:solidFill>
                  <a:srgbClr val="5E5264"/>
                </a:solidFill>
                <a:latin typeface="Arial"/>
              </a:rPr>
              <a:t>3. wtorek</a:t>
            </a:r>
            <a:endParaRPr lang="pl-PL" sz="1200"/>
          </a:p>
        </p:txBody>
      </p:sp>
      <p:sp>
        <p:nvSpPr>
          <p:cNvPr id="26" name="Circle 26"/>
          <p:cNvSpPr/>
          <p:nvPr/>
        </p:nvSpPr>
        <p:spPr>
          <a:xfrm>
            <a:off x="7251192" y="2862072"/>
            <a:ext cx="438912" cy="438912"/>
          </a:xfrm>
          <a:prstGeom prst="ellipse">
            <a:avLst/>
          </a:prstGeom>
          <a:solidFill>
            <a:srgbClr val="641E78"/>
          </a:solidFill>
          <a:ln w="19050">
            <a:solidFill>
              <a:srgbClr val="FFFFFF"/>
            </a:solidFill>
          </a:ln>
        </p:spPr>
      </p:sp>
      <p:sp>
        <p:nvSpPr>
          <p:cNvPr id="27" name="Text 27"/>
          <p:cNvSpPr txBox="1"/>
          <p:nvPr/>
        </p:nvSpPr>
        <p:spPr>
          <a:xfrm>
            <a:off x="654710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171219"/>
                </a:solidFill>
                <a:latin typeface="Arial"/>
              </a:rPr>
              <a:t>17 LIS</a:t>
            </a:r>
            <a:endParaRPr lang="pl-PL" sz="2500"/>
          </a:p>
        </p:txBody>
      </p:sp>
      <p:sp>
        <p:nvSpPr>
          <p:cNvPr id="28" name="Text 28"/>
          <p:cNvSpPr txBox="1"/>
          <p:nvPr/>
        </p:nvSpPr>
        <p:spPr>
          <a:xfrm>
            <a:off x="654710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0">
                <a:solidFill>
                  <a:srgbClr val="5E5264"/>
                </a:solidFill>
                <a:latin typeface="Arial"/>
              </a:rPr>
              <a:t>3. wtorek</a:t>
            </a:r>
            <a:endParaRPr lang="pl-PL" sz="1200"/>
          </a:p>
        </p:txBody>
      </p:sp>
      <p:sp>
        <p:nvSpPr>
          <p:cNvPr id="29" name="Circle 29"/>
          <p:cNvSpPr/>
          <p:nvPr/>
        </p:nvSpPr>
        <p:spPr>
          <a:xfrm>
            <a:off x="10085832" y="2862072"/>
            <a:ext cx="438912" cy="438912"/>
          </a:xfrm>
          <a:prstGeom prst="ellipse">
            <a:avLst/>
          </a:prstGeom>
          <a:solidFill>
            <a:srgbClr val="641E78"/>
          </a:solidFill>
          <a:ln w="19050">
            <a:solidFill>
              <a:srgbClr val="FFFFFF"/>
            </a:solidFill>
          </a:ln>
        </p:spPr>
      </p:sp>
      <p:sp>
        <p:nvSpPr>
          <p:cNvPr id="30" name="Text 30"/>
          <p:cNvSpPr txBox="1"/>
          <p:nvPr/>
        </p:nvSpPr>
        <p:spPr>
          <a:xfrm>
            <a:off x="938174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171219"/>
                </a:solidFill>
                <a:latin typeface="Arial"/>
              </a:rPr>
              <a:t>15 GRU</a:t>
            </a:r>
            <a:endParaRPr lang="pl-PL" sz="2500"/>
          </a:p>
        </p:txBody>
      </p:sp>
      <p:sp>
        <p:nvSpPr>
          <p:cNvPr id="31" name="Text 31"/>
          <p:cNvSpPr txBox="1"/>
          <p:nvPr/>
        </p:nvSpPr>
        <p:spPr>
          <a:xfrm>
            <a:off x="938174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0">
                <a:solidFill>
                  <a:srgbClr val="5E5264"/>
                </a:solidFill>
                <a:latin typeface="Arial"/>
              </a:rPr>
              <a:t>3. wtorek</a:t>
            </a:r>
            <a:endParaRPr lang="pl-PL" sz="1200"/>
          </a:p>
        </p:txBody>
      </p:sp>
      <p:sp>
        <p:nvSpPr>
          <p:cNvPr id="40" name="Shape 40"/>
          <p:cNvSpPr/>
          <p:nvPr/>
        </p:nvSpPr>
        <p:spPr>
          <a:xfrm>
            <a:off x="1847088" y="4636008"/>
            <a:ext cx="8485632" cy="804672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41" name="Text 41"/>
          <p:cNvSpPr txBox="1"/>
          <p:nvPr/>
        </p:nvSpPr>
        <p:spPr>
          <a:xfrm>
            <a:off x="2057400" y="4818888"/>
            <a:ext cx="8065008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600" b="1">
                <a:solidFill>
                  <a:srgbClr val="641E78"/>
                </a:solidFill>
                <a:latin typeface="Arial"/>
              </a:rPr>
              <a:t>18:30  ·  PUB WĘDRÓWKI  ·  UL. PODWALE 37/38</a:t>
            </a:r>
            <a:endParaRPr lang="pl-PL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NASZE MIEJSCE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Pub Wędrówki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03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773936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500" b="1">
                <a:solidFill>
                  <a:srgbClr val="641E78"/>
                </a:solidFill>
                <a:latin typeface="Arial"/>
              </a:rPr>
              <a:t>UL. PODWALE 37/38  ·  WROCŁAW</a:t>
            </a:r>
            <a:endParaRPr lang="pl-PL" sz="1500"/>
          </a:p>
        </p:txBody>
      </p:sp>
      <p:sp>
        <p:nvSpPr>
          <p:cNvPr id="11" name="Text 11"/>
          <p:cNvSpPr txBox="1"/>
          <p:nvPr/>
        </p:nvSpPr>
        <p:spPr>
          <a:xfrm>
            <a:off x="713232" y="2468880"/>
            <a:ext cx="7498080" cy="71323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700" b="1">
                <a:solidFill>
                  <a:srgbClr val="171219"/>
                </a:solidFill>
                <a:latin typeface="Arial"/>
              </a:rPr>
              <a:t>Nie ma pizzy.</a:t>
            </a:r>
            <a:endParaRPr lang="pl-PL" sz="3700"/>
          </a:p>
        </p:txBody>
      </p:sp>
      <p:sp>
        <p:nvSpPr>
          <p:cNvPr id="12" name="Text 12"/>
          <p:cNvSpPr txBox="1"/>
          <p:nvPr/>
        </p:nvSpPr>
        <p:spPr>
          <a:xfrm>
            <a:off x="713232" y="3236976"/>
            <a:ext cx="7498080" cy="71323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700" b="1">
                <a:solidFill>
                  <a:srgbClr val="641E78"/>
                </a:solidFill>
                <a:latin typeface="Arial"/>
              </a:rPr>
              <a:t>Bar działa.</a:t>
            </a:r>
            <a:endParaRPr lang="pl-PL" sz="3700"/>
          </a:p>
        </p:txBody>
      </p:sp>
      <p:sp>
        <p:nvSpPr>
          <p:cNvPr id="13" name="Shape 13"/>
          <p:cNvSpPr/>
          <p:nvPr/>
        </p:nvSpPr>
        <p:spPr>
          <a:xfrm>
            <a:off x="8723376" y="2432304"/>
            <a:ext cx="2404872" cy="1956816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8979408" y="2816352"/>
            <a:ext cx="1892808" cy="10972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100" b="1">
                <a:solidFill>
                  <a:srgbClr val="FFFFFF"/>
                </a:solidFill>
                <a:latin typeface="Arial"/>
              </a:rPr>
              <a:t>PIWO</a:t>
            </a:r>
            <a:endParaRPr lang="pl-PL" sz="2100"/>
          </a:p>
          <a:p>
            <a:pPr algn="c"/>
            <a:r>
              <a:rPr lang="pl-PL" sz="2100" b="1">
                <a:solidFill>
                  <a:srgbClr val="FFFFFF"/>
                </a:solidFill>
                <a:latin typeface="Arial"/>
              </a:rPr>
              <a:t>I NAPOJE</a:t>
            </a:r>
            <a:endParaRPr lang="pl-PL" sz="2100"/>
          </a:p>
        </p:txBody>
      </p:sp>
      <p:sp>
        <p:nvSpPr>
          <p:cNvPr id="16" name="Text 16"/>
          <p:cNvSpPr txBox="1"/>
          <p:nvPr/>
        </p:nvSpPr>
        <p:spPr>
          <a:xfrm>
            <a:off x="713232" y="4718304"/>
            <a:ext cx="9738360" cy="39319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0">
                <a:solidFill>
                  <a:srgbClr val="5E5264"/>
                </a:solidFill>
                <a:latin typeface="Arial"/>
              </a:rPr>
              <a:t>Na miejscu nie zamówimy jedzenia. Piwo i inne napoje są za darmo*</a:t>
            </a:r>
            <a:endParaRPr lang="pl-PL" sz="1600"/>
          </a:p>
        </p:txBody>
      </p:sp>
      <p:sp>
        <p:nvSpPr>
          <p:cNvPr id="17" name="Text 17"/>
          <p:cNvSpPr txBox="1"/>
          <p:nvPr/>
        </p:nvSpPr>
        <p:spPr>
          <a:xfrm>
            <a:off x="713232" y="5230368"/>
            <a:ext cx="9738360" cy="39319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171219"/>
                </a:solidFill>
                <a:latin typeface="Arial"/>
              </a:rPr>
              <a:t>Po części oficjalnej zostajemy na rozmowy.</a:t>
            </a:r>
            <a:endParaRPr lang="pl-PL" sz="1600"/>
          </a:p>
        </p:txBody>
      </p:sp>
      <p:sp>
        <p:nvSpPr>
          <p:cNvPr id="18" name="Text 18"/>
          <p:cNvSpPr txBox="1"/>
          <p:nvPr/>
        </p:nvSpPr>
        <p:spPr>
          <a:xfrm>
            <a:off x="713232" y="5614416"/>
            <a:ext cx="9738360" cy="29260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0">
                <a:solidFill>
                  <a:srgbClr val="5E5264"/>
                </a:solidFill>
                <a:latin typeface="Arial"/>
              </a:rPr>
              <a:t>* aż wyczerpiemy limit od naszego sponsora. Może dzisiaj się uda? ;)</a:t>
            </a:r>
            <a:endParaRPr lang="pl-PL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NA KONIEC SPOTKANIA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Lista obecności = udział w losowaniu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04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956816"/>
            <a:ext cx="4983480" cy="6583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400" b="1">
                <a:solidFill>
                  <a:srgbClr val="641E78"/>
                </a:solidFill>
                <a:latin typeface="Arial"/>
              </a:rPr>
              <a:t>WPISUJESZ SIĘ</a:t>
            </a:r>
            <a:endParaRPr lang="pl-PL" sz="3400"/>
          </a:p>
        </p:txBody>
      </p:sp>
      <p:sp>
        <p:nvSpPr>
          <p:cNvPr id="11" name="Text 11"/>
          <p:cNvSpPr txBox="1"/>
          <p:nvPr/>
        </p:nvSpPr>
        <p:spPr>
          <a:xfrm>
            <a:off x="713232" y="2743200"/>
            <a:ext cx="5852160" cy="47548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100" b="1">
                <a:solidFill>
                  <a:srgbClr val="171219"/>
                </a:solidFill>
                <a:latin typeface="Arial"/>
              </a:rPr>
              <a:t>Bierzesz udział w losowaniu nagród.</a:t>
            </a:r>
            <a:endParaRPr lang="pl-PL" sz="2100"/>
          </a:p>
        </p:txBody>
      </p:sp>
      <p:sp>
        <p:nvSpPr>
          <p:cNvPr id="12" name="Shape 12"/>
          <p:cNvSpPr/>
          <p:nvPr/>
        </p:nvSpPr>
        <p:spPr>
          <a:xfrm>
            <a:off x="6931152" y="1856232"/>
            <a:ext cx="4261104" cy="3310128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7278624" y="2286000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500" b="1">
                <a:solidFill>
                  <a:srgbClr val="D51A96"/>
                </a:solidFill>
                <a:latin typeface="Arial"/>
              </a:rPr>
              <a:t>LOSOWANIE</a:t>
            </a:r>
            <a:endParaRPr lang="pl-PL" sz="1500"/>
          </a:p>
        </p:txBody>
      </p:sp>
      <p:sp>
        <p:nvSpPr>
          <p:cNvPr id="14" name="Text 14"/>
          <p:cNvSpPr txBox="1"/>
          <p:nvPr/>
        </p:nvSpPr>
        <p:spPr>
          <a:xfrm>
            <a:off x="7278624" y="2898648"/>
            <a:ext cx="3566160" cy="10241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900" b="1">
                <a:solidFill>
                  <a:srgbClr val="FFFFFF"/>
                </a:solidFill>
                <a:latin typeface="Arial"/>
              </a:rPr>
              <a:t>NA KONIEC</a:t>
            </a:r>
            <a:endParaRPr lang="pl-PL" sz="2900"/>
          </a:p>
          <a:p>
            <a:pPr algn="c"/>
            <a:r>
              <a:rPr lang="pl-PL" sz="2900" b="1">
                <a:solidFill>
                  <a:srgbClr val="FFFFFF"/>
                </a:solidFill>
                <a:latin typeface="Arial"/>
              </a:rPr>
              <a:t>SPOTKANIA</a:t>
            </a:r>
            <a:endParaRPr lang="pl-PL" sz="2900"/>
          </a:p>
        </p:txBody>
      </p:sp>
      <p:sp>
        <p:nvSpPr>
          <p:cNvPr id="15" name="Text 15"/>
          <p:cNvSpPr txBox="1"/>
          <p:nvPr/>
        </p:nvSpPr>
        <p:spPr>
          <a:xfrm>
            <a:off x="713232" y="4041648"/>
            <a:ext cx="5870448" cy="877824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0">
                <a:solidFill>
                  <a:srgbClr val="5E5264"/>
                </a:solidFill>
                <a:latin typeface="Arial"/>
              </a:rPr>
              <a:t>Do wygrania są różne nagrody.</a:t>
            </a:r>
            <a:endParaRPr lang="pl-PL" sz="1800"/>
          </a:p>
          <a:p>
            <a:pPr algn="l"/>
            <a:r>
              <a:rPr lang="pl-PL" sz="1800" b="0">
                <a:solidFill>
                  <a:srgbClr val="5E5264"/>
                </a:solidFill>
                <a:latin typeface="Arial"/>
              </a:rPr>
              <a:t>Najczęściej książki od sponsorów.</a:t>
            </a:r>
            <a:endParaRPr lang="pl-PL"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PARTNER STRATEGICZNY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Wspiera nas Devstyle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05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984248"/>
            <a:ext cx="5120640" cy="93268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2700" b="1">
                <a:solidFill>
                  <a:srgbClr val="641E78"/>
                </a:solidFill>
                <a:latin typeface="Arial"/>
              </a:rPr>
              <a:t>DZIĘKUJEMY ZA WSPARCIE</a:t>
            </a:r>
            <a:endParaRPr lang="pl-PL" sz="2700"/>
          </a:p>
          <a:p>
            <a:pPr algn="l"/>
            <a:r>
              <a:rPr lang="pl-PL" sz="2700" b="1">
                <a:solidFill>
                  <a:srgbClr val="641E78"/>
                </a:solidFill>
                <a:latin typeface="Arial"/>
              </a:rPr>
              <a:t>WROC.NET</a:t>
            </a:r>
            <a:endParaRPr lang="pl-PL" sz="2700"/>
          </a:p>
        </p:txBody>
      </p:sp>
      <p:sp>
        <p:nvSpPr>
          <p:cNvPr id="11" name="Text 11"/>
          <p:cNvSpPr txBox="1"/>
          <p:nvPr/>
        </p:nvSpPr>
        <p:spPr>
          <a:xfrm>
            <a:off x="713232" y="3291840"/>
            <a:ext cx="5230368" cy="84124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900" b="0">
                <a:solidFill>
                  <a:srgbClr val="171219"/>
                </a:solidFill>
                <a:latin typeface="Arial"/>
              </a:rPr>
              <a:t>Devstyle jest partnerem strategicznym</a:t>
            </a:r>
            <a:endParaRPr lang="pl-PL" sz="1900"/>
          </a:p>
          <a:p>
            <a:pPr algn="l"/>
            <a:r>
              <a:rPr lang="pl-PL" sz="1900" b="0">
                <a:solidFill>
                  <a:srgbClr val="171219"/>
                </a:solidFill>
                <a:latin typeface="Arial"/>
              </a:rPr>
              <a:t>naszej społeczności.</a:t>
            </a:r>
            <a:endParaRPr lang="pl-PL" sz="1900"/>
          </a:p>
        </p:txBody>
      </p:sp>
      <p:sp>
        <p:nvSpPr>
          <p:cNvPr id="14" name="Shape 14"/>
          <p:cNvSpPr/>
          <p:nvPr/>
        </p:nvSpPr>
        <p:spPr>
          <a:xfrm>
            <a:off x="6656832" y="1828800"/>
            <a:ext cx="4535424" cy="3794760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pic>
        <p:nvPicPr>
          <p:cNvPr id="15" name="Logo Devstyle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7031736" y="3081528"/>
            <a:ext cx="3785616" cy="758952"/>
          </a:xfrm>
          <a:prstGeom prst="rect">
            <a:avLst/>
          </a:prstGeom>
          <a:ln>
            <a:noFill/>
          </a:ln>
        </p:spPr>
      </p:pic>
      <p:sp>
        <p:nvSpPr>
          <p:cNvPr id="16" name="Text 16"/>
          <p:cNvSpPr txBox="1"/>
          <p:nvPr/>
        </p:nvSpPr>
        <p:spPr>
          <a:xfrm>
            <a:off x="713232" y="4114800"/>
            <a:ext cx="5120640" cy="25603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5E5264"/>
                </a:solidFill>
                <a:latin typeface="Arial"/>
              </a:rPr>
              <a:t>PARTNERZY WSPIERAJĄCY</a:t>
            </a:r>
            <a:endParaRPr lang="pl-PL" sz="1100"/>
          </a:p>
        </p:txBody>
      </p:sp>
      <p:pic>
        <p:nvPicPr>
          <p:cNvPr id="17" name="Logo Helion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713232" y="4434840"/>
            <a:ext cx="1463040" cy="484632"/>
          </a:xfrm>
          <a:prstGeom prst="rect">
            <a:avLst/>
          </a:prstGeom>
          <a:ln>
            <a:noFill/>
          </a:ln>
        </p:spPr>
      </p:pic>
      <p:sp>
        <p:nvSpPr>
          <p:cNvPr id="18" name="Text 18"/>
          <p:cNvSpPr txBox="1"/>
          <p:nvPr/>
        </p:nvSpPr>
        <p:spPr>
          <a:xfrm>
            <a:off x="713232" y="4937760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0">
                <a:solidFill>
                  <a:srgbClr val="5E5264"/>
                </a:solidFill>
                <a:latin typeface="Arial"/>
              </a:rPr>
              <a:t>partner nagród</a:t>
            </a:r>
            <a:endParaRPr lang="pl-PL" sz="1000"/>
          </a:p>
        </p:txBody>
      </p:sp>
      <p:pic>
        <p:nvPicPr>
          <p:cNvPr id="19" name="Logo hued.me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2404872" y="4471416"/>
            <a:ext cx="420624" cy="420624"/>
          </a:xfrm>
          <a:prstGeom prst="rect">
            <a:avLst/>
          </a:prstGeom>
          <a:ln>
            <a:noFill/>
          </a:ln>
        </p:spPr>
      </p:pic>
      <p:sp>
        <p:nvSpPr>
          <p:cNvPr id="20" name="Text 20"/>
          <p:cNvSpPr txBox="1"/>
          <p:nvPr/>
        </p:nvSpPr>
        <p:spPr>
          <a:xfrm>
            <a:off x="2404872" y="49377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0">
                <a:solidFill>
                  <a:srgbClr val="5E5264"/>
                </a:solidFill>
                <a:latin typeface="Arial"/>
              </a:rPr>
              <a:t>hued.me — partner medialny</a:t>
            </a:r>
            <a:endParaRPr lang="pl-PL" sz="1000"/>
          </a:p>
        </p:txBody>
      </p:sp>
      <p:sp>
        <p:nvSpPr>
          <p:cNvPr id="13" name="Text 13"/>
          <p:cNvSpPr txBox="1"/>
          <p:nvPr/>
        </p:nvSpPr>
        <p:spPr>
          <a:xfrm>
            <a:off x="713232" y="534924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641E78"/>
                </a:solidFill>
                <a:latin typeface="Arial"/>
              </a:rPr>
              <a:t>https://devstyle.pl/</a:t>
            </a:r>
            <a:endParaRPr lang="pl-PL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NOWOŚĆ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Nowe wrocnet.org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06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główna wrocnet.or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sp>
        <p:nvSpPr>
          <p:cNvPr id="12" name="Shape 12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194560"/>
            <a:ext cx="2304288" cy="42062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000" b="1">
                <a:solidFill>
                  <a:srgbClr val="D51A96"/>
                </a:solidFill>
                <a:latin typeface="Arial"/>
              </a:rPr>
              <a:t>PROŚCIEJ</a:t>
            </a:r>
            <a:endParaRPr lang="pl-PL" sz="2000"/>
          </a:p>
        </p:txBody>
      </p:sp>
      <p:sp>
        <p:nvSpPr>
          <p:cNvPr id="14" name="Text 14"/>
          <p:cNvSpPr txBox="1"/>
          <p:nvPr/>
        </p:nvSpPr>
        <p:spPr>
          <a:xfrm>
            <a:off x="8613648" y="2834640"/>
            <a:ext cx="2267712" cy="148132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900" b="1">
                <a:solidFill>
                  <a:srgbClr val="171219"/>
                </a:solidFill>
                <a:latin typeface="Arial"/>
              </a:rPr>
              <a:t>Spotkania, ludzie</a:t>
            </a:r>
            <a:endParaRPr lang="pl-PL" sz="1900"/>
          </a:p>
          <a:p>
            <a:pPr algn="l"/>
            <a:r>
              <a:rPr lang="pl-PL" sz="1900" b="1">
                <a:solidFill>
                  <a:srgbClr val="171219"/>
                </a:solidFill>
                <a:latin typeface="Arial"/>
              </a:rPr>
              <a:t>i historia grupy</a:t>
            </a:r>
            <a:endParaRPr lang="pl-PL" sz="1900"/>
          </a:p>
          <a:p>
            <a:pPr algn="l"/>
            <a:r>
              <a:rPr lang="pl-PL" sz="1900" b="1">
                <a:solidFill>
                  <a:srgbClr val="171219"/>
                </a:solidFill>
                <a:latin typeface="Arial"/>
              </a:rPr>
              <a:t>w jednym miejscu.</a:t>
            </a:r>
            <a:endParaRPr lang="pl-PL" sz="1900"/>
          </a:p>
        </p:txBody>
      </p:sp>
      <p:sp>
        <p:nvSpPr>
          <p:cNvPr id="16" name="Text 16"/>
          <p:cNvSpPr txBox="1"/>
          <p:nvPr/>
        </p:nvSpPr>
        <p:spPr>
          <a:xfrm>
            <a:off x="8613648" y="4992624"/>
            <a:ext cx="2267712" cy="36576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600"/>
          </a:p>
        </p:txBody>
      </p:sp>
      <p:sp>
        <p:nvSpPr>
          <p:cNvPr id="17" name="Text 17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Masz temat? Zostań prelegentem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07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Zostań prelegentem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pic>
        <p:nvPicPr>
          <p:cNvPr id="12" name="Grafika mikrofonu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8321040" y="1847088"/>
            <a:ext cx="2871216" cy="3877056"/>
          </a:xfrm>
          <a:prstGeom prst="rect">
            <a:avLst/>
          </a:prstGeom>
          <a:ln>
            <a:noFill/>
          </a:ln>
        </p:spPr>
      </p:pic>
      <p:sp>
        <p:nvSpPr>
          <p:cNvPr id="16" name="Shape 16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641E78">
              <a:alpha val="70000"/>
            </a:srgbClr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212848"/>
            <a:ext cx="2304288" cy="42062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800" b="1">
                <a:solidFill>
                  <a:srgbClr val="D51A96"/>
                </a:solidFill>
                <a:latin typeface="Arial"/>
              </a:rPr>
              <a:t>MASZ POMYSŁ?</a:t>
            </a:r>
            <a:endParaRPr lang="pl-PL" sz="1800"/>
          </a:p>
        </p:txBody>
      </p:sp>
      <p:sp>
        <p:nvSpPr>
          <p:cNvPr id="14" name="Text 14"/>
          <p:cNvSpPr txBox="1"/>
          <p:nvPr/>
        </p:nvSpPr>
        <p:spPr>
          <a:xfrm>
            <a:off x="8613648" y="2834640"/>
            <a:ext cx="2286000" cy="100584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2000" b="1">
                <a:solidFill>
                  <a:srgbClr val="FFFFFF"/>
                </a:solidFill>
                <a:latin typeface="Arial"/>
              </a:rPr>
              <a:t>Nie musisz mieć</a:t>
            </a:r>
            <a:endParaRPr lang="pl-PL" sz="2000"/>
          </a:p>
          <a:p>
            <a:pPr algn="l"/>
            <a:r>
              <a:rPr lang="pl-PL" sz="2000" b="1">
                <a:solidFill>
                  <a:srgbClr val="FFFFFF"/>
                </a:solidFill>
                <a:latin typeface="Arial"/>
              </a:rPr>
              <a:t>gotowej prezentacji.</a:t>
            </a:r>
            <a:endParaRPr lang="pl-PL" sz="2000"/>
          </a:p>
        </p:txBody>
      </p:sp>
      <p:sp>
        <p:nvSpPr>
          <p:cNvPr id="15" name="Text 15"/>
          <p:cNvSpPr txBox="1"/>
          <p:nvPr/>
        </p:nvSpPr>
        <p:spPr>
          <a:xfrm>
            <a:off x="8613648" y="4142232"/>
            <a:ext cx="2267712" cy="74980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600" b="0">
                <a:solidFill>
                  <a:srgbClr val="FFFFFF"/>
                </a:solidFill>
                <a:latin typeface="Arial"/>
              </a:rPr>
              <a:t>Zgłoś temat.</a:t>
            </a:r>
            <a:endParaRPr lang="pl-PL" sz="1600"/>
          </a:p>
          <a:p>
            <a:pPr algn="l"/>
            <a:r>
              <a:rPr lang="pl-PL" sz="1600" b="0">
                <a:solidFill>
                  <a:srgbClr val="FFFFFF"/>
                </a:solidFill>
                <a:latin typeface="Arial"/>
              </a:rPr>
              <a:t>Pomożemy dalej.</a:t>
            </a:r>
            <a:endParaRPr lang="pl-PL" sz="1600"/>
          </a:p>
        </p:txBody>
      </p:sp>
      <p:sp>
        <p:nvSpPr>
          <p:cNvPr id="17" name="Text 17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Poznaj organizatorów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08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Organizatorzy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sp>
        <p:nvSpPr>
          <p:cNvPr id="12" name="Shape 12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212848"/>
            <a:ext cx="2304288" cy="64008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1">
                <a:solidFill>
                  <a:srgbClr val="D51A96"/>
                </a:solidFill>
                <a:latin typeface="Arial"/>
              </a:rPr>
              <a:t>LUDZIE ZA WROC.NET</a:t>
            </a:r>
            <a:endParaRPr lang="pl-PL" sz="1800"/>
          </a:p>
        </p:txBody>
      </p:sp>
      <p:sp>
        <p:nvSpPr>
          <p:cNvPr id="14" name="Text 14"/>
          <p:cNvSpPr txBox="1"/>
          <p:nvPr/>
        </p:nvSpPr>
        <p:spPr>
          <a:xfrm>
            <a:off x="8613648" y="3136392"/>
            <a:ext cx="2267712" cy="118872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1">
                <a:solidFill>
                  <a:srgbClr val="171219"/>
                </a:solidFill>
                <a:latin typeface="Arial"/>
              </a:rPr>
              <a:t>Poznaj aktualnych</a:t>
            </a:r>
            <a:endParaRPr lang="pl-PL" sz="1800"/>
          </a:p>
          <a:p>
            <a:pPr algn="l"/>
            <a:r>
              <a:rPr lang="pl-PL" sz="1800" b="1">
                <a:solidFill>
                  <a:srgbClr val="171219"/>
                </a:solidFill>
                <a:latin typeface="Arial"/>
              </a:rPr>
              <a:t>i byłych organizatorów społeczności.</a:t>
            </a:r>
            <a:endParaRPr lang="pl-PL" sz="1800"/>
          </a:p>
        </p:txBody>
      </p:sp>
      <p:sp>
        <p:nvSpPr>
          <p:cNvPr id="16" name="Text 16"/>
          <p:cNvSpPr txBox="1"/>
          <p:nvPr/>
        </p:nvSpPr>
        <p:spPr>
          <a:xfrm>
            <a:off x="8613648" y="4992624"/>
            <a:ext cx="2267712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641E78"/>
                </a:solidFill>
                <a:latin typeface="Arial"/>
              </a:rPr>
              <a:t>wrocnet.org/organizatorzy/</a:t>
            </a:r>
            <a:endParaRPr lang="pl-PL" sz="1100"/>
          </a:p>
        </p:txBody>
      </p:sp>
      <p:sp>
        <p:nvSpPr>
          <p:cNvPr id="17" name="Text 17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Wystąpili u nas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09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Wystąpili u nas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sp>
        <p:nvSpPr>
          <p:cNvPr id="12" name="Shape 12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139696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400" b="1">
                <a:solidFill>
                  <a:srgbClr val="641E78"/>
                </a:solidFill>
                <a:latin typeface="Arial"/>
              </a:rPr>
              <a:t>156</a:t>
            </a:r>
            <a:endParaRPr lang="pl-PL" sz="3400"/>
          </a:p>
        </p:txBody>
      </p:sp>
      <p:sp>
        <p:nvSpPr>
          <p:cNvPr id="14" name="Text 14"/>
          <p:cNvSpPr txBox="1"/>
          <p:nvPr/>
        </p:nvSpPr>
        <p:spPr>
          <a:xfrm>
            <a:off x="8613648" y="27432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5E5264"/>
                </a:solidFill>
                <a:latin typeface="Arial"/>
              </a:rPr>
              <a:t>PRELEGENTÓW</a:t>
            </a:r>
            <a:endParaRPr lang="pl-PL" sz="1100"/>
          </a:p>
        </p:txBody>
      </p:sp>
      <p:sp>
        <p:nvSpPr>
          <p:cNvPr id="15" name="Text 15"/>
          <p:cNvSpPr txBox="1"/>
          <p:nvPr/>
        </p:nvSpPr>
        <p:spPr>
          <a:xfrm>
            <a:off x="8613648" y="3310128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400" b="1">
                <a:solidFill>
                  <a:srgbClr val="D51A96"/>
                </a:solidFill>
                <a:latin typeface="Arial"/>
              </a:rPr>
              <a:t>233</a:t>
            </a:r>
            <a:endParaRPr lang="pl-PL" sz="3400"/>
          </a:p>
        </p:txBody>
      </p:sp>
      <p:sp>
        <p:nvSpPr>
          <p:cNvPr id="16" name="Text 16"/>
          <p:cNvSpPr txBox="1"/>
          <p:nvPr/>
        </p:nvSpPr>
        <p:spPr>
          <a:xfrm>
            <a:off x="8613648" y="391363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5E5264"/>
                </a:solidFill>
                <a:latin typeface="Arial"/>
              </a:rPr>
              <a:t>SESJE</a:t>
            </a:r>
            <a:endParaRPr lang="pl-PL" sz="1100"/>
          </a:p>
        </p:txBody>
      </p:sp>
      <p:sp>
        <p:nvSpPr>
          <p:cNvPr id="18" name="Text 18"/>
          <p:cNvSpPr txBox="1"/>
          <p:nvPr/>
        </p:nvSpPr>
        <p:spPr>
          <a:xfrm>
            <a:off x="8613648" y="4928616"/>
            <a:ext cx="2267712" cy="56692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300" b="1">
                <a:solidFill>
                  <a:srgbClr val="171219"/>
                </a:solidFill>
                <a:latin typeface="Arial"/>
              </a:rPr>
              <a:t>Wyszukuj i wracaj</a:t>
            </a:r>
            <a:endParaRPr lang="pl-PL" sz="1300"/>
          </a:p>
          <a:p>
            <a:pPr algn="l"/>
            <a:r>
              <a:rPr lang="pl-PL" sz="1300" b="1">
                <a:solidFill>
                  <a:srgbClr val="171219"/>
                </a:solidFill>
                <a:latin typeface="Arial"/>
              </a:rPr>
              <a:t>do wcześniejszych tematów.</a:t>
            </a:r>
            <a:endParaRPr lang="pl-PL" sz="1300"/>
          </a:p>
        </p:txBody>
      </p:sp>
      <p:sp>
        <p:nvSpPr>
          <p:cNvPr id="19" name="Text 19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BĄDŹMY W KONTAKCIE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Dołącz do społeczności na WhatsAppie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10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713232" y="1837944"/>
            <a:ext cx="3959352" cy="3959352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pic>
        <p:nvPicPr>
          <p:cNvPr id="11" name="Kod QR społeczności WhatsApp"/>
          <p:cNvPicPr>
            <a:picLocks noChangeAspect="1"/>
          </p:cNvPicPr>
          <p:nvPr/>
        </p:nvPicPr>
        <p:blipFill>
          <a:blip r:embed="rId112"/>
          <a:stretch>
            <a:fillRect/>
          </a:stretch>
        </p:blipFill>
        <p:spPr>
          <a:xfrm>
            <a:off x="841248" y="1965960"/>
            <a:ext cx="3703320" cy="3703320"/>
          </a:xfrm>
          <a:prstGeom prst="rect">
            <a:avLst/>
          </a:prstGeom>
          <a:ln>
            <a:noFill/>
          </a:ln>
        </p:spPr>
      </p:pic>
      <p:pic>
        <p:nvPicPr>
          <p:cNvPr id="12" name="Grafika panelu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4956048" y="1837944"/>
            <a:ext cx="6236208" cy="3959352"/>
          </a:xfrm>
          <a:prstGeom prst="rect">
            <a:avLst/>
          </a:prstGeom>
          <a:ln>
            <a:noFill/>
          </a:ln>
        </p:spPr>
      </p:pic>
      <p:sp>
        <p:nvSpPr>
          <p:cNvPr id="13" name="Text 13"/>
          <p:cNvSpPr txBox="1"/>
          <p:nvPr/>
        </p:nvSpPr>
        <p:spPr>
          <a:xfrm>
            <a:off x="5358384" y="2267712"/>
            <a:ext cx="5394960" cy="42062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D51A96"/>
                </a:solidFill>
                <a:latin typeface="Arial"/>
              </a:rPr>
              <a:t>ZESKANUJ KOD</a:t>
            </a:r>
            <a:endParaRPr lang="pl-PL" sz="1600"/>
          </a:p>
        </p:txBody>
      </p:sp>
      <p:sp>
        <p:nvSpPr>
          <p:cNvPr id="14" name="Text 14"/>
          <p:cNvSpPr txBox="1"/>
          <p:nvPr/>
        </p:nvSpPr>
        <p:spPr>
          <a:xfrm>
            <a:off x="5358384" y="2834640"/>
            <a:ext cx="5248656" cy="10972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500" b="1">
                <a:solidFill>
                  <a:srgbClr val="FFFFFF"/>
                </a:solidFill>
                <a:latin typeface="Arial"/>
              </a:rPr>
              <a:t>Wrocławska</a:t>
            </a:r>
            <a:endParaRPr lang="pl-PL" sz="3500"/>
          </a:p>
          <a:p>
            <a:pPr algn="l"/>
            <a:r>
              <a:rPr lang="pl-PL" sz="3500" b="1">
                <a:solidFill>
                  <a:srgbClr val="FFFFFF"/>
                </a:solidFill>
                <a:latin typeface="Arial"/>
              </a:rPr>
              <a:t>Grupa .NET</a:t>
            </a:r>
            <a:endParaRPr lang="pl-PL" sz="3500"/>
          </a:p>
        </p:txBody>
      </p:sp>
      <p:sp>
        <p:nvSpPr>
          <p:cNvPr id="15" name="Text 15"/>
          <p:cNvSpPr txBox="1"/>
          <p:nvPr/>
        </p:nvSpPr>
        <p:spPr>
          <a:xfrm>
            <a:off x="5358384" y="4288536"/>
            <a:ext cx="5047488" cy="74980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0">
                <a:solidFill>
                  <a:srgbClr val="FFFFFF"/>
                </a:solidFill>
                <a:latin typeface="Arial"/>
              </a:rPr>
              <a:t>Ogłoszenia, rozmowy i kontakt między spotkaniami.</a:t>
            </a:r>
            <a:endParaRPr lang="pl-PL" sz="1800"/>
          </a:p>
        </p:txBody>
      </p:sp>
      <p:sp>
        <p:nvSpPr>
          <p:cNvPr id="17" name="Text 17"/>
          <p:cNvSpPr txBox="1"/>
          <p:nvPr/>
        </p:nvSpPr>
        <p:spPr>
          <a:xfrm>
            <a:off x="5358384" y="5321808"/>
            <a:ext cx="50474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300" b="1">
                <a:solidFill>
                  <a:srgbClr val="D51A96"/>
                </a:solidFill>
                <a:latin typeface="Arial"/>
              </a:rPr>
              <a:t>wrocnet.org/whatsapp</a:t>
            </a:r>
            <a:endParaRPr lang="pl-PL" sz="13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PO CZĘŚCI OFICJALNEJ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Zostajemy. Bo tak trzeba.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11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828800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600" b="1">
                <a:solidFill>
                  <a:srgbClr val="171219"/>
                </a:solidFill>
                <a:latin typeface="Arial"/>
              </a:rPr>
              <a:t>🍺 Piwo. 💬 Rozmowy. 🤝 Networking.</a:t>
            </a:r>
            <a:endParaRPr lang="pl-PL" sz="2600"/>
          </a:p>
        </p:txBody>
      </p:sp>
      <p:sp>
        <p:nvSpPr>
          <p:cNvPr id="11" name="Text 11"/>
          <p:cNvSpPr txBox="1"/>
          <p:nvPr/>
        </p:nvSpPr>
        <p:spPr>
          <a:xfrm>
            <a:off x="713232" y="2450592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100" b="1">
                <a:solidFill>
                  <a:srgbClr val="641E78"/>
                </a:solidFill>
                <a:latin typeface="Arial"/>
              </a:rPr>
              <a:t>A czasem — całkiem serio — nowa praca.</a:t>
            </a:r>
            <a:endParaRPr lang="pl-PL" sz="2100"/>
          </a:p>
        </p:txBody>
      </p:sp>
      <p:sp>
        <p:nvSpPr>
          <p:cNvPr id="12" name="Shape 12"/>
          <p:cNvSpPr/>
          <p:nvPr/>
        </p:nvSpPr>
        <p:spPr>
          <a:xfrm>
            <a:off x="713232" y="3364992"/>
            <a:ext cx="9966960" cy="1691640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1005840" y="3611880"/>
            <a:ext cx="9418320" cy="86868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2400" b="1">
                <a:solidFill>
                  <a:srgbClr val="FFFFFF"/>
                </a:solidFill>
                <a:latin typeface="Arial"/>
              </a:rPr>
              <a:t>PONOĆ NAJWIĘKSZE KARIERY ZACZYNAJĄ SIĘ</a:t>
            </a:r>
            <a:endParaRPr lang="pl-PL" sz="2400"/>
          </a:p>
          <a:p>
            <a:pPr algn="l"/>
            <a:r>
              <a:rPr lang="pl-PL" sz="2400" b="1">
                <a:solidFill>
                  <a:srgbClr val="FFFFFF"/>
                </a:solidFill>
                <a:latin typeface="Arial"/>
              </a:rPr>
              <a:t>PRZY BARZE, NIE NA LINKEDIN</a:t>
            </a:r>
            <a:endParaRPr lang="pl-PL" sz="2400"/>
          </a:p>
        </p:txBody>
      </p:sp>
      <p:sp>
        <p:nvSpPr>
          <p:cNvPr id="14" name="Text 14"/>
          <p:cNvSpPr txBox="1"/>
          <p:nvPr/>
        </p:nvSpPr>
        <p:spPr>
          <a:xfrm>
            <a:off x="1005840" y="4526280"/>
            <a:ext cx="9418320" cy="38404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400" b="1">
                <a:solidFill>
                  <a:srgbClr val="D51A96"/>
                </a:solidFill>
                <a:latin typeface="Arial"/>
              </a:rPr>
              <a:t>(przynajmniej tak mówią ci, którzy zostali dłużej)</a:t>
            </a:r>
            <a:endParaRPr lang="pl-PL" sz="1400"/>
          </a:p>
        </p:txBody>
      </p:sp>
      <p:sp>
        <p:nvSpPr>
          <p:cNvPr id="15" name="Text 15"/>
          <p:cNvSpPr txBox="1"/>
          <p:nvPr/>
        </p:nvSpPr>
        <p:spPr>
          <a:xfrm>
            <a:off x="713232" y="5349240"/>
            <a:ext cx="9966960" cy="4114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0">
                <a:solidFill>
                  <a:srgbClr val="5E5264"/>
                </a:solidFill>
                <a:latin typeface="Arial"/>
              </a:rPr>
              <a:t>Zostań chwilę dłużej — może właśnie tu jest Twoja następna okazja.</a:t>
            </a:r>
            <a:endParaRPr lang="pl-PL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DZISIEJSZY PANEL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Kod staniał. Odpowiedzialność nie.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12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783080"/>
            <a:ext cx="5897880" cy="10241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500" b="1">
                <a:solidFill>
                  <a:srgbClr val="641E78"/>
                </a:solidFill>
                <a:latin typeface="Arial"/>
              </a:rPr>
              <a:t>Co znaczy być inżynierem</a:t>
            </a:r>
            <a:endParaRPr lang="pl-PL" sz="2500"/>
          </a:p>
          <a:p>
            <a:pPr algn="l"/>
            <a:r>
              <a:rPr lang="pl-PL" sz="2500" b="1">
                <a:solidFill>
                  <a:srgbClr val="641E78"/>
                </a:solidFill>
                <a:latin typeface="Arial"/>
              </a:rPr>
              <a:t>w erze agentów AI?</a:t>
            </a:r>
            <a:endParaRPr lang="pl-PL" sz="2500"/>
          </a:p>
        </p:txBody>
      </p:sp>
      <p:sp>
        <p:nvSpPr>
          <p:cNvPr id="11" name="Text 11"/>
          <p:cNvSpPr txBox="1"/>
          <p:nvPr/>
        </p:nvSpPr>
        <p:spPr>
          <a:xfrm>
            <a:off x="713232" y="2880360"/>
            <a:ext cx="5715000" cy="6400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1">
                <a:solidFill>
                  <a:srgbClr val="5E5264"/>
                </a:solidFill>
                <a:latin typeface="Arial"/>
              </a:rPr>
              <a:t>ARCHITEKTURA  ·  SPECYFIKACJA  ·  DOMENA</a:t>
            </a:r>
            <a:endParaRPr lang="pl-PL" sz="1200"/>
          </a:p>
          <a:p>
            <a:pPr algn="l"/>
            <a:r>
              <a:rPr lang="pl-PL" sz="1200" b="1">
                <a:solidFill>
                  <a:srgbClr val="5E5264"/>
                </a:solidFill>
                <a:latin typeface="Arial"/>
              </a:rPr>
              <a:t>OCENA  ·  ODPOWIEDZIALNOŚĆ</a:t>
            </a:r>
            <a:endParaRPr lang="pl-PL" sz="1200"/>
          </a:p>
        </p:txBody>
      </p:sp>
      <p:sp>
        <p:nvSpPr>
          <p:cNvPr id="12" name="Shape 12"/>
          <p:cNvSpPr/>
          <p:nvPr/>
        </p:nvSpPr>
        <p:spPr>
          <a:xfrm>
            <a:off x="713232" y="3867912"/>
            <a:ext cx="5833872" cy="1335024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960120" y="4014216"/>
            <a:ext cx="5340096" cy="32918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FFFFFF"/>
                </a:solidFill>
                <a:latin typeface="Arial"/>
              </a:rPr>
              <a:t>UCZESTNICY TEŻ SĄ PRELEGENTAMI</a:t>
            </a:r>
            <a:endParaRPr lang="pl-PL" sz="1600"/>
          </a:p>
        </p:txBody>
      </p:sp>
      <p:sp>
        <p:nvSpPr>
          <p:cNvPr id="14" name="Text 14"/>
          <p:cNvSpPr txBox="1"/>
          <p:nvPr/>
        </p:nvSpPr>
        <p:spPr>
          <a:xfrm>
            <a:off x="960120" y="4398264"/>
            <a:ext cx="5340096" cy="55778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0">
                <a:solidFill>
                  <a:srgbClr val="FFFFFF"/>
                </a:solidFill>
                <a:latin typeface="Arial"/>
              </a:rPr>
              <a:t>Pytajcie, dorzucajcie kontrargumenty i doświadczenia.</a:t>
            </a:r>
            <a:endParaRPr lang="pl-PL" sz="1200"/>
          </a:p>
          <a:p>
            <a:pPr algn="l"/>
            <a:r>
              <a:rPr lang="pl-PL" sz="1200" b="0">
                <a:solidFill>
                  <a:srgbClr val="FFFFFF"/>
                </a:solidFill>
                <a:latin typeface="Arial"/>
              </a:rPr>
              <a:t>Loża szyderców również mile widziana :)</a:t>
            </a:r>
            <a:endParaRPr lang="pl-PL" sz="1200"/>
          </a:p>
        </p:txBody>
      </p:sp>
      <p:sp>
        <p:nvSpPr>
          <p:cNvPr id="15" name="Shape 15"/>
          <p:cNvSpPr/>
          <p:nvPr/>
        </p:nvSpPr>
        <p:spPr>
          <a:xfrm>
            <a:off x="7114032" y="1856232"/>
            <a:ext cx="1883664" cy="188366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6" name="Łukasz Pyrzyk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7232904" y="1975104"/>
            <a:ext cx="1645920" cy="1645920"/>
          </a:xfrm>
          <a:prstGeom prst="rect">
            <a:avLst/>
          </a:prstGeom>
          <a:ln>
            <a:noFill/>
          </a:ln>
        </p:spPr>
      </p:pic>
      <p:sp>
        <p:nvSpPr>
          <p:cNvPr id="17" name="Shape 17"/>
          <p:cNvSpPr/>
          <p:nvPr/>
        </p:nvSpPr>
        <p:spPr>
          <a:xfrm>
            <a:off x="9281160" y="1856232"/>
            <a:ext cx="1883664" cy="188366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8" name="Łukasz Olbromski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9400032" y="1975104"/>
            <a:ext cx="1645920" cy="1645920"/>
          </a:xfrm>
          <a:prstGeom prst="rect">
            <a:avLst/>
          </a:prstGeom>
          <a:ln>
            <a:noFill/>
          </a:ln>
        </p:spPr>
      </p:pic>
      <p:sp>
        <p:nvSpPr>
          <p:cNvPr id="19" name="Text 19"/>
          <p:cNvSpPr txBox="1"/>
          <p:nvPr/>
        </p:nvSpPr>
        <p:spPr>
          <a:xfrm>
            <a:off x="7059168" y="3913632"/>
            <a:ext cx="1993392" cy="3200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300" b="1">
                <a:solidFill>
                  <a:srgbClr val="171219"/>
                </a:solidFill>
                <a:latin typeface="Arial"/>
              </a:rPr>
              <a:t>Łukasz Pyrzyk</a:t>
            </a:r>
            <a:endParaRPr lang="pl-PL" sz="1300"/>
          </a:p>
        </p:txBody>
      </p:sp>
      <p:sp>
        <p:nvSpPr>
          <p:cNvPr id="20" name="Text 20"/>
          <p:cNvSpPr txBox="1"/>
          <p:nvPr/>
        </p:nvSpPr>
        <p:spPr>
          <a:xfrm>
            <a:off x="9162288" y="3913632"/>
            <a:ext cx="2121408" cy="3200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300" b="1">
                <a:solidFill>
                  <a:srgbClr val="171219"/>
                </a:solidFill>
                <a:latin typeface="Arial"/>
              </a:rPr>
              <a:t>Łukasz Olbromski</a:t>
            </a:r>
            <a:endParaRPr lang="pl-PL" sz="1300"/>
          </a:p>
        </p:txBody>
      </p:sp>
      <p:sp>
        <p:nvSpPr>
          <p:cNvPr id="21" name="Text 21"/>
          <p:cNvSpPr txBox="1"/>
          <p:nvPr/>
        </p:nvSpPr>
        <p:spPr>
          <a:xfrm>
            <a:off x="7150608" y="4718304"/>
            <a:ext cx="3913632" cy="5029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300" b="1">
                <a:solidFill>
                  <a:srgbClr val="D51A96"/>
                </a:solidFill>
                <a:latin typeface="Arial"/>
              </a:rPr>
              <a:t>+ WY  ·  ZACZYNAMY</a:t>
            </a:r>
            <a:endParaRPr lang="pl-PL" sz="2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roc.NET">
  <a:themeElements>
    <a:clrScheme name="Wroc.NET">
      <a:dk1>
        <a:srgbClr val="160E22"/>
      </a:dk1>
      <a:lt1>
        <a:srgbClr val="FFFFFF"/>
      </a:lt1>
      <a:dk2>
        <a:srgbClr val="23152F"/>
      </a:dk2>
      <a:lt2>
        <a:srgbClr val="F7F3F8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F13BB8"/>
      </a:hlink>
      <a:folHlink>
        <a:srgbClr val="8B2BBE"/>
      </a:folHlink>
    </a:clrScheme>
    <a:fontScheme name="Wroc.NE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Wroc.NET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12</Slides>
  <Notes>0</Notes>
  <HiddenSlides>0</HiddenSlides>
  <Company>Wroc.NET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Otwarcie sezonu Wroc.NET 2026/2027</dc:title>
  <dc:creator>Łukasz Pyrzyk</dc:creator>
  <cp:lastModifiedBy>Łukasz Pyrzyk</cp:lastModifiedBy>
  <dcterms:created xsi:type="dcterms:W3CDTF">2026-09-21T12:00:00Z</dcterms:created>
  <dcterms:modified xsi:type="dcterms:W3CDTF">2026-09-21T12:00:00Z</dcterms:modified>
</cp:coreProperties>
</file>