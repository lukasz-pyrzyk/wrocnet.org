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2CBD5"/>
          </a:solidFill>
        </a:fill>
      </a:tcStyle>
    </a:wholeTbl>
    <a:band2H>
      <a:tcTxStyle b="def" i="def"/>
      <a:tcStyle>
        <a:tcBdr/>
        <a:fill>
          <a:solidFill>
            <a:srgbClr val="EAE7E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CBE8"/>
          </a:solidFill>
        </a:fill>
      </a:tcStyle>
    </a:wholeTbl>
    <a:band2H>
      <a:tcTxStyle b="def" i="def"/>
      <a:tcStyle>
        <a:tcBdr/>
        <a:fill>
          <a:solidFill>
            <a:srgbClr val="EDE7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CCD7"/>
          </a:solidFill>
        </a:fill>
      </a:tcStyle>
    </a:wholeTbl>
    <a:band2H>
      <a:tcTxStyle b="def" i="def"/>
      <a:tcStyle>
        <a:tcBdr/>
        <a:fill>
          <a:solidFill>
            <a:srgbClr val="EAE7E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60E22"/>
              </a:solidFill>
              <a:prstDash val="solid"/>
              <a:round/>
            </a:ln>
          </a:top>
          <a:bottom>
            <a:ln w="254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60E22"/>
              </a:solidFill>
              <a:prstDash val="solid"/>
              <a:round/>
            </a:ln>
          </a:top>
          <a:bottom>
            <a:ln w="254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B"/>
          </a:solidFill>
        </a:fill>
      </a:tcStyle>
    </a:wholeTbl>
    <a:band2H>
      <a:tcTxStyle b="def" i="def"/>
      <a:tcStyle>
        <a:tcBdr/>
        <a:fill>
          <a:solidFill>
            <a:srgbClr val="E7E6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60E2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60E22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60E22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12700" cap="flat">
              <a:solidFill>
                <a:srgbClr val="160E22"/>
              </a:solidFill>
              <a:prstDash val="solid"/>
              <a:round/>
            </a:ln>
          </a:top>
          <a:bottom>
            <a:ln w="127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solidFill>
            <a:srgbClr val="160E22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12700" cap="flat">
              <a:solidFill>
                <a:srgbClr val="160E22"/>
              </a:solidFill>
              <a:prstDash val="solid"/>
              <a:round/>
            </a:ln>
          </a:top>
          <a:bottom>
            <a:ln w="127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solidFill>
            <a:srgbClr val="160E22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50800" cap="flat">
              <a:solidFill>
                <a:srgbClr val="160E22"/>
              </a:solidFill>
              <a:prstDash val="solid"/>
              <a:round/>
            </a:ln>
          </a:top>
          <a:bottom>
            <a:ln w="127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12700" cap="flat">
              <a:solidFill>
                <a:srgbClr val="160E22"/>
              </a:solidFill>
              <a:prstDash val="solid"/>
              <a:round/>
            </a:ln>
          </a:top>
          <a:bottom>
            <a:ln w="254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6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60E22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1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22" name="Grafika panelu" descr="Grafika panelu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27264" y="118871"/>
            <a:ext cx="4361689" cy="673913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6"/>
          <p:cNvSpPr txBox="1"/>
          <p:nvPr/>
        </p:nvSpPr>
        <p:spPr>
          <a:xfrm>
            <a:off x="749807" y="511301"/>
            <a:ext cx="6217922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rgbClr val="D51A96"/>
                </a:solidFill>
              </a:defRPr>
            </a:lvl1pPr>
          </a:lstStyle>
          <a:p>
            <a:pPr/>
            <a:r>
              <a:t>170. SPOTKANIE WROC.NET</a:t>
            </a:r>
          </a:p>
        </p:txBody>
      </p:sp>
      <p:sp>
        <p:nvSpPr>
          <p:cNvPr id="24" name="Text 7"/>
          <p:cNvSpPr txBox="1"/>
          <p:nvPr/>
        </p:nvSpPr>
        <p:spPr>
          <a:xfrm>
            <a:off x="713231" y="1091203"/>
            <a:ext cx="6629401" cy="1548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4900">
                <a:solidFill>
                  <a:srgbClr val="FFFFFF"/>
                </a:solidFill>
              </a:defRPr>
            </a:pPr>
            <a:r>
              <a:t>OTWARCIE</a:t>
            </a:r>
            <a:endParaRPr>
              <a:solidFill>
                <a:srgbClr val="000000"/>
              </a:solidFill>
            </a:endParaRPr>
          </a:p>
          <a:p>
            <a:pPr>
              <a:defRPr b="1" sz="4900">
                <a:solidFill>
                  <a:srgbClr val="FFFFFF"/>
                </a:solidFill>
              </a:defRPr>
            </a:pPr>
            <a:r>
              <a:t>SEZONU</a:t>
            </a:r>
          </a:p>
        </p:txBody>
      </p:sp>
      <p:sp>
        <p:nvSpPr>
          <p:cNvPr id="25" name="Text 8"/>
          <p:cNvSpPr txBox="1"/>
          <p:nvPr/>
        </p:nvSpPr>
        <p:spPr>
          <a:xfrm>
            <a:off x="749807" y="2771207"/>
            <a:ext cx="6217922" cy="529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600">
                <a:solidFill>
                  <a:srgbClr val="D51A96"/>
                </a:solidFill>
              </a:defRPr>
            </a:lvl1pPr>
          </a:lstStyle>
          <a:p>
            <a:pPr/>
            <a:r>
              <a:t>2026 / 2027</a:t>
            </a:r>
          </a:p>
        </p:txBody>
      </p:sp>
      <p:sp>
        <p:nvSpPr>
          <p:cNvPr id="26" name="Text 10"/>
          <p:cNvSpPr txBox="1"/>
          <p:nvPr/>
        </p:nvSpPr>
        <p:spPr>
          <a:xfrm>
            <a:off x="749807" y="3927808"/>
            <a:ext cx="6217922" cy="31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5E5264"/>
                </a:solidFill>
              </a:defRPr>
            </a:lvl1pPr>
          </a:lstStyle>
          <a:p>
            <a:pPr/>
            <a:r>
              <a:t>PANEL DYSKUSYJNY</a:t>
            </a:r>
          </a:p>
        </p:txBody>
      </p:sp>
      <p:sp>
        <p:nvSpPr>
          <p:cNvPr id="27" name="Text 11"/>
          <p:cNvSpPr txBox="1"/>
          <p:nvPr/>
        </p:nvSpPr>
        <p:spPr>
          <a:xfrm>
            <a:off x="749807" y="4304004"/>
            <a:ext cx="6492242" cy="94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Kod staniał.</a:t>
            </a:r>
            <a:endParaRPr>
              <a:solidFill>
                <a:srgbClr val="000000"/>
              </a:solidFill>
            </a:endParaRP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Odpowiedzialność nie.</a:t>
            </a:r>
          </a:p>
        </p:txBody>
      </p:sp>
      <p:sp>
        <p:nvSpPr>
          <p:cNvPr id="28" name="Text 12"/>
          <p:cNvSpPr txBox="1"/>
          <p:nvPr/>
        </p:nvSpPr>
        <p:spPr>
          <a:xfrm>
            <a:off x="749807" y="6049217"/>
            <a:ext cx="6583682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22 WRZEŚNIA 2026  ·  18:30  ·  PUB WĘDRÓWKI</a:t>
            </a:r>
          </a:p>
        </p:txBody>
      </p:sp>
      <p:sp>
        <p:nvSpPr>
          <p:cNvPr id="29" name="Text 13"/>
          <p:cNvSpPr txBox="1"/>
          <p:nvPr/>
        </p:nvSpPr>
        <p:spPr>
          <a:xfrm>
            <a:off x="749808" y="6448897"/>
            <a:ext cx="2834640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</a:t>
            </a:r>
          </a:p>
        </p:txBody>
      </p:sp>
      <p:pic>
        <p:nvPicPr>
          <p:cNvPr id="30" name="Wroc.NET logo" descr="Wroc.NET log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00616" y="475487"/>
            <a:ext cx="1005841" cy="100584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hape 15"/>
          <p:cNvSpPr/>
          <p:nvPr/>
        </p:nvSpPr>
        <p:spPr>
          <a:xfrm>
            <a:off x="8183880" y="1856232"/>
            <a:ext cx="1627633" cy="16276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38000" dir="5400000">
              <a:srgbClr val="000000">
                <a:alpha val="35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32" name="Łukasz Pyrzyk" descr="Łukasz Pyrzyk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84464" y="1956816"/>
            <a:ext cx="1426465" cy="1426465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Shape 17"/>
          <p:cNvSpPr/>
          <p:nvPr/>
        </p:nvSpPr>
        <p:spPr>
          <a:xfrm>
            <a:off x="10149840" y="1856232"/>
            <a:ext cx="1627633" cy="16276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38000" dir="5400000">
              <a:srgbClr val="000000">
                <a:alpha val="35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34" name="Łukasz Olbromski" descr="Łukasz Olbromski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250423" y="1956816"/>
            <a:ext cx="1426465" cy="142646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 19"/>
          <p:cNvSpPr txBox="1"/>
          <p:nvPr/>
        </p:nvSpPr>
        <p:spPr>
          <a:xfrm>
            <a:off x="8065007" y="3671776"/>
            <a:ext cx="1847089" cy="31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Łukasz Pyrzyk</a:t>
            </a:r>
          </a:p>
        </p:txBody>
      </p:sp>
      <p:sp>
        <p:nvSpPr>
          <p:cNvPr id="36" name="Text 20"/>
          <p:cNvSpPr txBox="1"/>
          <p:nvPr/>
        </p:nvSpPr>
        <p:spPr>
          <a:xfrm>
            <a:off x="10040111" y="3671776"/>
            <a:ext cx="1938529" cy="31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Łukasz Olbromski</a:t>
            </a:r>
          </a:p>
        </p:txBody>
      </p:sp>
      <p:sp>
        <p:nvSpPr>
          <p:cNvPr id="37" name="Text 21"/>
          <p:cNvSpPr txBox="1"/>
          <p:nvPr/>
        </p:nvSpPr>
        <p:spPr>
          <a:xfrm>
            <a:off x="8247887" y="5432435"/>
            <a:ext cx="3520442" cy="976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1900">
                <a:solidFill>
                  <a:srgbClr val="FFFFFF"/>
                </a:solidFill>
              </a:defRPr>
            </a:pPr>
            <a:r>
              <a:t>DYSKUSJA</a:t>
            </a:r>
            <a:endParaRPr>
              <a:solidFill>
                <a:srgbClr val="000000"/>
              </a:solidFill>
            </a:endParaRPr>
          </a:p>
          <a:p>
            <a:pPr>
              <a:defRPr b="1" sz="1900">
                <a:solidFill>
                  <a:srgbClr val="FFFFFF"/>
                </a:solidFill>
              </a:defRPr>
            </a:pPr>
            <a:r>
              <a:t>ZACZYNA SIĘ</a:t>
            </a:r>
            <a:endParaRPr>
              <a:solidFill>
                <a:srgbClr val="000000"/>
              </a:solidFill>
            </a:endParaRPr>
          </a:p>
          <a:p>
            <a:pPr>
              <a:defRPr b="1" sz="1900">
                <a:solidFill>
                  <a:srgbClr val="FFFFFF"/>
                </a:solidFill>
              </a:defRPr>
            </a:pPr>
            <a:r>
              <a:t>OD WAS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0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1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SEZON 2026/2027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Spotykamy się regularnie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46" name="Text 10"/>
          <p:cNvSpPr txBox="1"/>
          <p:nvPr/>
        </p:nvSpPr>
        <p:spPr>
          <a:xfrm>
            <a:off x="713231" y="1778483"/>
            <a:ext cx="10515601" cy="393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700">
                <a:solidFill>
                  <a:srgbClr val="5E5264"/>
                </a:solidFill>
              </a:defRPr>
            </a:lvl1pPr>
          </a:lstStyle>
          <a:p>
            <a:pPr/>
            <a:r>
              <a:t>Po dzisiejszym otwarciu: zawsze trzeci wtorek miesiąca.</a:t>
            </a:r>
          </a:p>
        </p:txBody>
      </p:sp>
      <p:sp>
        <p:nvSpPr>
          <p:cNvPr id="47" name="Line 11"/>
          <p:cNvSpPr/>
          <p:nvPr/>
        </p:nvSpPr>
        <p:spPr>
          <a:xfrm>
            <a:off x="1243584" y="3081527"/>
            <a:ext cx="9701785" cy="1"/>
          </a:xfrm>
          <a:prstGeom prst="line">
            <a:avLst/>
          </a:prstGeom>
          <a:ln w="254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" name="Circle 20"/>
          <p:cNvSpPr/>
          <p:nvPr/>
        </p:nvSpPr>
        <p:spPr>
          <a:xfrm>
            <a:off x="1581911" y="2862072"/>
            <a:ext cx="438913" cy="438912"/>
          </a:xfrm>
          <a:prstGeom prst="ellipse">
            <a:avLst/>
          </a:prstGeom>
          <a:solidFill>
            <a:srgbClr val="D51A96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9" name="Text 21"/>
          <p:cNvSpPr txBox="1"/>
          <p:nvPr/>
        </p:nvSpPr>
        <p:spPr>
          <a:xfrm>
            <a:off x="877824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D51A96"/>
                </a:solidFill>
              </a:defRPr>
            </a:lvl1pPr>
          </a:lstStyle>
          <a:p>
            <a:pPr/>
            <a:r>
              <a:t>22 WRZ</a:t>
            </a:r>
          </a:p>
        </p:txBody>
      </p:sp>
      <p:sp>
        <p:nvSpPr>
          <p:cNvPr id="50" name="Text 22"/>
          <p:cNvSpPr txBox="1"/>
          <p:nvPr/>
        </p:nvSpPr>
        <p:spPr>
          <a:xfrm>
            <a:off x="877824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5E5264"/>
                </a:solidFill>
              </a:defRPr>
            </a:lvl1pPr>
          </a:lstStyle>
          <a:p>
            <a:pPr/>
            <a:r>
              <a:t>otwarcie</a:t>
            </a:r>
          </a:p>
        </p:txBody>
      </p:sp>
      <p:sp>
        <p:nvSpPr>
          <p:cNvPr id="51" name="Circle 23"/>
          <p:cNvSpPr/>
          <p:nvPr/>
        </p:nvSpPr>
        <p:spPr>
          <a:xfrm>
            <a:off x="4416552" y="2862072"/>
            <a:ext cx="438913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2" name="Text 24"/>
          <p:cNvSpPr txBox="1"/>
          <p:nvPr/>
        </p:nvSpPr>
        <p:spPr>
          <a:xfrm>
            <a:off x="3712464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171219"/>
                </a:solidFill>
              </a:defRPr>
            </a:lvl1pPr>
          </a:lstStyle>
          <a:p>
            <a:pPr/>
            <a:r>
              <a:t>20 PAŹ</a:t>
            </a:r>
          </a:p>
        </p:txBody>
      </p:sp>
      <p:sp>
        <p:nvSpPr>
          <p:cNvPr id="53" name="Text 25"/>
          <p:cNvSpPr txBox="1"/>
          <p:nvPr/>
        </p:nvSpPr>
        <p:spPr>
          <a:xfrm>
            <a:off x="3712464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200">
                <a:solidFill>
                  <a:srgbClr val="5E5264"/>
                </a:solidFill>
              </a:defRPr>
            </a:lvl1pPr>
          </a:lstStyle>
          <a:p>
            <a:pPr/>
            <a:r>
              <a:t>3. wtorek</a:t>
            </a:r>
          </a:p>
        </p:txBody>
      </p:sp>
      <p:sp>
        <p:nvSpPr>
          <p:cNvPr id="54" name="Circle 26"/>
          <p:cNvSpPr/>
          <p:nvPr/>
        </p:nvSpPr>
        <p:spPr>
          <a:xfrm>
            <a:off x="7251192" y="2862072"/>
            <a:ext cx="438913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5" name="Text 27"/>
          <p:cNvSpPr txBox="1"/>
          <p:nvPr/>
        </p:nvSpPr>
        <p:spPr>
          <a:xfrm>
            <a:off x="6547104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171219"/>
                </a:solidFill>
              </a:defRPr>
            </a:lvl1pPr>
          </a:lstStyle>
          <a:p>
            <a:pPr/>
            <a:r>
              <a:t>17 LIS</a:t>
            </a:r>
          </a:p>
        </p:txBody>
      </p:sp>
      <p:sp>
        <p:nvSpPr>
          <p:cNvPr id="56" name="Text 28"/>
          <p:cNvSpPr txBox="1"/>
          <p:nvPr/>
        </p:nvSpPr>
        <p:spPr>
          <a:xfrm>
            <a:off x="6547104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200">
                <a:solidFill>
                  <a:srgbClr val="5E5264"/>
                </a:solidFill>
              </a:defRPr>
            </a:lvl1pPr>
          </a:lstStyle>
          <a:p>
            <a:pPr/>
            <a:r>
              <a:t>3. wtorek</a:t>
            </a:r>
          </a:p>
        </p:txBody>
      </p:sp>
      <p:sp>
        <p:nvSpPr>
          <p:cNvPr id="57" name="Circle 29"/>
          <p:cNvSpPr/>
          <p:nvPr/>
        </p:nvSpPr>
        <p:spPr>
          <a:xfrm>
            <a:off x="10085831" y="2862072"/>
            <a:ext cx="438913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8" name="Text 30"/>
          <p:cNvSpPr txBox="1"/>
          <p:nvPr/>
        </p:nvSpPr>
        <p:spPr>
          <a:xfrm>
            <a:off x="9381743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171219"/>
                </a:solidFill>
              </a:defRPr>
            </a:lvl1pPr>
          </a:lstStyle>
          <a:p>
            <a:pPr/>
            <a:r>
              <a:t>15 GRU</a:t>
            </a:r>
          </a:p>
        </p:txBody>
      </p:sp>
      <p:sp>
        <p:nvSpPr>
          <p:cNvPr id="59" name="Text 31"/>
          <p:cNvSpPr txBox="1"/>
          <p:nvPr/>
        </p:nvSpPr>
        <p:spPr>
          <a:xfrm>
            <a:off x="9381743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200">
                <a:solidFill>
                  <a:srgbClr val="5E5264"/>
                </a:solidFill>
              </a:defRPr>
            </a:lvl1pPr>
          </a:lstStyle>
          <a:p>
            <a:pPr/>
            <a:r>
              <a:t>3. wtorek</a:t>
            </a:r>
          </a:p>
        </p:txBody>
      </p:sp>
      <p:sp>
        <p:nvSpPr>
          <p:cNvPr id="60" name="Shape 40"/>
          <p:cNvSpPr/>
          <p:nvPr/>
        </p:nvSpPr>
        <p:spPr>
          <a:xfrm>
            <a:off x="1847088" y="4636008"/>
            <a:ext cx="8485632" cy="804673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1" name="Text 41"/>
          <p:cNvSpPr txBox="1"/>
          <p:nvPr/>
        </p:nvSpPr>
        <p:spPr>
          <a:xfrm>
            <a:off x="2057400" y="4826783"/>
            <a:ext cx="8065007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chemeClr val="accent1"/>
                </a:solidFill>
              </a:defRPr>
            </a:lvl1pPr>
          </a:lstStyle>
          <a:p>
            <a:pPr/>
            <a:r>
              <a:t>18:30  ·  PUB WĘDRÓWKI  ·  UL. PODWALE 37/38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4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5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NASZE MIEJSCE</a:t>
            </a:r>
          </a:p>
        </p:txBody>
      </p:sp>
      <p:sp>
        <p:nvSpPr>
          <p:cNvPr id="66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Pub Wędrówki</a:t>
            </a:r>
          </a:p>
        </p:txBody>
      </p:sp>
      <p:sp>
        <p:nvSpPr>
          <p:cNvPr id="67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8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70" name="Text 10"/>
          <p:cNvSpPr txBox="1"/>
          <p:nvPr/>
        </p:nvSpPr>
        <p:spPr>
          <a:xfrm>
            <a:off x="713231" y="1778829"/>
            <a:ext cx="6400801" cy="355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500">
                <a:solidFill>
                  <a:schemeClr val="accent1"/>
                </a:solidFill>
              </a:defRPr>
            </a:lvl1pPr>
          </a:lstStyle>
          <a:p>
            <a:pPr/>
            <a:r>
              <a:t>UL. PODWALE 37/38  ·  WROCŁAW</a:t>
            </a:r>
          </a:p>
        </p:txBody>
      </p:sp>
      <p:sp>
        <p:nvSpPr>
          <p:cNvPr id="71" name="Text 11"/>
          <p:cNvSpPr txBox="1"/>
          <p:nvPr/>
        </p:nvSpPr>
        <p:spPr>
          <a:xfrm>
            <a:off x="713231" y="2493330"/>
            <a:ext cx="7498082" cy="664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700">
                <a:solidFill>
                  <a:srgbClr val="171219"/>
                </a:solidFill>
              </a:defRPr>
            </a:lvl1pPr>
          </a:lstStyle>
          <a:p>
            <a:pPr/>
            <a:r>
              <a:t>Nie ma pizzy.</a:t>
            </a:r>
          </a:p>
        </p:txBody>
      </p:sp>
      <p:sp>
        <p:nvSpPr>
          <p:cNvPr id="72" name="Text 12"/>
          <p:cNvSpPr txBox="1"/>
          <p:nvPr/>
        </p:nvSpPr>
        <p:spPr>
          <a:xfrm>
            <a:off x="713231" y="3261426"/>
            <a:ext cx="7498082" cy="664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700">
                <a:solidFill>
                  <a:schemeClr val="accent1"/>
                </a:solidFill>
              </a:defRPr>
            </a:lvl1pPr>
          </a:lstStyle>
          <a:p>
            <a:pPr/>
            <a:r>
              <a:t>Bar działa.</a:t>
            </a:r>
          </a:p>
        </p:txBody>
      </p:sp>
      <p:sp>
        <p:nvSpPr>
          <p:cNvPr id="73" name="Shape 13"/>
          <p:cNvSpPr/>
          <p:nvPr/>
        </p:nvSpPr>
        <p:spPr>
          <a:xfrm>
            <a:off x="8723376" y="2432304"/>
            <a:ext cx="2404873" cy="195681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4" name="Text 14"/>
          <p:cNvSpPr txBox="1"/>
          <p:nvPr/>
        </p:nvSpPr>
        <p:spPr>
          <a:xfrm>
            <a:off x="8979407" y="2991402"/>
            <a:ext cx="1892808" cy="74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PIWO</a:t>
            </a:r>
            <a:endParaRPr>
              <a:solidFill>
                <a:srgbClr val="000000"/>
              </a:solidFill>
            </a:endParaRPr>
          </a:p>
          <a:p>
            <a:pPr>
              <a:defRPr b="1" sz="2100">
                <a:solidFill>
                  <a:srgbClr val="FFFFFF"/>
                </a:solidFill>
              </a:defRPr>
            </a:pPr>
            <a:r>
              <a:t>I NAPOJE</a:t>
            </a:r>
          </a:p>
        </p:txBody>
      </p:sp>
      <p:sp>
        <p:nvSpPr>
          <p:cNvPr id="75" name="Text 16"/>
          <p:cNvSpPr txBox="1"/>
          <p:nvPr/>
        </p:nvSpPr>
        <p:spPr>
          <a:xfrm>
            <a:off x="713232" y="4730771"/>
            <a:ext cx="9738360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Na miejscu nie zamówimy jedzenia. Piwo i inne napoje są za darmo*</a:t>
            </a:r>
          </a:p>
        </p:txBody>
      </p:sp>
      <p:sp>
        <p:nvSpPr>
          <p:cNvPr id="76" name="Text 17"/>
          <p:cNvSpPr txBox="1"/>
          <p:nvPr/>
        </p:nvSpPr>
        <p:spPr>
          <a:xfrm>
            <a:off x="713232" y="5242835"/>
            <a:ext cx="9738360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rgbClr val="171219"/>
                </a:solidFill>
              </a:defRPr>
            </a:lvl1pPr>
          </a:lstStyle>
          <a:p>
            <a:pPr/>
            <a:r>
              <a:t>Po części oficjalnej zostajemy na rozmowy.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713232" y="5613652"/>
            <a:ext cx="9738360" cy="294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100">
                <a:solidFill>
                  <a:srgbClr val="5E5264"/>
                </a:solidFill>
              </a:defRPr>
            </a:lvl1pPr>
          </a:lstStyle>
          <a:p>
            <a:pPr/>
            <a:r>
              <a:t>* aż wyczerpiemy limit od naszego sponsora. Może dzisiaj się uda? ;)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0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1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NA KONIEC SPOTKANIA</a:t>
            </a:r>
          </a:p>
        </p:txBody>
      </p:sp>
      <p:sp>
        <p:nvSpPr>
          <p:cNvPr id="82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Lista obecności = udział w losowaniu</a:t>
            </a:r>
          </a:p>
        </p:txBody>
      </p:sp>
      <p:sp>
        <p:nvSpPr>
          <p:cNvPr id="83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4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5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86" name="Text 10"/>
          <p:cNvSpPr txBox="1"/>
          <p:nvPr/>
        </p:nvSpPr>
        <p:spPr>
          <a:xfrm>
            <a:off x="713232" y="1972261"/>
            <a:ext cx="4983480" cy="627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400">
                <a:solidFill>
                  <a:schemeClr val="accent1"/>
                </a:solidFill>
              </a:defRPr>
            </a:lvl1pPr>
          </a:lstStyle>
          <a:p>
            <a:pPr/>
            <a:r>
              <a:t>WPISUJESZ SIĘ</a:t>
            </a:r>
          </a:p>
        </p:txBody>
      </p:sp>
      <p:sp>
        <p:nvSpPr>
          <p:cNvPr id="87" name="Text 11"/>
          <p:cNvSpPr txBox="1"/>
          <p:nvPr/>
        </p:nvSpPr>
        <p:spPr>
          <a:xfrm>
            <a:off x="713231" y="2759754"/>
            <a:ext cx="5852162" cy="442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100">
                <a:solidFill>
                  <a:srgbClr val="171219"/>
                </a:solidFill>
              </a:defRPr>
            </a:lvl1pPr>
          </a:lstStyle>
          <a:p>
            <a:pPr/>
            <a:r>
              <a:t>Bierzesz udział w losowaniu nagród.</a:t>
            </a:r>
          </a:p>
        </p:txBody>
      </p:sp>
      <p:sp>
        <p:nvSpPr>
          <p:cNvPr id="88" name="Shape 12"/>
          <p:cNvSpPr/>
          <p:nvPr/>
        </p:nvSpPr>
        <p:spPr>
          <a:xfrm>
            <a:off x="6931152" y="1856231"/>
            <a:ext cx="4261105" cy="331013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9" name="Text 13"/>
          <p:cNvSpPr txBox="1"/>
          <p:nvPr/>
        </p:nvSpPr>
        <p:spPr>
          <a:xfrm>
            <a:off x="7278623" y="2300038"/>
            <a:ext cx="3566160" cy="355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500">
                <a:solidFill>
                  <a:srgbClr val="D51A96"/>
                </a:solidFill>
              </a:defRPr>
            </a:lvl1pPr>
          </a:lstStyle>
          <a:p>
            <a:pPr/>
            <a:r>
              <a:t>LOSOWANIE</a:t>
            </a:r>
          </a:p>
        </p:txBody>
      </p:sp>
      <p:sp>
        <p:nvSpPr>
          <p:cNvPr id="90" name="Text 14"/>
          <p:cNvSpPr txBox="1"/>
          <p:nvPr/>
        </p:nvSpPr>
        <p:spPr>
          <a:xfrm>
            <a:off x="7278623" y="2924484"/>
            <a:ext cx="3566160" cy="972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NA KONIEC</a:t>
            </a:r>
            <a:endParaRPr>
              <a:solidFill>
                <a:srgbClr val="000000"/>
              </a:solidFill>
            </a:endParaRPr>
          </a:p>
          <a:p>
            <a:pPr>
              <a:defRPr b="1" sz="2900">
                <a:solidFill>
                  <a:srgbClr val="FFFFFF"/>
                </a:solidFill>
              </a:defRPr>
            </a:pPr>
            <a:r>
              <a:t>SPOTKANIA</a:t>
            </a:r>
          </a:p>
        </p:txBody>
      </p:sp>
      <p:sp>
        <p:nvSpPr>
          <p:cNvPr id="91" name="Text 15"/>
          <p:cNvSpPr txBox="1"/>
          <p:nvPr/>
        </p:nvSpPr>
        <p:spPr>
          <a:xfrm>
            <a:off x="713231" y="4041647"/>
            <a:ext cx="5870450" cy="672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>
                <a:solidFill>
                  <a:srgbClr val="5E5264"/>
                </a:solidFill>
              </a:defRPr>
            </a:pPr>
            <a:r>
              <a:t>Do wygrania są różne nagrody.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5E5264"/>
                </a:solidFill>
              </a:defRPr>
            </a:pPr>
            <a:r>
              <a:t>Najczęściej książki od sponsorów.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4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5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PARTNER STRATEGICZNY</a:t>
            </a:r>
          </a:p>
        </p:txBody>
      </p:sp>
      <p:sp>
        <p:nvSpPr>
          <p:cNvPr id="96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Wspiera nas Devstyle</a:t>
            </a:r>
          </a:p>
        </p:txBody>
      </p:sp>
      <p:sp>
        <p:nvSpPr>
          <p:cNvPr id="97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8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00" name="Text 10"/>
          <p:cNvSpPr txBox="1"/>
          <p:nvPr/>
        </p:nvSpPr>
        <p:spPr>
          <a:xfrm>
            <a:off x="713231" y="1984248"/>
            <a:ext cx="5120642" cy="922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2700">
                <a:solidFill>
                  <a:schemeClr val="accent1"/>
                </a:solidFill>
              </a:defRPr>
            </a:pPr>
            <a:r>
              <a:t>DZIĘKUJEMY ZA WSPARCIE</a:t>
            </a:r>
            <a:endParaRPr>
              <a:solidFill>
                <a:srgbClr val="000000"/>
              </a:solidFill>
            </a:endParaRPr>
          </a:p>
          <a:p>
            <a:pPr>
              <a:defRPr b="1" sz="2700">
                <a:solidFill>
                  <a:schemeClr val="accent1"/>
                </a:solidFill>
              </a:defRPr>
            </a:pPr>
            <a:r>
              <a:t>WROC.NET</a:t>
            </a:r>
          </a:p>
        </p:txBody>
      </p:sp>
      <p:sp>
        <p:nvSpPr>
          <p:cNvPr id="101" name="Text 11"/>
          <p:cNvSpPr txBox="1"/>
          <p:nvPr/>
        </p:nvSpPr>
        <p:spPr>
          <a:xfrm>
            <a:off x="713232" y="3291840"/>
            <a:ext cx="5230368" cy="697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sz="1900">
                <a:solidFill>
                  <a:srgbClr val="171219"/>
                </a:solidFill>
              </a:defRPr>
            </a:pPr>
            <a:r>
              <a:t>Devstyle jest partnerem strategicznym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171219"/>
                </a:solidFill>
              </a:defRPr>
            </a:pPr>
            <a:r>
              <a:t>naszej społeczności.</a:t>
            </a:r>
          </a:p>
        </p:txBody>
      </p:sp>
      <p:sp>
        <p:nvSpPr>
          <p:cNvPr id="102" name="Shape 14"/>
          <p:cNvSpPr/>
          <p:nvPr/>
        </p:nvSpPr>
        <p:spPr>
          <a:xfrm>
            <a:off x="6656831" y="1828799"/>
            <a:ext cx="4535425" cy="3794761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03" name="Logo Devstyle" descr="Logo Devstyl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31735" y="2002535"/>
            <a:ext cx="3785617" cy="3410713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16"/>
          <p:cNvSpPr txBox="1"/>
          <p:nvPr/>
        </p:nvSpPr>
        <p:spPr>
          <a:xfrm>
            <a:off x="713231" y="4095749"/>
            <a:ext cx="5120642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rgbClr val="5E5264"/>
                </a:solidFill>
              </a:defRPr>
            </a:lvl1pPr>
          </a:lstStyle>
          <a:p>
            <a:pPr/>
            <a:r>
              <a:t>PARTNERZY WSPIERAJĄCY</a:t>
            </a:r>
          </a:p>
        </p:txBody>
      </p:sp>
      <p:pic>
        <p:nvPicPr>
          <p:cNvPr id="105" name="Logo Helion" descr="Logo Heli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3231" y="4434840"/>
            <a:ext cx="1463041" cy="484633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18"/>
          <p:cNvSpPr txBox="1"/>
          <p:nvPr/>
        </p:nvSpPr>
        <p:spPr>
          <a:xfrm>
            <a:off x="713231" y="4915706"/>
            <a:ext cx="1737362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partner nagród</a:t>
            </a:r>
          </a:p>
        </p:txBody>
      </p:sp>
      <p:pic>
        <p:nvPicPr>
          <p:cNvPr id="107" name="Logo hued.me" descr="Logo hued.m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04872" y="4471415"/>
            <a:ext cx="420624" cy="420625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 20"/>
          <p:cNvSpPr txBox="1"/>
          <p:nvPr/>
        </p:nvSpPr>
        <p:spPr>
          <a:xfrm>
            <a:off x="2404872" y="4915706"/>
            <a:ext cx="237744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hued.me — partner medialny</a:t>
            </a:r>
          </a:p>
        </p:txBody>
      </p:sp>
      <p:sp>
        <p:nvSpPr>
          <p:cNvPr id="109" name="Text 13"/>
          <p:cNvSpPr txBox="1"/>
          <p:nvPr/>
        </p:nvSpPr>
        <p:spPr>
          <a:xfrm>
            <a:off x="713231" y="5357135"/>
            <a:ext cx="5120642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chemeClr val="accent1"/>
                </a:solidFill>
              </a:defRPr>
            </a:lvl1pPr>
          </a:lstStyle>
          <a:p>
            <a:pPr/>
            <a:r>
              <a:t>https://devstyle.pl/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2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3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NOWOŚĆ</a:t>
            </a:r>
          </a:p>
        </p:txBody>
      </p:sp>
      <p:sp>
        <p:nvSpPr>
          <p:cNvPr id="114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Nowe wrocnet.org</a:t>
            </a:r>
          </a:p>
        </p:txBody>
      </p:sp>
      <p:sp>
        <p:nvSpPr>
          <p:cNvPr id="115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16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7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18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19" name="Strona główna wrocnet.org" descr="Strona główna wrocnet.or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12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1" name="Text 13"/>
          <p:cNvSpPr txBox="1"/>
          <p:nvPr/>
        </p:nvSpPr>
        <p:spPr>
          <a:xfrm>
            <a:off x="8613647" y="2189824"/>
            <a:ext cx="2304289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rgbClr val="D51A96"/>
                </a:solidFill>
              </a:defRPr>
            </a:lvl1pPr>
          </a:lstStyle>
          <a:p>
            <a:pPr/>
            <a:r>
              <a:t>PROŚCIEJ</a:t>
            </a:r>
          </a:p>
        </p:txBody>
      </p:sp>
      <p:sp>
        <p:nvSpPr>
          <p:cNvPr id="122" name="Text 14"/>
          <p:cNvSpPr txBox="1"/>
          <p:nvPr/>
        </p:nvSpPr>
        <p:spPr>
          <a:xfrm>
            <a:off x="8613647" y="2834639"/>
            <a:ext cx="2267713" cy="125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1900">
                <a:solidFill>
                  <a:srgbClr val="171219"/>
                </a:solidFill>
              </a:defRPr>
            </a:pPr>
            <a:r>
              <a:t>Spotkania, ludzie</a:t>
            </a:r>
            <a:endParaRPr>
              <a:solidFill>
                <a:srgbClr val="000000"/>
              </a:solidFill>
            </a:endParaRPr>
          </a:p>
          <a:p>
            <a:pPr>
              <a:defRPr b="1" sz="1900">
                <a:solidFill>
                  <a:srgbClr val="171219"/>
                </a:solidFill>
              </a:defRPr>
            </a:pPr>
            <a:r>
              <a:t>i historia grupy</a:t>
            </a:r>
            <a:endParaRPr>
              <a:solidFill>
                <a:srgbClr val="000000"/>
              </a:solidFill>
            </a:endParaRPr>
          </a:p>
          <a:p>
            <a:pPr>
              <a:defRPr b="1" sz="1900">
                <a:solidFill>
                  <a:srgbClr val="171219"/>
                </a:solidFill>
              </a:defRPr>
            </a:pPr>
            <a:r>
              <a:t>w jednym miejscu.</a:t>
            </a:r>
          </a:p>
        </p:txBody>
      </p:sp>
      <p:sp>
        <p:nvSpPr>
          <p:cNvPr id="123" name="Text 16"/>
          <p:cNvSpPr txBox="1"/>
          <p:nvPr/>
        </p:nvSpPr>
        <p:spPr>
          <a:xfrm>
            <a:off x="8613647" y="4991375"/>
            <a:ext cx="2267713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24" name="Text 17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7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8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29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Masz temat? Zostań prelegentem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31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33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34" name="Strona Zostań prelegentem" descr="Strona Zostań prelegent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Grafika mikrofonu" descr="Grafika mikrofonu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0" y="1847088"/>
            <a:ext cx="2871217" cy="3877057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16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7" name="Text 13"/>
          <p:cNvSpPr txBox="1"/>
          <p:nvPr/>
        </p:nvSpPr>
        <p:spPr>
          <a:xfrm>
            <a:off x="8613647" y="2220397"/>
            <a:ext cx="2304289" cy="405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>
                <a:solidFill>
                  <a:srgbClr val="D51A96"/>
                </a:solidFill>
              </a:defRPr>
            </a:lvl1pPr>
          </a:lstStyle>
          <a:p>
            <a:pPr/>
            <a:r>
              <a:t>MASZ POMYSŁ?</a:t>
            </a:r>
          </a:p>
        </p:txBody>
      </p:sp>
      <p:sp>
        <p:nvSpPr>
          <p:cNvPr id="138" name="Text 14"/>
          <p:cNvSpPr txBox="1"/>
          <p:nvPr/>
        </p:nvSpPr>
        <p:spPr>
          <a:xfrm>
            <a:off x="8613647" y="2834639"/>
            <a:ext cx="2286001" cy="1014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Nie musisz mieć</a:t>
            </a:r>
            <a:endParaRPr>
              <a:solidFill>
                <a:srgbClr val="000000"/>
              </a:solidFill>
            </a:endParaRP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gotowej prezentacji.</a:t>
            </a:r>
          </a:p>
        </p:txBody>
      </p:sp>
      <p:sp>
        <p:nvSpPr>
          <p:cNvPr id="139" name="Text 15"/>
          <p:cNvSpPr txBox="1"/>
          <p:nvPr/>
        </p:nvSpPr>
        <p:spPr>
          <a:xfrm>
            <a:off x="8613647" y="4142232"/>
            <a:ext cx="2267713" cy="596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Zgłoś temat.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Pomożemy dalej.</a:t>
            </a:r>
          </a:p>
        </p:txBody>
      </p:sp>
      <p:sp>
        <p:nvSpPr>
          <p:cNvPr id="140" name="Text 17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3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4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45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Poznaj organizatorów</a:t>
            </a:r>
          </a:p>
        </p:txBody>
      </p:sp>
      <p:sp>
        <p:nvSpPr>
          <p:cNvPr id="146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47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8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49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50" name="Strona Organizatorzy" descr="Strona Organizatorz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Shape 12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2" name="Text 13"/>
          <p:cNvSpPr txBox="1"/>
          <p:nvPr/>
        </p:nvSpPr>
        <p:spPr>
          <a:xfrm>
            <a:off x="8613647" y="2212848"/>
            <a:ext cx="2304289" cy="67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b="1">
                <a:solidFill>
                  <a:srgbClr val="D51A96"/>
                </a:solidFill>
              </a:defRPr>
            </a:lvl1pPr>
          </a:lstStyle>
          <a:p>
            <a:pPr/>
            <a:r>
              <a:t>LUDZIE ZA WROC.NET</a:t>
            </a:r>
          </a:p>
        </p:txBody>
      </p:sp>
      <p:sp>
        <p:nvSpPr>
          <p:cNvPr id="153" name="Text 14"/>
          <p:cNvSpPr txBox="1"/>
          <p:nvPr/>
        </p:nvSpPr>
        <p:spPr>
          <a:xfrm>
            <a:off x="8613647" y="3136392"/>
            <a:ext cx="2267713" cy="1205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>
                <a:solidFill>
                  <a:srgbClr val="171219"/>
                </a:solidFill>
              </a:defRPr>
            </a:pPr>
            <a:r>
              <a:t>Poznaj aktualnych</a:t>
            </a:r>
            <a:endParaRPr>
              <a:solidFill>
                <a:srgbClr val="000000"/>
              </a:solidFill>
            </a:endParaRPr>
          </a:p>
          <a:p>
            <a:pPr>
              <a:defRPr b="1">
                <a:solidFill>
                  <a:srgbClr val="171219"/>
                </a:solidFill>
              </a:defRPr>
            </a:pPr>
            <a:r>
              <a:t>i byłych organizatorów społeczności.</a:t>
            </a:r>
          </a:p>
        </p:txBody>
      </p:sp>
      <p:sp>
        <p:nvSpPr>
          <p:cNvPr id="154" name="Text 16"/>
          <p:cNvSpPr txBox="1"/>
          <p:nvPr/>
        </p:nvSpPr>
        <p:spPr>
          <a:xfrm>
            <a:off x="8613647" y="5037581"/>
            <a:ext cx="2267713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wrocnet.org/organizatorzy/</a:t>
            </a:r>
          </a:p>
        </p:txBody>
      </p:sp>
      <p:sp>
        <p:nvSpPr>
          <p:cNvPr id="155" name="Text 17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8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9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60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Wystąpili u nas</a:t>
            </a:r>
          </a:p>
        </p:txBody>
      </p:sp>
      <p:sp>
        <p:nvSpPr>
          <p:cNvPr id="161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62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3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64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65" name="Strona Wystąpili u nas" descr="Strona Wystąpili u nas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Shape 12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7" name="Text 13"/>
          <p:cNvSpPr txBox="1"/>
          <p:nvPr/>
        </p:nvSpPr>
        <p:spPr>
          <a:xfrm>
            <a:off x="8613647" y="2155141"/>
            <a:ext cx="2286001" cy="627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400">
                <a:solidFill>
                  <a:schemeClr val="accent1"/>
                </a:solidFill>
              </a:defRPr>
            </a:lvl1pPr>
          </a:lstStyle>
          <a:p>
            <a:pPr/>
            <a:r>
              <a:t>156</a:t>
            </a:r>
          </a:p>
        </p:txBody>
      </p:sp>
      <p:sp>
        <p:nvSpPr>
          <p:cNvPr id="168" name="Text 14"/>
          <p:cNvSpPr txBox="1"/>
          <p:nvPr/>
        </p:nvSpPr>
        <p:spPr>
          <a:xfrm>
            <a:off x="8613647" y="2733293"/>
            <a:ext cx="2286001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rgbClr val="5E5264"/>
                </a:solidFill>
              </a:defRPr>
            </a:lvl1pPr>
          </a:lstStyle>
          <a:p>
            <a:pPr/>
            <a:r>
              <a:t>PRELEGENTÓW</a:t>
            </a:r>
          </a:p>
        </p:txBody>
      </p:sp>
      <p:sp>
        <p:nvSpPr>
          <p:cNvPr id="169" name="Text 15"/>
          <p:cNvSpPr txBox="1"/>
          <p:nvPr/>
        </p:nvSpPr>
        <p:spPr>
          <a:xfrm>
            <a:off x="8613647" y="3325573"/>
            <a:ext cx="2286001" cy="627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400">
                <a:solidFill>
                  <a:srgbClr val="D51A96"/>
                </a:solidFill>
              </a:defRPr>
            </a:lvl1pPr>
          </a:lstStyle>
          <a:p>
            <a:pPr/>
            <a:r>
              <a:t>233</a:t>
            </a:r>
          </a:p>
        </p:txBody>
      </p:sp>
      <p:sp>
        <p:nvSpPr>
          <p:cNvPr id="170" name="Text 16"/>
          <p:cNvSpPr txBox="1"/>
          <p:nvPr/>
        </p:nvSpPr>
        <p:spPr>
          <a:xfrm>
            <a:off x="8613647" y="3903725"/>
            <a:ext cx="2286001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rgbClr val="5E5264"/>
                </a:solidFill>
              </a:defRPr>
            </a:lvl1pPr>
          </a:lstStyle>
          <a:p>
            <a:pPr/>
            <a:r>
              <a:t>SESJE</a:t>
            </a:r>
          </a:p>
        </p:txBody>
      </p:sp>
      <p:sp>
        <p:nvSpPr>
          <p:cNvPr id="171" name="Text 18"/>
          <p:cNvSpPr txBox="1"/>
          <p:nvPr/>
        </p:nvSpPr>
        <p:spPr>
          <a:xfrm>
            <a:off x="8613647" y="4928615"/>
            <a:ext cx="2267713" cy="71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1300">
                <a:solidFill>
                  <a:srgbClr val="171219"/>
                </a:solidFill>
              </a:defRPr>
            </a:pPr>
            <a:r>
              <a:t>Wyszukuj i wracaj</a:t>
            </a:r>
            <a:endParaRPr>
              <a:solidFill>
                <a:srgbClr val="000000"/>
              </a:solidFill>
            </a:endParaRPr>
          </a:p>
          <a:p>
            <a:pPr>
              <a:defRPr b="1" sz="1300">
                <a:solidFill>
                  <a:srgbClr val="171219"/>
                </a:solidFill>
              </a:defRPr>
            </a:pPr>
            <a:r>
              <a:t>do wcześniejszych tematów.</a:t>
            </a:r>
          </a:p>
        </p:txBody>
      </p:sp>
      <p:sp>
        <p:nvSpPr>
          <p:cNvPr id="172" name="Text 19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5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6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BĄDŹMY W KONTAKCIE</a:t>
            </a:r>
          </a:p>
        </p:txBody>
      </p:sp>
      <p:sp>
        <p:nvSpPr>
          <p:cNvPr id="177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Dołącz do społeczności na WhatsAppie</a:t>
            </a:r>
          </a:p>
        </p:txBody>
      </p:sp>
      <p:sp>
        <p:nvSpPr>
          <p:cNvPr id="178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9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0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81" name="Shape 10"/>
          <p:cNvSpPr/>
          <p:nvPr/>
        </p:nvSpPr>
        <p:spPr>
          <a:xfrm>
            <a:off x="713231" y="1837943"/>
            <a:ext cx="3959354" cy="3959354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82" name="Kod QR społeczności WhatsApp" descr="Kod QR społeczności WhatsApp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7" y="1965960"/>
            <a:ext cx="3703322" cy="3703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Grafika panelu" descr="Grafika panelu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56047" y="1837944"/>
            <a:ext cx="6236209" cy="3959353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 13"/>
          <p:cNvSpPr txBox="1"/>
          <p:nvPr/>
        </p:nvSpPr>
        <p:spPr>
          <a:xfrm>
            <a:off x="5358384" y="2293895"/>
            <a:ext cx="5394961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rgbClr val="D51A96"/>
                </a:solidFill>
              </a:defRPr>
            </a:lvl1pPr>
          </a:lstStyle>
          <a:p>
            <a:pPr/>
            <a:r>
              <a:t>ZESKANUJ KOD</a:t>
            </a:r>
          </a:p>
        </p:txBody>
      </p:sp>
      <p:sp>
        <p:nvSpPr>
          <p:cNvPr id="185" name="Text 14"/>
          <p:cNvSpPr txBox="1"/>
          <p:nvPr/>
        </p:nvSpPr>
        <p:spPr>
          <a:xfrm>
            <a:off x="5358384" y="2809398"/>
            <a:ext cx="5248657" cy="1147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3500">
                <a:solidFill>
                  <a:srgbClr val="FFFFFF"/>
                </a:solidFill>
              </a:defRPr>
            </a:pPr>
            <a:r>
              <a:t>Wrocławska</a:t>
            </a:r>
            <a:endParaRPr>
              <a:solidFill>
                <a:srgbClr val="000000"/>
              </a:solidFill>
            </a:endParaRPr>
          </a:p>
          <a:p>
            <a:pPr>
              <a:defRPr b="1" sz="3500">
                <a:solidFill>
                  <a:srgbClr val="FFFFFF"/>
                </a:solidFill>
              </a:defRPr>
            </a:pPr>
            <a:r>
              <a:t>Grupa .NET</a:t>
            </a:r>
          </a:p>
        </p:txBody>
      </p:sp>
      <p:sp>
        <p:nvSpPr>
          <p:cNvPr id="186" name="Text 15"/>
          <p:cNvSpPr txBox="1"/>
          <p:nvPr/>
        </p:nvSpPr>
        <p:spPr>
          <a:xfrm>
            <a:off x="5358384" y="4288535"/>
            <a:ext cx="5047489" cy="672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Ogłoszenia, rozmowy i kontakt między spotkaniami.</a:t>
            </a:r>
          </a:p>
        </p:txBody>
      </p:sp>
      <p:sp>
        <p:nvSpPr>
          <p:cNvPr id="187" name="Text 17"/>
          <p:cNvSpPr txBox="1"/>
          <p:nvPr/>
        </p:nvSpPr>
        <p:spPr>
          <a:xfrm>
            <a:off x="5358384" y="5311554"/>
            <a:ext cx="5047489" cy="33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300">
                <a:solidFill>
                  <a:srgbClr val="D51A96"/>
                </a:solidFill>
              </a:defRPr>
            </a:lvl1pPr>
          </a:lstStyle>
          <a:p>
            <a:pPr/>
            <a:r>
              <a:t>wrocnet.org/whatsapp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0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1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PO CZĘŚCI OFICJALNEJ</a:t>
            </a:r>
          </a:p>
        </p:txBody>
      </p:sp>
      <p:sp>
        <p:nvSpPr>
          <p:cNvPr id="192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Zostajemy. Bo tak trzeba.</a:t>
            </a:r>
          </a:p>
        </p:txBody>
      </p:sp>
      <p:sp>
        <p:nvSpPr>
          <p:cNvPr id="193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94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5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96" name="Text 10"/>
          <p:cNvSpPr txBox="1"/>
          <p:nvPr/>
        </p:nvSpPr>
        <p:spPr>
          <a:xfrm>
            <a:off x="713232" y="1814068"/>
            <a:ext cx="9966960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600">
                <a:solidFill>
                  <a:srgbClr val="171219"/>
                </a:solidFill>
              </a:defRPr>
            </a:lvl1pPr>
          </a:lstStyle>
          <a:p>
            <a:pPr/>
            <a:r>
              <a:t>🍺 Piwo. 💬 Rozmowy. 🤝 Networking.</a:t>
            </a:r>
          </a:p>
        </p:txBody>
      </p:sp>
      <p:sp>
        <p:nvSpPr>
          <p:cNvPr id="197" name="Text 11"/>
          <p:cNvSpPr txBox="1"/>
          <p:nvPr/>
        </p:nvSpPr>
        <p:spPr>
          <a:xfrm>
            <a:off x="713232" y="2480862"/>
            <a:ext cx="9966960" cy="442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100">
                <a:solidFill>
                  <a:schemeClr val="accent1"/>
                </a:solidFill>
              </a:defRPr>
            </a:lvl1pPr>
          </a:lstStyle>
          <a:p>
            <a:pPr/>
            <a:r>
              <a:t>A czasem — całkiem serio — nowa praca.</a:t>
            </a:r>
          </a:p>
        </p:txBody>
      </p:sp>
      <p:sp>
        <p:nvSpPr>
          <p:cNvPr id="198" name="Shape 12"/>
          <p:cNvSpPr/>
          <p:nvPr/>
        </p:nvSpPr>
        <p:spPr>
          <a:xfrm>
            <a:off x="713232" y="3364991"/>
            <a:ext cx="9966960" cy="169164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9" name="Text 13"/>
          <p:cNvSpPr txBox="1"/>
          <p:nvPr/>
        </p:nvSpPr>
        <p:spPr>
          <a:xfrm>
            <a:off x="1005840" y="3611879"/>
            <a:ext cx="9418320" cy="84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PONOĆ NAJWIĘKSZE KARIERY ZACZYNAJĄ SIĘ</a:t>
            </a:r>
            <a:endParaRPr>
              <a:solidFill>
                <a:srgbClr val="000000"/>
              </a:solidFill>
            </a:endParaRP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PRZY BARZE, NIE NA LINKEDIN</a:t>
            </a:r>
          </a:p>
        </p:txBody>
      </p:sp>
      <p:sp>
        <p:nvSpPr>
          <p:cNvPr id="200" name="Text 14"/>
          <p:cNvSpPr txBox="1"/>
          <p:nvPr/>
        </p:nvSpPr>
        <p:spPr>
          <a:xfrm>
            <a:off x="1005840" y="4526279"/>
            <a:ext cx="9418320" cy="343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b="1" sz="1400">
                <a:solidFill>
                  <a:srgbClr val="D51A96"/>
                </a:solidFill>
              </a:defRPr>
            </a:lvl1pPr>
          </a:lstStyle>
          <a:p>
            <a:pPr/>
            <a:r>
              <a:t>(przynajmniej tak mówią ci, którzy zostali dłużej)</a:t>
            </a:r>
          </a:p>
        </p:txBody>
      </p:sp>
      <p:sp>
        <p:nvSpPr>
          <p:cNvPr id="201" name="Text 15"/>
          <p:cNvSpPr txBox="1"/>
          <p:nvPr/>
        </p:nvSpPr>
        <p:spPr>
          <a:xfrm>
            <a:off x="713232" y="5370851"/>
            <a:ext cx="9966960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Zostań chwilę dłużej — może właśnie tu jest Twoja następna okazja.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4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5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DZISIEJSZY PANEL</a:t>
            </a:r>
          </a:p>
        </p:txBody>
      </p:sp>
      <p:sp>
        <p:nvSpPr>
          <p:cNvPr id="206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Kod staniał. Odpowiedzialność nie.</a:t>
            </a:r>
          </a:p>
        </p:txBody>
      </p:sp>
      <p:sp>
        <p:nvSpPr>
          <p:cNvPr id="207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8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9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210" name="Text 10"/>
          <p:cNvSpPr txBox="1"/>
          <p:nvPr/>
        </p:nvSpPr>
        <p:spPr>
          <a:xfrm>
            <a:off x="713232" y="1858885"/>
            <a:ext cx="5897880" cy="872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500">
                <a:solidFill>
                  <a:schemeClr val="accent1"/>
                </a:solidFill>
              </a:defRPr>
            </a:pPr>
            <a:r>
              <a:t>Co znaczy być inżynierem</a:t>
            </a:r>
            <a:endParaRPr>
              <a:solidFill>
                <a:srgbClr val="000000"/>
              </a:solidFill>
            </a:endParaRPr>
          </a:p>
          <a:p>
            <a:pPr>
              <a:defRPr b="1" sz="2500">
                <a:solidFill>
                  <a:schemeClr val="accent1"/>
                </a:solidFill>
              </a:defRPr>
            </a:pPr>
            <a:r>
              <a:t>w erze agentów AI?</a:t>
            </a:r>
          </a:p>
        </p:txBody>
      </p:sp>
      <p:sp>
        <p:nvSpPr>
          <p:cNvPr id="211" name="Text 11"/>
          <p:cNvSpPr txBox="1"/>
          <p:nvPr/>
        </p:nvSpPr>
        <p:spPr>
          <a:xfrm>
            <a:off x="713231" y="2951940"/>
            <a:ext cx="5715001" cy="49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1200">
                <a:solidFill>
                  <a:srgbClr val="5E5264"/>
                </a:solidFill>
              </a:defRPr>
            </a:pPr>
            <a:r>
              <a:t>ARCHITEKTURA  ·  SPECYFIKACJA  ·  DOMENA</a:t>
            </a:r>
            <a:endParaRPr>
              <a:solidFill>
                <a:srgbClr val="000000"/>
              </a:solidFill>
            </a:endParaRPr>
          </a:p>
          <a:p>
            <a:pPr>
              <a:defRPr b="1" sz="1200">
                <a:solidFill>
                  <a:srgbClr val="5E5264"/>
                </a:solidFill>
              </a:defRPr>
            </a:pPr>
            <a:r>
              <a:t>OCENA  ·  ODPOWIEDZIALNOŚĆ</a:t>
            </a:r>
          </a:p>
        </p:txBody>
      </p:sp>
      <p:sp>
        <p:nvSpPr>
          <p:cNvPr id="212" name="Shape 12"/>
          <p:cNvSpPr/>
          <p:nvPr/>
        </p:nvSpPr>
        <p:spPr>
          <a:xfrm>
            <a:off x="713232" y="3867911"/>
            <a:ext cx="5833872" cy="133502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13" name="Text 13"/>
          <p:cNvSpPr txBox="1"/>
          <p:nvPr/>
        </p:nvSpPr>
        <p:spPr>
          <a:xfrm>
            <a:off x="960119" y="3994679"/>
            <a:ext cx="5340098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UCZESTNICY TEŻ SĄ PRELEGENTAMI</a:t>
            </a:r>
          </a:p>
        </p:txBody>
      </p:sp>
      <p:sp>
        <p:nvSpPr>
          <p:cNvPr id="214" name="Text 14"/>
          <p:cNvSpPr txBox="1"/>
          <p:nvPr/>
        </p:nvSpPr>
        <p:spPr>
          <a:xfrm>
            <a:off x="960119" y="4428696"/>
            <a:ext cx="5340098" cy="49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Pytajcie, dorzucajcie kontrargumenty i doświadczenia.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Loża szyderców również mile widziana :)</a:t>
            </a:r>
          </a:p>
        </p:txBody>
      </p:sp>
      <p:sp>
        <p:nvSpPr>
          <p:cNvPr id="215" name="Shape 15"/>
          <p:cNvSpPr/>
          <p:nvPr/>
        </p:nvSpPr>
        <p:spPr>
          <a:xfrm>
            <a:off x="7114031" y="1856231"/>
            <a:ext cx="1883665" cy="18836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38000" dir="5400000">
              <a:srgbClr val="000000">
                <a:alpha val="35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216" name="Łukasz Pyrzyk" descr="Łukasz Pyrzyk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32904" y="1975104"/>
            <a:ext cx="1645921" cy="1645921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Shape 17"/>
          <p:cNvSpPr/>
          <p:nvPr/>
        </p:nvSpPr>
        <p:spPr>
          <a:xfrm>
            <a:off x="9281159" y="1856231"/>
            <a:ext cx="1883665" cy="18836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38000" dir="5400000">
              <a:srgbClr val="000000">
                <a:alpha val="35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218" name="Łukasz Olbromski" descr="Łukasz Olbromski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00031" y="1975104"/>
            <a:ext cx="1645921" cy="164592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ext 19"/>
          <p:cNvSpPr txBox="1"/>
          <p:nvPr/>
        </p:nvSpPr>
        <p:spPr>
          <a:xfrm>
            <a:off x="7059168" y="3907950"/>
            <a:ext cx="1993393" cy="33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300">
                <a:solidFill>
                  <a:srgbClr val="171219"/>
                </a:solidFill>
              </a:defRPr>
            </a:lvl1pPr>
          </a:lstStyle>
          <a:p>
            <a:pPr/>
            <a:r>
              <a:t>Łukasz Pyrzyk</a:t>
            </a:r>
          </a:p>
        </p:txBody>
      </p:sp>
      <p:sp>
        <p:nvSpPr>
          <p:cNvPr id="220" name="Text 20"/>
          <p:cNvSpPr txBox="1"/>
          <p:nvPr/>
        </p:nvSpPr>
        <p:spPr>
          <a:xfrm>
            <a:off x="9162288" y="3907950"/>
            <a:ext cx="2121408" cy="33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300">
                <a:solidFill>
                  <a:srgbClr val="171219"/>
                </a:solidFill>
              </a:defRPr>
            </a:lvl1pPr>
          </a:lstStyle>
          <a:p>
            <a:pPr/>
            <a:r>
              <a:t>Łukasz Olbromski</a:t>
            </a:r>
          </a:p>
        </p:txBody>
      </p:sp>
      <p:sp>
        <p:nvSpPr>
          <p:cNvPr id="221" name="Text 21"/>
          <p:cNvSpPr txBox="1"/>
          <p:nvPr/>
        </p:nvSpPr>
        <p:spPr>
          <a:xfrm>
            <a:off x="7150607" y="4729939"/>
            <a:ext cx="3913633" cy="47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300">
                <a:solidFill>
                  <a:srgbClr val="D51A96"/>
                </a:solidFill>
              </a:defRPr>
            </a:lvl1pPr>
          </a:lstStyle>
          <a:p>
            <a:pPr/>
            <a:r>
              <a:t>+ WY  ·  ZACZYNAMY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roc.NET">
  <a:themeElements>
    <a:clrScheme name="Wroc.NET">
      <a:dk1>
        <a:srgbClr val="160E22"/>
      </a:dk1>
      <a:lt1>
        <a:srgbClr val="1C2214"/>
      </a:lt1>
      <a:dk2>
        <a:srgbClr val="A7A7A7"/>
      </a:dk2>
      <a:lt2>
        <a:srgbClr val="535353"/>
      </a:lt2>
      <a:accent1>
        <a:srgbClr val="641E78"/>
      </a:accent1>
      <a:accent2>
        <a:srgbClr val="F13BB8"/>
      </a:accent2>
      <a:accent3>
        <a:srgbClr val="8B2BBE"/>
      </a:accent3>
      <a:accent4>
        <a:srgbClr val="25D366"/>
      </a:accent4>
      <a:accent5>
        <a:srgbClr val="B9ADBF"/>
      </a:accent5>
      <a:accent6>
        <a:srgbClr val="6E347E"/>
      </a:accent6>
      <a:hlink>
        <a:srgbClr val="0000FF"/>
      </a:hlink>
      <a:folHlink>
        <a:srgbClr val="FF00FF"/>
      </a:folHlink>
    </a:clrScheme>
    <a:fontScheme name="Wroc.NE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roc.N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roc.NET">
  <a:themeElements>
    <a:clrScheme name="Wroc.N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41E78"/>
      </a:accent1>
      <a:accent2>
        <a:srgbClr val="F13BB8"/>
      </a:accent2>
      <a:accent3>
        <a:srgbClr val="8B2BBE"/>
      </a:accent3>
      <a:accent4>
        <a:srgbClr val="25D366"/>
      </a:accent4>
      <a:accent5>
        <a:srgbClr val="B9ADBF"/>
      </a:accent5>
      <a:accent6>
        <a:srgbClr val="6E347E"/>
      </a:accent6>
      <a:hlink>
        <a:srgbClr val="0000FF"/>
      </a:hlink>
      <a:folHlink>
        <a:srgbClr val="FF00FF"/>
      </a:folHlink>
    </a:clrScheme>
    <a:fontScheme name="Wroc.NE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roc.N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