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  <Override PartName="/ppt/media/image10.jpeg" ContentType="image/jpeg"/>
  <Override PartName="/ppt/media/image11.jpeg" ContentType="image/jpeg"/>
  <Override PartName="/ppt/media/image12.jpeg" ContentType="image/jpeg"/>
  <Override PartName="/ppt/media/image13.jpeg" ContentType="image/jpeg"/>
  <Override PartName="/ppt/media/image14.jpeg" ContentType="image/jpeg"/>
  <Override PartName="/ppt/media/image15.jpeg" ContentType="image/jpeg"/>
  <Override PartName="/ppt/media/image16.jpeg" ContentType="image/jpeg"/>
  <Override PartName="/ppt/media/image17.jpeg" ContentType="image/jpeg"/>
  <Override PartName="/ppt/media/image18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CBD5"/>
          </a:solidFill>
        </a:fill>
      </a:tcStyle>
    </a:wholeTbl>
    <a:band2H>
      <a:tcTxStyle b="def" i="def"/>
      <a:tcStyle>
        <a:tcBdr/>
        <a:fill>
          <a:solidFill>
            <a:srgbClr val="EAE7EB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ACBE8"/>
          </a:solidFill>
        </a:fill>
      </a:tcStyle>
    </a:wholeTbl>
    <a:band2H>
      <a:tcTxStyle b="def" i="def"/>
      <a:tcStyle>
        <a:tcBdr/>
        <a:fill>
          <a:solidFill>
            <a:srgbClr val="EDE7F4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CCD7"/>
          </a:solidFill>
        </a:fill>
      </a:tcStyle>
    </a:wholeTbl>
    <a:band2H>
      <a:tcTxStyle b="def" i="def"/>
      <a:tcStyle>
        <a:tcBdr/>
        <a:fill>
          <a:solidFill>
            <a:srgbClr val="EAE7EC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6E7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B"/>
          </a:solidFill>
        </a:fill>
      </a:tcStyle>
    </a:wholeTbl>
    <a:band2H>
      <a:tcTxStyle b="def" i="def"/>
      <a:tcStyle>
        <a:tcBdr/>
        <a:fill>
          <a:solidFill>
            <a:srgbClr val="E7E6E7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solidFill>
            <a:srgbClr val="160E22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solidFill>
            <a:srgbClr val="160E22">
              <a:alpha val="20000"/>
            </a:srgbClr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508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umer slajd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 tytułowy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Tekst tytułowy</a:t>
            </a:r>
          </a:p>
        </p:txBody>
      </p:sp>
      <p:sp>
        <p:nvSpPr>
          <p:cNvPr id="3" name="Treść - poziom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Treść - poziom 1</a:t>
            </a:r>
          </a:p>
          <a:p>
            <a:pPr lvl="1"/>
            <a:r>
              <a:t>Treść - poziom 2</a:t>
            </a:r>
          </a:p>
          <a:p>
            <a:pPr lvl="2"/>
            <a:r>
              <a:t>Treść - poziom 3</a:t>
            </a:r>
          </a:p>
          <a:p>
            <a:pPr lvl="3"/>
            <a:r>
              <a:t>Treść - poziom 4</a:t>
            </a:r>
          </a:p>
          <a:p>
            <a:pPr lvl="4"/>
            <a:r>
              <a:t>Treść - poziom 5</a:t>
            </a:r>
          </a:p>
        </p:txBody>
      </p:sp>
      <p:sp>
        <p:nvSpPr>
          <p:cNvPr id="4" name="Numer slajdu"/>
          <p:cNvSpPr txBox="1"/>
          <p:nvPr>
            <p:ph type="sldNum" sz="quarter" idx="2"/>
          </p:nvPr>
        </p:nvSpPr>
        <p:spPr>
          <a:xfrm>
            <a:off x="5886661" y="6172200"/>
            <a:ext cx="2841838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Relationship Id="rId3" Type="http://schemas.openxmlformats.org/officeDocument/2006/relationships/image" Target="../media/image7.jpeg"/><Relationship Id="rId4" Type="http://schemas.openxmlformats.org/officeDocument/2006/relationships/image" Target="../media/image8.jpeg"/><Relationship Id="rId5" Type="http://schemas.openxmlformats.org/officeDocument/2006/relationships/image" Target="../media/image9.jpeg"/><Relationship Id="rId6" Type="http://schemas.openxmlformats.org/officeDocument/2006/relationships/image" Target="../media/image10.jpeg"/><Relationship Id="rId7" Type="http://schemas.openxmlformats.org/officeDocument/2006/relationships/image" Target="../media/image11.jpeg"/><Relationship Id="rId8" Type="http://schemas.openxmlformats.org/officeDocument/2006/relationships/image" Target="../media/image12.jpeg"/><Relationship Id="rId9" Type="http://schemas.openxmlformats.org/officeDocument/2006/relationships/image" Target="../media/image13.jpe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eg"/><Relationship Id="rId3" Type="http://schemas.openxmlformats.org/officeDocument/2006/relationships/image" Target="../media/image15.jpe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16.jpeg"/><Relationship Id="rId4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7.jpe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Relationship Id="rId3" Type="http://schemas.openxmlformats.org/officeDocument/2006/relationships/image" Target="../media/image7.jpeg"/><Relationship Id="rId4" Type="http://schemas.openxmlformats.org/officeDocument/2006/relationships/image" Target="../media/image6.jpe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2" name="Grafika panelu" descr="Grafika panelu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827264" y="118871"/>
            <a:ext cx="4361689" cy="6739130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Text 6"/>
          <p:cNvSpPr txBox="1"/>
          <p:nvPr/>
        </p:nvSpPr>
        <p:spPr>
          <a:xfrm>
            <a:off x="749807" y="511301"/>
            <a:ext cx="621792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chemeClr val="accent2"/>
                </a:solidFill>
              </a:defRPr>
            </a:lvl1pPr>
          </a:lstStyle>
          <a:p>
            <a:pPr/>
            <a:r>
              <a:t>171. SPOTKANIE WROC.NET</a:t>
            </a:r>
          </a:p>
        </p:txBody>
      </p:sp>
      <p:sp>
        <p:nvSpPr>
          <p:cNvPr id="24" name="Text 7"/>
          <p:cNvSpPr txBox="1"/>
          <p:nvPr/>
        </p:nvSpPr>
        <p:spPr>
          <a:xfrm>
            <a:off x="713231" y="1115102"/>
            <a:ext cx="6629401" cy="750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300">
                <a:solidFill>
                  <a:srgbClr val="FFFFFF"/>
                </a:solidFill>
              </a:defRPr>
            </a:lvl1pPr>
          </a:lstStyle>
          <a:p>
            <a:pPr/>
            <a:r>
              <a:t>AI RETROFIT</a:t>
            </a:r>
          </a:p>
        </p:txBody>
      </p:sp>
      <p:sp>
        <p:nvSpPr>
          <p:cNvPr id="25" name="Text 8"/>
          <p:cNvSpPr txBox="1"/>
          <p:nvPr/>
        </p:nvSpPr>
        <p:spPr>
          <a:xfrm>
            <a:off x="749807" y="2089724"/>
            <a:ext cx="6217922" cy="9229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600">
                <a:solidFill>
                  <a:schemeClr val="accent2"/>
                </a:solidFill>
              </a:defRPr>
            </a:pPr>
            <a:r>
              <a:t>Nowe możliwości,</a:t>
            </a:r>
            <a:endParaRPr>
              <a:solidFill>
                <a:srgbClr val="000000"/>
              </a:solidFill>
            </a:endParaRPr>
          </a:p>
          <a:p>
            <a:pPr>
              <a:defRPr b="1" sz="2600">
                <a:solidFill>
                  <a:schemeClr val="accent2"/>
                </a:solidFill>
              </a:defRPr>
            </a:pPr>
            <a:r>
              <a:t>14 lat bagażu</a:t>
            </a:r>
          </a:p>
        </p:txBody>
      </p:sp>
      <p:sp>
        <p:nvSpPr>
          <p:cNvPr id="26" name="Text 10"/>
          <p:cNvSpPr txBox="1"/>
          <p:nvPr/>
        </p:nvSpPr>
        <p:spPr>
          <a:xfrm>
            <a:off x="749807" y="3927808"/>
            <a:ext cx="6217922" cy="319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chemeClr val="accent2"/>
                </a:solidFill>
              </a:defRPr>
            </a:lvl1pPr>
          </a:lstStyle>
          <a:p>
            <a:pPr/>
            <a:r>
              <a:t>DRUGA PRELEKCJA</a:t>
            </a:r>
          </a:p>
        </p:txBody>
      </p:sp>
      <p:sp>
        <p:nvSpPr>
          <p:cNvPr id="27" name="Text 11"/>
          <p:cNvSpPr txBox="1"/>
          <p:nvPr/>
        </p:nvSpPr>
        <p:spPr>
          <a:xfrm>
            <a:off x="749807" y="4304004"/>
            <a:ext cx="6492242" cy="947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800">
                <a:solidFill>
                  <a:srgbClr val="FFFFFF"/>
                </a:solidFill>
              </a:defRPr>
            </a:pPr>
            <a:r>
              <a:t>Tańczący</a:t>
            </a:r>
            <a:endParaRPr>
              <a:solidFill>
                <a:srgbClr val="000000"/>
              </a:solidFill>
            </a:endParaRPr>
          </a:p>
          <a:p>
            <a:pPr>
              <a:defRPr b="1" sz="2800">
                <a:solidFill>
                  <a:srgbClr val="FFFFFF"/>
                </a:solidFill>
              </a:defRPr>
            </a:pPr>
            <a:r>
              <a:t>z Agentami</a:t>
            </a:r>
          </a:p>
        </p:txBody>
      </p:sp>
      <p:sp>
        <p:nvSpPr>
          <p:cNvPr id="28" name="Text 12"/>
          <p:cNvSpPr txBox="1"/>
          <p:nvPr/>
        </p:nvSpPr>
        <p:spPr>
          <a:xfrm>
            <a:off x="749807" y="6049217"/>
            <a:ext cx="6583682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20 PAŹDZIERNIKA 2026  ·  18:00  ·  PUB WĘDRÓWKI</a:t>
            </a:r>
          </a:p>
        </p:txBody>
      </p:sp>
      <p:sp>
        <p:nvSpPr>
          <p:cNvPr id="29" name="Text 13"/>
          <p:cNvSpPr txBox="1"/>
          <p:nvPr/>
        </p:nvSpPr>
        <p:spPr>
          <a:xfrm>
            <a:off x="749808" y="6448897"/>
            <a:ext cx="2834640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</a:t>
            </a:r>
          </a:p>
        </p:txBody>
      </p:sp>
      <p:pic>
        <p:nvPicPr>
          <p:cNvPr id="30" name="Wroc.NET logo" descr="Wroc.NET logo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00616" y="475487"/>
            <a:ext cx="1005841" cy="1005841"/>
          </a:xfrm>
          <a:prstGeom prst="rect">
            <a:avLst/>
          </a:prstGeom>
          <a:ln w="12700">
            <a:miter lim="400000"/>
          </a:ln>
        </p:spPr>
      </p:pic>
      <p:pic>
        <p:nvPicPr>
          <p:cNvPr id="31" name="Jakub Kubryński" descr="Jakub Kubryński"/>
          <p:cNvPicPr>
            <a:picLocks noChangeAspect="1"/>
          </p:cNvPicPr>
          <p:nvPr/>
        </p:nvPicPr>
        <p:blipFill>
          <a:blip r:embed="rId4">
            <a:extLst/>
          </a:blip>
          <a:srcRect l="0" t="0" r="9" b="9"/>
          <a:stretch>
            <a:fillRect/>
          </a:stretch>
        </p:blipFill>
        <p:spPr>
          <a:xfrm>
            <a:off x="8174735" y="2194560"/>
            <a:ext cx="1691483" cy="16914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32" name="Maciej Aniserowicz" descr="Maciej Aniserowicz"/>
          <p:cNvPicPr>
            <a:picLocks noChangeAspect="1"/>
          </p:cNvPicPr>
          <p:nvPr/>
        </p:nvPicPr>
        <p:blipFill>
          <a:blip r:embed="rId5">
            <a:extLst/>
          </a:blip>
          <a:srcRect l="0" t="0" r="9" b="9"/>
          <a:stretch>
            <a:fillRect/>
          </a:stretch>
        </p:blipFill>
        <p:spPr>
          <a:xfrm>
            <a:off x="10094976" y="2194560"/>
            <a:ext cx="1691482" cy="16914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33" name="Text 19"/>
          <p:cNvSpPr txBox="1"/>
          <p:nvPr/>
        </p:nvSpPr>
        <p:spPr>
          <a:xfrm>
            <a:off x="8083295" y="4138651"/>
            <a:ext cx="187452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rgbClr val="FFFFFF"/>
                </a:solidFill>
              </a:defRPr>
            </a:pPr>
            <a:r>
              <a:t>Jakub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Kubryński</a:t>
            </a:r>
          </a:p>
        </p:txBody>
      </p:sp>
      <p:sp>
        <p:nvSpPr>
          <p:cNvPr id="34" name="Text 20"/>
          <p:cNvSpPr txBox="1"/>
          <p:nvPr/>
        </p:nvSpPr>
        <p:spPr>
          <a:xfrm>
            <a:off x="10003535" y="4138651"/>
            <a:ext cx="187452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rgbClr val="FFFFFF"/>
                </a:solidFill>
              </a:defRPr>
            </a:pPr>
            <a:r>
              <a:t>Maciej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Aniserowicz</a:t>
            </a:r>
          </a:p>
        </p:txBody>
      </p:sp>
      <p:sp>
        <p:nvSpPr>
          <p:cNvPr id="35" name="Text 21"/>
          <p:cNvSpPr txBox="1"/>
          <p:nvPr/>
        </p:nvSpPr>
        <p:spPr>
          <a:xfrm>
            <a:off x="8174735" y="5574675"/>
            <a:ext cx="3611881" cy="417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900">
                <a:solidFill>
                  <a:srgbClr val="FFFFFF"/>
                </a:solidFill>
              </a:defRPr>
            </a:lvl1pPr>
          </a:lstStyle>
          <a:p>
            <a:pPr/>
            <a:r>
              <a:t>ZACZYNAMY O 18:00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KILKA SPRAW ORGANIZACYJNYCH</a:t>
            </a:r>
          </a:p>
        </p:txBody>
      </p:sp>
      <p:sp>
        <p:nvSpPr>
          <p:cNvPr id="4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Dziś jest nas dużo.</a:t>
            </a:r>
          </a:p>
        </p:txBody>
      </p:sp>
      <p:sp>
        <p:nvSpPr>
          <p:cNvPr id="4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4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44" name="Text 10"/>
          <p:cNvSpPr txBox="1"/>
          <p:nvPr/>
        </p:nvSpPr>
        <p:spPr>
          <a:xfrm>
            <a:off x="713231" y="1660210"/>
            <a:ext cx="10515601" cy="529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600">
                <a:solidFill>
                  <a:srgbClr val="E9A4F4"/>
                </a:solidFill>
              </a:defRPr>
            </a:lvl1pPr>
          </a:lstStyle>
          <a:p>
            <a:pPr/>
            <a:r>
              <a:t>Zadbajmy o komfort wszystkich.</a:t>
            </a:r>
          </a:p>
        </p:txBody>
      </p:sp>
      <p:sp>
        <p:nvSpPr>
          <p:cNvPr id="45" name="Text 11"/>
          <p:cNvSpPr txBox="1"/>
          <p:nvPr/>
        </p:nvSpPr>
        <p:spPr>
          <a:xfrm>
            <a:off x="713231" y="2515521"/>
            <a:ext cx="10515601" cy="49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Zajmujcie wolne miejsca.</a:t>
            </a:r>
          </a:p>
        </p:txBody>
      </p:sp>
      <p:sp>
        <p:nvSpPr>
          <p:cNvPr id="46" name="Text 12"/>
          <p:cNvSpPr txBox="1"/>
          <p:nvPr/>
        </p:nvSpPr>
        <p:spPr>
          <a:xfrm>
            <a:off x="713231" y="3035644"/>
            <a:ext cx="10515601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2000">
                <a:solidFill>
                  <a:srgbClr val="DACCE0"/>
                </a:solidFill>
              </a:defRPr>
            </a:lvl1pPr>
          </a:lstStyle>
          <a:p>
            <a:pPr/>
            <a:r>
              <a:t>Bez zostawiania pojedynczych krzeseł między sobą.</a:t>
            </a:r>
          </a:p>
        </p:txBody>
      </p:sp>
      <p:sp>
        <p:nvSpPr>
          <p:cNvPr id="47" name="Text 13"/>
          <p:cNvSpPr txBox="1"/>
          <p:nvPr/>
        </p:nvSpPr>
        <p:spPr>
          <a:xfrm>
            <a:off x="713231" y="3772821"/>
            <a:ext cx="10515601" cy="491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Nie blokujcie przejść i dostępu do łazienek.</a:t>
            </a:r>
          </a:p>
        </p:txBody>
      </p:sp>
      <p:sp>
        <p:nvSpPr>
          <p:cNvPr id="48" name="Text 14"/>
          <p:cNvSpPr txBox="1"/>
          <p:nvPr/>
        </p:nvSpPr>
        <p:spPr>
          <a:xfrm>
            <a:off x="713231" y="4655217"/>
            <a:ext cx="10515601" cy="49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Jeśli pojawi się problem, dajcie nam znać.</a:t>
            </a:r>
          </a:p>
        </p:txBody>
      </p:sp>
      <p:sp>
        <p:nvSpPr>
          <p:cNvPr id="49" name="Text 15"/>
          <p:cNvSpPr txBox="1"/>
          <p:nvPr/>
        </p:nvSpPr>
        <p:spPr>
          <a:xfrm>
            <a:off x="713231" y="5234776"/>
            <a:ext cx="10515601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2000">
                <a:solidFill>
                  <a:srgbClr val="DACCE0"/>
                </a:solidFill>
              </a:defRPr>
            </a:lvl1pPr>
          </a:lstStyle>
          <a:p>
            <a:pPr/>
            <a:r>
              <a:t>Organizatorzy są na sali. Możecie też napisać na WhatsAppie.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Wrocław połączony społecznością Wroc.NET" descr="Wrocław połączony społecznością Wroc.NET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52" name="Text 5"/>
          <p:cNvSpPr txBox="1"/>
          <p:nvPr/>
        </p:nvSpPr>
        <p:spPr>
          <a:xfrm>
            <a:off x="713231" y="361995"/>
            <a:ext cx="786384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2"/>
                </a:solidFill>
              </a:defRPr>
            </a:lvl1pPr>
          </a:lstStyle>
          <a:p>
            <a:pPr/>
            <a:r>
              <a:t>OD 2007 ROKU</a:t>
            </a:r>
          </a:p>
        </p:txBody>
      </p:sp>
      <p:sp>
        <p:nvSpPr>
          <p:cNvPr id="53" name="Text 6"/>
          <p:cNvSpPr txBox="1"/>
          <p:nvPr/>
        </p:nvSpPr>
        <p:spPr>
          <a:xfrm>
            <a:off x="713231" y="869324"/>
            <a:ext cx="8229601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O grupie · Wroc.NET w liczbach</a:t>
            </a:r>
          </a:p>
        </p:txBody>
      </p:sp>
      <p:sp>
        <p:nvSpPr>
          <p:cNvPr id="54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55" name="Text 9"/>
          <p:cNvSpPr txBox="1"/>
          <p:nvPr/>
        </p:nvSpPr>
        <p:spPr>
          <a:xfrm>
            <a:off x="713231" y="6403177"/>
            <a:ext cx="48463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· Wroc.NET</a:t>
            </a:r>
          </a:p>
        </p:txBody>
      </p:sp>
      <p:sp>
        <p:nvSpPr>
          <p:cNvPr id="56" name="Text 10"/>
          <p:cNvSpPr txBox="1"/>
          <p:nvPr/>
        </p:nvSpPr>
        <p:spPr>
          <a:xfrm>
            <a:off x="713231" y="1744770"/>
            <a:ext cx="7863842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rgbClr val="FFFFFF"/>
                </a:solidFill>
              </a:defRPr>
            </a:lvl1pPr>
          </a:lstStyle>
          <a:p>
            <a:pPr/>
            <a:r>
              <a:t>Wrocławska społeczność programistów .NET</a:t>
            </a:r>
          </a:p>
        </p:txBody>
      </p:sp>
      <p:sp>
        <p:nvSpPr>
          <p:cNvPr id="57" name="Text 20"/>
          <p:cNvSpPr txBox="1"/>
          <p:nvPr/>
        </p:nvSpPr>
        <p:spPr>
          <a:xfrm>
            <a:off x="713231" y="2583591"/>
            <a:ext cx="1874522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18</a:t>
            </a:r>
          </a:p>
        </p:txBody>
      </p:sp>
      <p:sp>
        <p:nvSpPr>
          <p:cNvPr id="58" name="Text 21"/>
          <p:cNvSpPr txBox="1"/>
          <p:nvPr/>
        </p:nvSpPr>
        <p:spPr>
          <a:xfrm>
            <a:off x="713231" y="3502152"/>
            <a:ext cx="1874522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lat społeczności</a:t>
            </a:r>
          </a:p>
        </p:txBody>
      </p:sp>
      <p:sp>
        <p:nvSpPr>
          <p:cNvPr id="59" name="Text 22"/>
          <p:cNvSpPr txBox="1"/>
          <p:nvPr/>
        </p:nvSpPr>
        <p:spPr>
          <a:xfrm>
            <a:off x="2679192" y="2583591"/>
            <a:ext cx="1874521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171</a:t>
            </a:r>
          </a:p>
        </p:txBody>
      </p:sp>
      <p:sp>
        <p:nvSpPr>
          <p:cNvPr id="60" name="Text 23"/>
          <p:cNvSpPr txBox="1"/>
          <p:nvPr/>
        </p:nvSpPr>
        <p:spPr>
          <a:xfrm>
            <a:off x="2679192" y="3502152"/>
            <a:ext cx="1874521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spotkań</a:t>
            </a:r>
          </a:p>
        </p:txBody>
      </p:sp>
      <p:sp>
        <p:nvSpPr>
          <p:cNvPr id="61" name="Text 24"/>
          <p:cNvSpPr txBox="1"/>
          <p:nvPr/>
        </p:nvSpPr>
        <p:spPr>
          <a:xfrm>
            <a:off x="4645152" y="2583591"/>
            <a:ext cx="1874521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182</a:t>
            </a:r>
          </a:p>
        </p:txBody>
      </p:sp>
      <p:sp>
        <p:nvSpPr>
          <p:cNvPr id="62" name="Text 25"/>
          <p:cNvSpPr txBox="1"/>
          <p:nvPr/>
        </p:nvSpPr>
        <p:spPr>
          <a:xfrm>
            <a:off x="4645152" y="3502152"/>
            <a:ext cx="1874521" cy="546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prelegentów i prelegentek</a:t>
            </a:r>
          </a:p>
        </p:txBody>
      </p:sp>
      <p:sp>
        <p:nvSpPr>
          <p:cNvPr id="63" name="Text 26"/>
          <p:cNvSpPr txBox="1"/>
          <p:nvPr/>
        </p:nvSpPr>
        <p:spPr>
          <a:xfrm>
            <a:off x="6611111" y="2583591"/>
            <a:ext cx="1874522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302</a:t>
            </a:r>
          </a:p>
        </p:txBody>
      </p:sp>
      <p:sp>
        <p:nvSpPr>
          <p:cNvPr id="64" name="Text 27"/>
          <p:cNvSpPr txBox="1"/>
          <p:nvPr/>
        </p:nvSpPr>
        <p:spPr>
          <a:xfrm>
            <a:off x="6611111" y="3502152"/>
            <a:ext cx="1874522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prezentacji</a:t>
            </a:r>
          </a:p>
        </p:txBody>
      </p:sp>
      <p:sp>
        <p:nvSpPr>
          <p:cNvPr id="65" name="Line 30"/>
          <p:cNvSpPr/>
          <p:nvPr/>
        </p:nvSpPr>
        <p:spPr>
          <a:xfrm>
            <a:off x="713231" y="4315967"/>
            <a:ext cx="7562090" cy="1"/>
          </a:xfrm>
          <a:prstGeom prst="line">
            <a:avLst/>
          </a:prstGeom>
          <a:ln w="19050">
            <a:solidFill>
              <a:srgbClr val="5E3B69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6" name="Text 31"/>
          <p:cNvSpPr txBox="1"/>
          <p:nvPr/>
        </p:nvSpPr>
        <p:spPr>
          <a:xfrm>
            <a:off x="713231" y="4632887"/>
            <a:ext cx="3200401" cy="701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000">
                <a:solidFill>
                  <a:schemeClr val="accent2"/>
                </a:solidFill>
              </a:defRPr>
            </a:lvl1pPr>
          </a:lstStyle>
          <a:p>
            <a:pPr/>
            <a:r>
              <a:t>2400+</a:t>
            </a:r>
          </a:p>
        </p:txBody>
      </p:sp>
      <p:sp>
        <p:nvSpPr>
          <p:cNvPr id="67" name="Text 32"/>
          <p:cNvSpPr txBox="1"/>
          <p:nvPr/>
        </p:nvSpPr>
        <p:spPr>
          <a:xfrm>
            <a:off x="713231" y="5454371"/>
            <a:ext cx="3657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DACCE0"/>
                </a:solidFill>
              </a:defRPr>
            </a:lvl1pPr>
          </a:lstStyle>
          <a:p>
            <a:pPr/>
            <a:r>
              <a:t>członków społeczności</a:t>
            </a:r>
          </a:p>
        </p:txBody>
      </p:sp>
      <p:sp>
        <p:nvSpPr>
          <p:cNvPr id="68" name="Text 33"/>
          <p:cNvSpPr txBox="1"/>
          <p:nvPr/>
        </p:nvSpPr>
        <p:spPr>
          <a:xfrm>
            <a:off x="4709159" y="4632887"/>
            <a:ext cx="3200401" cy="701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000">
                <a:solidFill>
                  <a:schemeClr val="accent2"/>
                </a:solidFill>
              </a:defRPr>
            </a:lvl1pPr>
          </a:lstStyle>
          <a:p>
            <a:pPr/>
            <a:r>
              <a:t>+ 32</a:t>
            </a:r>
          </a:p>
        </p:txBody>
      </p:sp>
      <p:sp>
        <p:nvSpPr>
          <p:cNvPr id="69" name="Text 34"/>
          <p:cNvSpPr txBox="1"/>
          <p:nvPr/>
        </p:nvSpPr>
        <p:spPr>
          <a:xfrm>
            <a:off x="4709159" y="5454371"/>
            <a:ext cx="3657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DACCE0"/>
                </a:solidFill>
              </a:defRPr>
            </a:lvl1pPr>
          </a:lstStyle>
          <a:p>
            <a:pPr/>
            <a:r>
              <a:t>dodatkowe wydarzenia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Rekordowe spotkanie Wroc.NET - ilustracja" descr="Rekordowe spotkanie Wroc.NET - ilustracja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72" name="Shape 3"/>
          <p:cNvSpPr/>
          <p:nvPr/>
        </p:nvSpPr>
        <p:spPr>
          <a:xfrm>
            <a:off x="-1" y="0"/>
            <a:ext cx="7178042" cy="6858000"/>
          </a:xfrm>
          <a:prstGeom prst="rect">
            <a:avLst/>
          </a:prstGeom>
          <a:solidFill>
            <a:srgbClr val="160E22">
              <a:alpha val="92000"/>
            </a:srgbClr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73" name="Text 5"/>
          <p:cNvSpPr txBox="1"/>
          <p:nvPr/>
        </p:nvSpPr>
        <p:spPr>
          <a:xfrm>
            <a:off x="713231" y="361995"/>
            <a:ext cx="603504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2"/>
                </a:solidFill>
              </a:defRPr>
            </a:lvl1pPr>
          </a:lstStyle>
          <a:p>
            <a:pPr/>
            <a:r>
              <a:t>REKORDOWE SPOTKANIE WROC.NET</a:t>
            </a:r>
          </a:p>
        </p:txBody>
      </p:sp>
      <p:sp>
        <p:nvSpPr>
          <p:cNvPr id="74" name="Text 6"/>
          <p:cNvSpPr txBox="1"/>
          <p:nvPr/>
        </p:nvSpPr>
        <p:spPr>
          <a:xfrm>
            <a:off x="713231" y="763152"/>
            <a:ext cx="6035042" cy="997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3000">
                <a:solidFill>
                  <a:srgbClr val="FFFFFF"/>
                </a:solidFill>
              </a:defRPr>
            </a:pPr>
            <a:r>
              <a:t>171 na 171. spotkaniu.</a:t>
            </a:r>
            <a:endParaRPr>
              <a:solidFill>
                <a:srgbClr val="000000"/>
              </a:solidFill>
            </a:endParaRPr>
          </a:p>
          <a:p>
            <a:pPr>
              <a:defRPr b="1" sz="3000">
                <a:solidFill>
                  <a:srgbClr val="FFFFFF"/>
                </a:solidFill>
              </a:defRPr>
            </a:pPr>
            <a:r>
              <a:t>Rekord!</a:t>
            </a:r>
          </a:p>
        </p:txBody>
      </p:sp>
      <p:sp>
        <p:nvSpPr>
          <p:cNvPr id="75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76" name="Text 9"/>
          <p:cNvSpPr txBox="1"/>
          <p:nvPr/>
        </p:nvSpPr>
        <p:spPr>
          <a:xfrm>
            <a:off x="713231" y="6403177"/>
            <a:ext cx="48463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· Wroc.NET</a:t>
            </a:r>
          </a:p>
        </p:txBody>
      </p:sp>
      <p:sp>
        <p:nvSpPr>
          <p:cNvPr id="77" name="Text 10"/>
          <p:cNvSpPr txBox="1"/>
          <p:nvPr/>
        </p:nvSpPr>
        <p:spPr>
          <a:xfrm>
            <a:off x="713231" y="1733383"/>
            <a:ext cx="2743201" cy="1059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6400">
                <a:solidFill>
                  <a:srgbClr val="FFFFFF"/>
                </a:solidFill>
              </a:defRPr>
            </a:lvl1pPr>
          </a:lstStyle>
          <a:p>
            <a:pPr/>
            <a:r>
              <a:t>171</a:t>
            </a:r>
          </a:p>
        </p:txBody>
      </p:sp>
      <p:sp>
        <p:nvSpPr>
          <p:cNvPr id="78" name="Text 11"/>
          <p:cNvSpPr txBox="1"/>
          <p:nvPr/>
        </p:nvSpPr>
        <p:spPr>
          <a:xfrm>
            <a:off x="713232" y="2748094"/>
            <a:ext cx="2834640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zapisanych uczestników</a:t>
            </a:r>
          </a:p>
        </p:txBody>
      </p:sp>
      <p:sp>
        <p:nvSpPr>
          <p:cNvPr id="79" name="Text 12"/>
          <p:cNvSpPr txBox="1"/>
          <p:nvPr/>
        </p:nvSpPr>
        <p:spPr>
          <a:xfrm>
            <a:off x="3749040" y="1733383"/>
            <a:ext cx="2743201" cy="1059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6400">
                <a:solidFill>
                  <a:schemeClr val="accent2"/>
                </a:solidFill>
              </a:defRPr>
            </a:lvl1pPr>
          </a:lstStyle>
          <a:p>
            <a:pPr/>
            <a:r>
              <a:t>+ 34</a:t>
            </a:r>
          </a:p>
        </p:txBody>
      </p:sp>
      <p:sp>
        <p:nvSpPr>
          <p:cNvPr id="80" name="Text 13"/>
          <p:cNvSpPr txBox="1"/>
          <p:nvPr/>
        </p:nvSpPr>
        <p:spPr>
          <a:xfrm>
            <a:off x="3749040" y="2748094"/>
            <a:ext cx="2834641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na liście oczekujących</a:t>
            </a:r>
          </a:p>
        </p:txBody>
      </p:sp>
      <p:sp>
        <p:nvSpPr>
          <p:cNvPr id="81" name="Text 16"/>
          <p:cNvSpPr txBox="1"/>
          <p:nvPr/>
        </p:nvSpPr>
        <p:spPr>
          <a:xfrm>
            <a:off x="713231" y="3414521"/>
            <a:ext cx="60350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chemeClr val="accent2"/>
                </a:solidFill>
              </a:defRPr>
            </a:lvl1pPr>
          </a:lstStyle>
          <a:p>
            <a:pPr/>
            <a:r>
              <a:t>WCZEŚNIEJSZE NAJLICZNIEJSZE SPOTKANIA</a:t>
            </a:r>
          </a:p>
        </p:txBody>
      </p:sp>
      <p:sp>
        <p:nvSpPr>
          <p:cNvPr id="82" name="Text 20"/>
          <p:cNvSpPr txBox="1"/>
          <p:nvPr/>
        </p:nvSpPr>
        <p:spPr>
          <a:xfrm>
            <a:off x="713231" y="3778686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165</a:t>
            </a:r>
          </a:p>
        </p:txBody>
      </p:sp>
      <p:sp>
        <p:nvSpPr>
          <p:cNvPr id="83" name="Text 21"/>
          <p:cNvSpPr txBox="1"/>
          <p:nvPr/>
        </p:nvSpPr>
        <p:spPr>
          <a:xfrm>
            <a:off x="1920239" y="3770651"/>
            <a:ext cx="4663442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TPL Dataflow, Pamięć w .NET</a:t>
            </a:r>
          </a:p>
        </p:txBody>
      </p:sp>
      <p:sp>
        <p:nvSpPr>
          <p:cNvPr id="84" name="Text 22"/>
          <p:cNvSpPr txBox="1"/>
          <p:nvPr/>
        </p:nvSpPr>
        <p:spPr>
          <a:xfrm>
            <a:off x="1920239" y="4091177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100. spotkanie · 20.06.2017</a:t>
            </a:r>
          </a:p>
        </p:txBody>
      </p:sp>
      <p:sp>
        <p:nvSpPr>
          <p:cNvPr id="85" name="Text 23"/>
          <p:cNvSpPr txBox="1"/>
          <p:nvPr/>
        </p:nvSpPr>
        <p:spPr>
          <a:xfrm>
            <a:off x="713231" y="4446198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158</a:t>
            </a:r>
          </a:p>
        </p:txBody>
      </p:sp>
      <p:sp>
        <p:nvSpPr>
          <p:cNvPr id="86" name="Text 24"/>
          <p:cNvSpPr txBox="1"/>
          <p:nvPr/>
        </p:nvSpPr>
        <p:spPr>
          <a:xfrm>
            <a:off x="1920239" y="4438163"/>
            <a:ext cx="4663442" cy="36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CQRS w trzech odsłonach</a:t>
            </a:r>
          </a:p>
        </p:txBody>
      </p:sp>
      <p:sp>
        <p:nvSpPr>
          <p:cNvPr id="87" name="Text 25"/>
          <p:cNvSpPr txBox="1"/>
          <p:nvPr/>
        </p:nvSpPr>
        <p:spPr>
          <a:xfrm>
            <a:off x="1920239" y="4758689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75. spotkanie · 11.03.2015</a:t>
            </a:r>
          </a:p>
        </p:txBody>
      </p:sp>
      <p:sp>
        <p:nvSpPr>
          <p:cNvPr id="88" name="Text 26"/>
          <p:cNvSpPr txBox="1"/>
          <p:nvPr/>
        </p:nvSpPr>
        <p:spPr>
          <a:xfrm>
            <a:off x="713231" y="5113710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145</a:t>
            </a:r>
          </a:p>
        </p:txBody>
      </p:sp>
      <p:sp>
        <p:nvSpPr>
          <p:cNvPr id="89" name="Text 27"/>
          <p:cNvSpPr txBox="1"/>
          <p:nvPr/>
        </p:nvSpPr>
        <p:spPr>
          <a:xfrm>
            <a:off x="1920239" y="5105676"/>
            <a:ext cx="4663442" cy="36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Microservices, Lightning talki</a:t>
            </a:r>
          </a:p>
        </p:txBody>
      </p:sp>
      <p:sp>
        <p:nvSpPr>
          <p:cNvPr id="90" name="Text 28"/>
          <p:cNvSpPr txBox="1"/>
          <p:nvPr/>
        </p:nvSpPr>
        <p:spPr>
          <a:xfrm>
            <a:off x="1920239" y="5426201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86. spotkanie · 09.03.2016</a:t>
            </a:r>
          </a:p>
        </p:txBody>
      </p:sp>
      <p:sp>
        <p:nvSpPr>
          <p:cNvPr id="91" name="Text 30"/>
          <p:cNvSpPr txBox="1"/>
          <p:nvPr/>
        </p:nvSpPr>
        <p:spPr>
          <a:xfrm>
            <a:off x="713231" y="5834748"/>
            <a:ext cx="6035042" cy="546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400">
                <a:solidFill>
                  <a:schemeClr val="accent2"/>
                </a:solidFill>
              </a:defRPr>
            </a:pPr>
            <a:r>
              <a:t>205 osób chce być częścią tego spotkania.</a:t>
            </a:r>
            <a:endParaRPr>
              <a:solidFill>
                <a:srgbClr val="000000"/>
              </a:solidFill>
            </a:endParaRPr>
          </a:p>
          <a:p>
            <a:pPr>
              <a:defRPr b="1" sz="1400">
                <a:solidFill>
                  <a:schemeClr val="accent2"/>
                </a:solidFill>
              </a:defRPr>
            </a:pPr>
            <a:r>
              <a:t>Dziękujemy!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4" name="Text 5"/>
          <p:cNvSpPr txBox="1"/>
          <p:nvPr/>
        </p:nvSpPr>
        <p:spPr>
          <a:xfrm>
            <a:off x="713231" y="361995"/>
            <a:ext cx="91440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2"/>
                </a:solidFill>
              </a:defRPr>
            </a:lvl1pPr>
          </a:lstStyle>
          <a:p>
            <a:pPr/>
            <a:r>
              <a:t>20 PAŹDZIERNIKA · NIE BRAKOWAŁO ALTERNATYW</a:t>
            </a:r>
          </a:p>
        </p:txBody>
      </p:sp>
      <p:sp>
        <p:nvSpPr>
          <p:cNvPr id="95" name="Text 6"/>
          <p:cNvSpPr txBox="1"/>
          <p:nvPr/>
        </p:nvSpPr>
        <p:spPr>
          <a:xfrm>
            <a:off x="713231" y="914420"/>
            <a:ext cx="9875522" cy="676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800">
                <a:solidFill>
                  <a:srgbClr val="FFFFFF"/>
                </a:solidFill>
              </a:defRPr>
            </a:lvl1pPr>
          </a:lstStyle>
          <a:p>
            <a:pPr/>
            <a:r>
              <a:t>Mieliście mocny wybór.</a:t>
            </a:r>
          </a:p>
        </p:txBody>
      </p:sp>
      <p:sp>
        <p:nvSpPr>
          <p:cNvPr id="96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97" name="Text 10"/>
          <p:cNvSpPr txBox="1"/>
          <p:nvPr/>
        </p:nvSpPr>
        <p:spPr>
          <a:xfrm>
            <a:off x="713231" y="1833832"/>
            <a:ext cx="5166362" cy="319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DACCE0"/>
                </a:solidFill>
              </a:defRPr>
            </a:lvl1pPr>
          </a:lstStyle>
          <a:p>
            <a:pPr/>
            <a:r>
              <a:t>LIGA MISTRZÓW</a:t>
            </a:r>
          </a:p>
        </p:txBody>
      </p:sp>
      <p:sp>
        <p:nvSpPr>
          <p:cNvPr id="98" name="Text 11"/>
          <p:cNvSpPr txBox="1"/>
          <p:nvPr/>
        </p:nvSpPr>
        <p:spPr>
          <a:xfrm>
            <a:off x="6291071" y="1833832"/>
            <a:ext cx="5166361" cy="319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DACCE0"/>
                </a:solidFill>
              </a:defRPr>
            </a:lvl1pPr>
          </a:lstStyle>
          <a:p>
            <a:pPr/>
            <a:r>
              <a:t>KONFERENCJA .NET</a:t>
            </a:r>
          </a:p>
        </p:txBody>
      </p:sp>
      <p:sp>
        <p:nvSpPr>
          <p:cNvPr id="99" name="Shape 16"/>
          <p:cNvSpPr/>
          <p:nvPr/>
        </p:nvSpPr>
        <p:spPr>
          <a:xfrm>
            <a:off x="713231" y="2313432"/>
            <a:ext cx="5166362" cy="224028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00" name="Liga Mistrzów: PSG vs FC Barcelona, dzisiaj o 21:00" descr="Liga Mistrzów: PSG vs FC Barcelona, dzisiaj o 21:0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2468879"/>
            <a:ext cx="5166361" cy="1920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.NET Developer Days 2026, Warszawa, 20-21 października" descr=".NET Developer Days 2026, Warszawa, 20-21 października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91071" y="2313432"/>
            <a:ext cx="5166361" cy="2240280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Text 14"/>
          <p:cNvSpPr txBox="1"/>
          <p:nvPr/>
        </p:nvSpPr>
        <p:spPr>
          <a:xfrm>
            <a:off x="713231" y="4992643"/>
            <a:ext cx="10744201" cy="6766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800">
                <a:solidFill>
                  <a:schemeClr val="accent2"/>
                </a:solidFill>
              </a:defRPr>
            </a:lvl1pPr>
          </a:lstStyle>
          <a:p>
            <a:pPr/>
            <a:r>
              <a:t>A wybraliście Wroc.NET.</a:t>
            </a:r>
          </a:p>
        </p:txBody>
      </p:sp>
      <p:sp>
        <p:nvSpPr>
          <p:cNvPr id="103" name="Text 15"/>
          <p:cNvSpPr txBox="1"/>
          <p:nvPr/>
        </p:nvSpPr>
        <p:spPr>
          <a:xfrm>
            <a:off x="713231" y="5804845"/>
            <a:ext cx="10744201" cy="405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Takiej frekwencji nie bierzemy za pewnik. Dzięki, że jesteście!</a:t>
            </a:r>
          </a:p>
        </p:txBody>
      </p:sp>
      <p:sp>
        <p:nvSpPr>
          <p:cNvPr id="104" name="Text 9"/>
          <p:cNvSpPr txBox="1"/>
          <p:nvPr/>
        </p:nvSpPr>
        <p:spPr>
          <a:xfrm>
            <a:off x="713231" y="6403177"/>
            <a:ext cx="48463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· Wroc.NET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07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08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109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Poznaj organizatorów</a:t>
            </a:r>
          </a:p>
        </p:txBody>
      </p:sp>
      <p:sp>
        <p:nvSpPr>
          <p:cNvPr id="110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06</a:t>
            </a:r>
          </a:p>
        </p:txBody>
      </p:sp>
      <p:sp>
        <p:nvSpPr>
          <p:cNvPr id="111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2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pic>
        <p:nvPicPr>
          <p:cNvPr id="113" name="Łukasz Pyrzyk" descr="Łukasz Pyrzyk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80744" y="1737360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14" name="Text 21"/>
          <p:cNvSpPr txBox="1"/>
          <p:nvPr/>
        </p:nvSpPr>
        <p:spPr>
          <a:xfrm>
            <a:off x="786383" y="3092887"/>
            <a:ext cx="2560322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Łukasz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Pyrzyk</a:t>
            </a:r>
          </a:p>
        </p:txBody>
      </p:sp>
      <p:pic>
        <p:nvPicPr>
          <p:cNvPr id="115" name="Łukasz Olbromski" descr="Łukasz Olbromski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50791" y="1737360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16" name="Text 23"/>
          <p:cNvSpPr txBox="1"/>
          <p:nvPr/>
        </p:nvSpPr>
        <p:spPr>
          <a:xfrm>
            <a:off x="3456432" y="3092887"/>
            <a:ext cx="256032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Łukasz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Olbromski</a:t>
            </a:r>
          </a:p>
        </p:txBody>
      </p:sp>
      <p:pic>
        <p:nvPicPr>
          <p:cNvPr id="117" name="Daniel Kowalski" descr="Daniel Kowalski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720840" y="1737360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18" name="Text 25"/>
          <p:cNvSpPr txBox="1"/>
          <p:nvPr/>
        </p:nvSpPr>
        <p:spPr>
          <a:xfrm>
            <a:off x="6126479" y="3092887"/>
            <a:ext cx="256032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Daniel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Kowalski</a:t>
            </a:r>
          </a:p>
        </p:txBody>
      </p:sp>
      <p:pic>
        <p:nvPicPr>
          <p:cNvPr id="119" name="Beata Trawińska" descr="Beata Trawińska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390888" y="1737360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20" name="Text 27"/>
          <p:cNvSpPr txBox="1"/>
          <p:nvPr/>
        </p:nvSpPr>
        <p:spPr>
          <a:xfrm>
            <a:off x="8796528" y="3092887"/>
            <a:ext cx="256032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Beata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Trawińska</a:t>
            </a:r>
          </a:p>
        </p:txBody>
      </p:sp>
      <p:pic>
        <p:nvPicPr>
          <p:cNvPr id="121" name="Tomasz Zawadzki" descr="Tomasz Zawadzki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380744" y="3840479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22" name="Text 29"/>
          <p:cNvSpPr txBox="1"/>
          <p:nvPr/>
        </p:nvSpPr>
        <p:spPr>
          <a:xfrm>
            <a:off x="786383" y="5196007"/>
            <a:ext cx="2560322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Tomasz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Zawadzki</a:t>
            </a:r>
          </a:p>
        </p:txBody>
      </p:sp>
      <p:pic>
        <p:nvPicPr>
          <p:cNvPr id="123" name="Adam Dłubak" descr="Adam Dłubak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050791" y="3840479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24" name="Text 31"/>
          <p:cNvSpPr txBox="1"/>
          <p:nvPr/>
        </p:nvSpPr>
        <p:spPr>
          <a:xfrm>
            <a:off x="3456432" y="5196007"/>
            <a:ext cx="256032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Adam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Dłubak</a:t>
            </a:r>
          </a:p>
        </p:txBody>
      </p:sp>
      <p:pic>
        <p:nvPicPr>
          <p:cNvPr id="125" name="Szymon Pulka" descr="Szymon Pulka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6720840" y="3840479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26" name="Text 33"/>
          <p:cNvSpPr txBox="1"/>
          <p:nvPr/>
        </p:nvSpPr>
        <p:spPr>
          <a:xfrm>
            <a:off x="6126479" y="5196007"/>
            <a:ext cx="256032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Szymon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Pulka</a:t>
            </a:r>
          </a:p>
        </p:txBody>
      </p:sp>
      <p:pic>
        <p:nvPicPr>
          <p:cNvPr id="127" name="Tymoteusz Wojnarowski" descr="Tymoteusz Wojnarowski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9390888" y="3840479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28" name="Text 35"/>
          <p:cNvSpPr txBox="1"/>
          <p:nvPr/>
        </p:nvSpPr>
        <p:spPr>
          <a:xfrm>
            <a:off x="8796528" y="5196007"/>
            <a:ext cx="256032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Tymoteusz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Wojnarowski</a:t>
            </a:r>
          </a:p>
        </p:txBody>
      </p:sp>
      <p:sp>
        <p:nvSpPr>
          <p:cNvPr id="129" name="Text 10"/>
          <p:cNvSpPr txBox="1"/>
          <p:nvPr/>
        </p:nvSpPr>
        <p:spPr>
          <a:xfrm>
            <a:off x="713231" y="5896770"/>
            <a:ext cx="10744201" cy="33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300">
                <a:solidFill>
                  <a:srgbClr val="E9A4F4"/>
                </a:solidFill>
              </a:defRPr>
            </a:lvl1pPr>
          </a:lstStyle>
          <a:p>
            <a:pPr/>
            <a:r>
              <a:t>wrocnet.org/organizatorzy/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2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3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BĄDŹMY W KONTAKCIE</a:t>
            </a:r>
          </a:p>
        </p:txBody>
      </p:sp>
      <p:sp>
        <p:nvSpPr>
          <p:cNvPr id="134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Dołącz do społeczności na WhatsAppie</a:t>
            </a:r>
          </a:p>
        </p:txBody>
      </p:sp>
      <p:sp>
        <p:nvSpPr>
          <p:cNvPr id="135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07</a:t>
            </a:r>
          </a:p>
        </p:txBody>
      </p:sp>
      <p:sp>
        <p:nvSpPr>
          <p:cNvPr id="136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7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38" name="Shape 10"/>
          <p:cNvSpPr/>
          <p:nvPr/>
        </p:nvSpPr>
        <p:spPr>
          <a:xfrm>
            <a:off x="713231" y="1837943"/>
            <a:ext cx="3959354" cy="395935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39" name="Kod QR społeczności WhatsApp" descr="Kod QR społeczności WhatsApp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1247" y="1965960"/>
            <a:ext cx="3703322" cy="3703321"/>
          </a:xfrm>
          <a:prstGeom prst="rect">
            <a:avLst/>
          </a:prstGeom>
          <a:ln w="12700">
            <a:miter lim="400000"/>
          </a:ln>
        </p:spPr>
      </p:pic>
      <p:pic>
        <p:nvPicPr>
          <p:cNvPr id="140" name="Grafika panelu" descr="Grafika panelu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956047" y="1837944"/>
            <a:ext cx="6236209" cy="3959353"/>
          </a:xfrm>
          <a:prstGeom prst="rect">
            <a:avLst/>
          </a:prstGeom>
          <a:ln w="12700">
            <a:miter lim="400000"/>
          </a:ln>
        </p:spPr>
      </p:pic>
      <p:sp>
        <p:nvSpPr>
          <p:cNvPr id="141" name="Text 13"/>
          <p:cNvSpPr txBox="1"/>
          <p:nvPr/>
        </p:nvSpPr>
        <p:spPr>
          <a:xfrm>
            <a:off x="5358384" y="2293895"/>
            <a:ext cx="5394961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chemeClr val="accent2"/>
                </a:solidFill>
              </a:defRPr>
            </a:lvl1pPr>
          </a:lstStyle>
          <a:p>
            <a:pPr/>
            <a:r>
              <a:t>ZESKANUJ KOD</a:t>
            </a:r>
          </a:p>
        </p:txBody>
      </p:sp>
      <p:sp>
        <p:nvSpPr>
          <p:cNvPr id="142" name="Text 14"/>
          <p:cNvSpPr txBox="1"/>
          <p:nvPr/>
        </p:nvSpPr>
        <p:spPr>
          <a:xfrm>
            <a:off x="5358384" y="2809398"/>
            <a:ext cx="5248657" cy="1147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3500">
                <a:solidFill>
                  <a:srgbClr val="FFFFFF"/>
                </a:solidFill>
              </a:defRPr>
            </a:pPr>
            <a:r>
              <a:t>Wrocławska</a:t>
            </a:r>
            <a:endParaRPr>
              <a:solidFill>
                <a:srgbClr val="000000"/>
              </a:solidFill>
            </a:endParaRPr>
          </a:p>
          <a:p>
            <a:pPr>
              <a:defRPr b="1" sz="3500">
                <a:solidFill>
                  <a:srgbClr val="FFFFFF"/>
                </a:solidFill>
              </a:defRPr>
            </a:pPr>
            <a:r>
              <a:t>Grupa .NET</a:t>
            </a:r>
          </a:p>
        </p:txBody>
      </p:sp>
      <p:sp>
        <p:nvSpPr>
          <p:cNvPr id="143" name="Text 15"/>
          <p:cNvSpPr txBox="1"/>
          <p:nvPr/>
        </p:nvSpPr>
        <p:spPr>
          <a:xfrm>
            <a:off x="5358384" y="4288535"/>
            <a:ext cx="5047489" cy="6722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Ogłoszenia, rozmowy i kontakt między spotkaniami.</a:t>
            </a:r>
          </a:p>
        </p:txBody>
      </p:sp>
      <p:sp>
        <p:nvSpPr>
          <p:cNvPr id="144" name="Text 17"/>
          <p:cNvSpPr txBox="1"/>
          <p:nvPr/>
        </p:nvSpPr>
        <p:spPr>
          <a:xfrm>
            <a:off x="5358384" y="5311554"/>
            <a:ext cx="5047489" cy="33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300">
                <a:solidFill>
                  <a:schemeClr val="accent2"/>
                </a:solidFill>
              </a:defRPr>
            </a:lvl1pPr>
          </a:lstStyle>
          <a:p>
            <a:pPr/>
            <a:r>
              <a:t>wrocnet.org/whatsapp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7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8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SEZON 2026/2027</a:t>
            </a:r>
          </a:p>
        </p:txBody>
      </p:sp>
      <p:sp>
        <p:nvSpPr>
          <p:cNvPr id="149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Spotykamy się regularnie</a:t>
            </a:r>
          </a:p>
        </p:txBody>
      </p:sp>
      <p:sp>
        <p:nvSpPr>
          <p:cNvPr id="150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08</a:t>
            </a:r>
          </a:p>
        </p:txBody>
      </p:sp>
      <p:sp>
        <p:nvSpPr>
          <p:cNvPr id="151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2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53" name="Text 10"/>
          <p:cNvSpPr txBox="1"/>
          <p:nvPr/>
        </p:nvSpPr>
        <p:spPr>
          <a:xfrm>
            <a:off x="713231" y="1778483"/>
            <a:ext cx="10515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DACCE0"/>
                </a:solidFill>
              </a:defRPr>
            </a:lvl1pPr>
          </a:lstStyle>
          <a:p>
            <a:pPr/>
            <a:r>
              <a:t>Trzeci wtorek miesiąca. Dzisiaj wyjątkowo zaczynamy o 18:00.</a:t>
            </a:r>
          </a:p>
        </p:txBody>
      </p:sp>
      <p:sp>
        <p:nvSpPr>
          <p:cNvPr id="154" name="Line 11"/>
          <p:cNvSpPr/>
          <p:nvPr/>
        </p:nvSpPr>
        <p:spPr>
          <a:xfrm>
            <a:off x="1243584" y="3081527"/>
            <a:ext cx="9701785" cy="1"/>
          </a:xfrm>
          <a:prstGeom prst="line">
            <a:avLst/>
          </a:prstGeom>
          <a:ln w="254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" name="Circle 20"/>
          <p:cNvSpPr/>
          <p:nvPr/>
        </p:nvSpPr>
        <p:spPr>
          <a:xfrm>
            <a:off x="2496311" y="2862072"/>
            <a:ext cx="438913" cy="438912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6" name="Text 21"/>
          <p:cNvSpPr txBox="1"/>
          <p:nvPr/>
        </p:nvSpPr>
        <p:spPr>
          <a:xfrm>
            <a:off x="1792223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chemeClr val="accent2"/>
                </a:solidFill>
              </a:defRPr>
            </a:lvl1pPr>
          </a:lstStyle>
          <a:p>
            <a:pPr/>
            <a:r>
              <a:t>20 PAŹ</a:t>
            </a:r>
          </a:p>
        </p:txBody>
      </p:sp>
      <p:sp>
        <p:nvSpPr>
          <p:cNvPr id="157" name="Text 22"/>
          <p:cNvSpPr txBox="1"/>
          <p:nvPr/>
        </p:nvSpPr>
        <p:spPr>
          <a:xfrm>
            <a:off x="1792223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DACCE0"/>
                </a:solidFill>
              </a:defRPr>
            </a:lvl1pPr>
          </a:lstStyle>
          <a:p>
            <a:pPr/>
            <a:r>
              <a:t>dzisiaj · 18:00</a:t>
            </a:r>
          </a:p>
        </p:txBody>
      </p:sp>
      <p:sp>
        <p:nvSpPr>
          <p:cNvPr id="158" name="Circle 23"/>
          <p:cNvSpPr/>
          <p:nvPr/>
        </p:nvSpPr>
        <p:spPr>
          <a:xfrm>
            <a:off x="5788152" y="2862072"/>
            <a:ext cx="438913" cy="438912"/>
          </a:xfrm>
          <a:prstGeom prst="ellipse">
            <a:avLst/>
          </a:prstGeom>
          <a:solidFill>
            <a:srgbClr val="E9A4F4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9" name="Text 24"/>
          <p:cNvSpPr txBox="1"/>
          <p:nvPr/>
        </p:nvSpPr>
        <p:spPr>
          <a:xfrm>
            <a:off x="5084064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FFFFFF"/>
                </a:solidFill>
              </a:defRPr>
            </a:lvl1pPr>
          </a:lstStyle>
          <a:p>
            <a:pPr/>
            <a:r>
              <a:t>17 LIS</a:t>
            </a:r>
          </a:p>
        </p:txBody>
      </p:sp>
      <p:sp>
        <p:nvSpPr>
          <p:cNvPr id="160" name="Text 25"/>
          <p:cNvSpPr txBox="1"/>
          <p:nvPr/>
        </p:nvSpPr>
        <p:spPr>
          <a:xfrm>
            <a:off x="5084064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200">
                <a:solidFill>
                  <a:srgbClr val="DACCE0"/>
                </a:solidFill>
              </a:defRPr>
            </a:lvl1pPr>
          </a:lstStyle>
          <a:p>
            <a:pPr/>
            <a:r>
              <a:t>18:30</a:t>
            </a:r>
          </a:p>
        </p:txBody>
      </p:sp>
      <p:sp>
        <p:nvSpPr>
          <p:cNvPr id="161" name="Circle 26"/>
          <p:cNvSpPr/>
          <p:nvPr/>
        </p:nvSpPr>
        <p:spPr>
          <a:xfrm>
            <a:off x="9079992" y="2862072"/>
            <a:ext cx="438913" cy="438912"/>
          </a:xfrm>
          <a:prstGeom prst="ellipse">
            <a:avLst/>
          </a:prstGeom>
          <a:solidFill>
            <a:srgbClr val="E9A4F4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2" name="Text 27"/>
          <p:cNvSpPr txBox="1"/>
          <p:nvPr/>
        </p:nvSpPr>
        <p:spPr>
          <a:xfrm>
            <a:off x="8375904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FFFFFF"/>
                </a:solidFill>
              </a:defRPr>
            </a:lvl1pPr>
          </a:lstStyle>
          <a:p>
            <a:pPr/>
            <a:r>
              <a:t>15 GRU</a:t>
            </a:r>
          </a:p>
        </p:txBody>
      </p:sp>
      <p:sp>
        <p:nvSpPr>
          <p:cNvPr id="163" name="Text 28"/>
          <p:cNvSpPr txBox="1"/>
          <p:nvPr/>
        </p:nvSpPr>
        <p:spPr>
          <a:xfrm>
            <a:off x="8375904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200">
                <a:solidFill>
                  <a:srgbClr val="DACCE0"/>
                </a:solidFill>
              </a:defRPr>
            </a:lvl1pPr>
          </a:lstStyle>
          <a:p>
            <a:pPr/>
            <a:r>
              <a:t>18:30</a:t>
            </a:r>
          </a:p>
        </p:txBody>
      </p:sp>
      <p:sp>
        <p:nvSpPr>
          <p:cNvPr id="164" name="Shape 40"/>
          <p:cNvSpPr/>
          <p:nvPr/>
        </p:nvSpPr>
        <p:spPr>
          <a:xfrm>
            <a:off x="1847088" y="4636008"/>
            <a:ext cx="8485632" cy="804673"/>
          </a:xfrm>
          <a:prstGeom prst="rect">
            <a:avLst/>
          </a:prstGeom>
          <a:solidFill>
            <a:srgbClr val="291A35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5" name="Text 41"/>
          <p:cNvSpPr txBox="1"/>
          <p:nvPr/>
        </p:nvSpPr>
        <p:spPr>
          <a:xfrm>
            <a:off x="2057400" y="4826783"/>
            <a:ext cx="8065007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E9A4F4"/>
                </a:solidFill>
              </a:defRPr>
            </a:lvl1pPr>
          </a:lstStyle>
          <a:p>
            <a:pPr/>
            <a:r>
              <a:t>PUB WĘDRÓWKI  ·  UL. PODWALE 37/38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PARTNER STRATEGICZNY</a:t>
            </a:r>
          </a:p>
        </p:txBody>
      </p:sp>
      <p:sp>
        <p:nvSpPr>
          <p:cNvPr id="17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Wspiera nas Devstyle</a:t>
            </a:r>
          </a:p>
        </p:txBody>
      </p:sp>
      <p:sp>
        <p:nvSpPr>
          <p:cNvPr id="17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09</a:t>
            </a:r>
          </a:p>
        </p:txBody>
      </p:sp>
      <p:sp>
        <p:nvSpPr>
          <p:cNvPr id="17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74" name="Text 10"/>
          <p:cNvSpPr txBox="1"/>
          <p:nvPr/>
        </p:nvSpPr>
        <p:spPr>
          <a:xfrm>
            <a:off x="713231" y="1984248"/>
            <a:ext cx="5120642" cy="9224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700">
                <a:solidFill>
                  <a:srgbClr val="E9A4F4"/>
                </a:solidFill>
              </a:defRPr>
            </a:pPr>
            <a:r>
              <a:t>DZIĘKUJEMY ZA WSPARCIE</a:t>
            </a:r>
            <a:endParaRPr>
              <a:solidFill>
                <a:srgbClr val="000000"/>
              </a:solidFill>
            </a:endParaRPr>
          </a:p>
          <a:p>
            <a:pPr>
              <a:defRPr b="1" sz="2700">
                <a:solidFill>
                  <a:srgbClr val="E9A4F4"/>
                </a:solidFill>
              </a:defRPr>
            </a:pPr>
            <a:r>
              <a:t>WROC.NET</a:t>
            </a:r>
          </a:p>
        </p:txBody>
      </p:sp>
      <p:sp>
        <p:nvSpPr>
          <p:cNvPr id="175" name="Text 11"/>
          <p:cNvSpPr txBox="1"/>
          <p:nvPr/>
        </p:nvSpPr>
        <p:spPr>
          <a:xfrm>
            <a:off x="713232" y="3291840"/>
            <a:ext cx="5230368" cy="6972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sz="1900">
                <a:solidFill>
                  <a:srgbClr val="FFFFFF"/>
                </a:solidFill>
              </a:defRPr>
            </a:pPr>
            <a:r>
              <a:t>Devstyle jest partnerem strategicznym</a:t>
            </a:r>
            <a:endParaRPr>
              <a:solidFill>
                <a:srgbClr val="000000"/>
              </a:solidFill>
            </a:endParaRPr>
          </a:p>
          <a:p>
            <a:pPr>
              <a:defRPr sz="1900">
                <a:solidFill>
                  <a:srgbClr val="FFFFFF"/>
                </a:solidFill>
              </a:defRPr>
            </a:pPr>
            <a:r>
              <a:t>naszej społeczności.</a:t>
            </a:r>
          </a:p>
        </p:txBody>
      </p:sp>
      <p:sp>
        <p:nvSpPr>
          <p:cNvPr id="176" name="Shape 14"/>
          <p:cNvSpPr/>
          <p:nvPr/>
        </p:nvSpPr>
        <p:spPr>
          <a:xfrm>
            <a:off x="6656831" y="1828799"/>
            <a:ext cx="4535425" cy="379476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77" name="Logo Devstyle" descr="Logo Devstyl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31735" y="3081527"/>
            <a:ext cx="3785617" cy="758953"/>
          </a:xfrm>
          <a:prstGeom prst="rect">
            <a:avLst/>
          </a:prstGeom>
          <a:ln w="12700">
            <a:miter lim="400000"/>
          </a:ln>
        </p:spPr>
      </p:pic>
      <p:sp>
        <p:nvSpPr>
          <p:cNvPr id="178" name="Text 16"/>
          <p:cNvSpPr txBox="1"/>
          <p:nvPr/>
        </p:nvSpPr>
        <p:spPr>
          <a:xfrm>
            <a:off x="713231" y="4095749"/>
            <a:ext cx="51206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rgbClr val="DACCE0"/>
                </a:solidFill>
              </a:defRPr>
            </a:lvl1pPr>
          </a:lstStyle>
          <a:p>
            <a:pPr/>
            <a:r>
              <a:t>PARTNERZY WSPIERAJĄCY</a:t>
            </a:r>
          </a:p>
        </p:txBody>
      </p:sp>
      <p:sp>
        <p:nvSpPr>
          <p:cNvPr id="179" name="Shape 21"/>
          <p:cNvSpPr/>
          <p:nvPr/>
        </p:nvSpPr>
        <p:spPr>
          <a:xfrm>
            <a:off x="640080" y="4361688"/>
            <a:ext cx="1609345" cy="6309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0" name="Shape 22"/>
          <p:cNvSpPr/>
          <p:nvPr/>
        </p:nvSpPr>
        <p:spPr>
          <a:xfrm>
            <a:off x="2331720" y="4398264"/>
            <a:ext cx="566929" cy="56692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81" name="Logo Helion" descr="Logo Helion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3231" y="4434840"/>
            <a:ext cx="1463041" cy="484633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Text 18"/>
          <p:cNvSpPr txBox="1"/>
          <p:nvPr/>
        </p:nvSpPr>
        <p:spPr>
          <a:xfrm>
            <a:off x="713231" y="4915706"/>
            <a:ext cx="173736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DACCE0"/>
                </a:solidFill>
              </a:defRPr>
            </a:lvl1pPr>
          </a:lstStyle>
          <a:p>
            <a:pPr/>
            <a:r>
              <a:t>partner nagród</a:t>
            </a:r>
          </a:p>
        </p:txBody>
      </p:sp>
      <p:pic>
        <p:nvPicPr>
          <p:cNvPr id="183" name="Logo hued.me" descr="Logo hued.m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404872" y="4471415"/>
            <a:ext cx="420624" cy="420625"/>
          </a:xfrm>
          <a:prstGeom prst="rect">
            <a:avLst/>
          </a:prstGeom>
          <a:ln w="12700">
            <a:miter lim="400000"/>
          </a:ln>
        </p:spPr>
      </p:pic>
      <p:sp>
        <p:nvSpPr>
          <p:cNvPr id="184" name="Text 20"/>
          <p:cNvSpPr txBox="1"/>
          <p:nvPr/>
        </p:nvSpPr>
        <p:spPr>
          <a:xfrm>
            <a:off x="2404872" y="4915706"/>
            <a:ext cx="237744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DACCE0"/>
                </a:solidFill>
              </a:defRPr>
            </a:lvl1pPr>
          </a:lstStyle>
          <a:p>
            <a:pPr/>
            <a:r>
              <a:t>hued.me — partner medialny</a:t>
            </a:r>
          </a:p>
        </p:txBody>
      </p:sp>
      <p:sp>
        <p:nvSpPr>
          <p:cNvPr id="185" name="Text 13"/>
          <p:cNvSpPr txBox="1"/>
          <p:nvPr/>
        </p:nvSpPr>
        <p:spPr>
          <a:xfrm>
            <a:off x="713231" y="5357135"/>
            <a:ext cx="5120642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E9A4F4"/>
                </a:solidFill>
              </a:defRPr>
            </a:lvl1pPr>
          </a:lstStyle>
          <a:p>
            <a:pPr/>
            <a:r>
              <a:t>https://devstyle.pl/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NASZE MIEJSCE</a:t>
            </a:r>
          </a:p>
        </p:txBody>
      </p:sp>
      <p:sp>
        <p:nvSpPr>
          <p:cNvPr id="19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Pub Wędrówki</a:t>
            </a:r>
          </a:p>
        </p:txBody>
      </p:sp>
      <p:sp>
        <p:nvSpPr>
          <p:cNvPr id="19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9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94" name="Text 11"/>
          <p:cNvSpPr txBox="1"/>
          <p:nvPr/>
        </p:nvSpPr>
        <p:spPr>
          <a:xfrm>
            <a:off x="713231" y="2493330"/>
            <a:ext cx="7498082" cy="664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700">
                <a:solidFill>
                  <a:srgbClr val="FFFFFF"/>
                </a:solidFill>
              </a:defRPr>
            </a:lvl1pPr>
          </a:lstStyle>
          <a:p>
            <a:pPr/>
            <a:r>
              <a:t>Nie ma pizzy.</a:t>
            </a:r>
          </a:p>
        </p:txBody>
      </p:sp>
      <p:sp>
        <p:nvSpPr>
          <p:cNvPr id="195" name="Text 12"/>
          <p:cNvSpPr txBox="1"/>
          <p:nvPr/>
        </p:nvSpPr>
        <p:spPr>
          <a:xfrm>
            <a:off x="713231" y="3261426"/>
            <a:ext cx="7498082" cy="664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700">
                <a:solidFill>
                  <a:srgbClr val="E9A4F4"/>
                </a:solidFill>
              </a:defRPr>
            </a:lvl1pPr>
          </a:lstStyle>
          <a:p>
            <a:pPr/>
            <a:r>
              <a:t>Bar działa.</a:t>
            </a:r>
          </a:p>
        </p:txBody>
      </p:sp>
      <p:sp>
        <p:nvSpPr>
          <p:cNvPr id="196" name="Shape 13"/>
          <p:cNvSpPr/>
          <p:nvPr/>
        </p:nvSpPr>
        <p:spPr>
          <a:xfrm>
            <a:off x="8723376" y="2432304"/>
            <a:ext cx="2404873" cy="1956817"/>
          </a:xfrm>
          <a:prstGeom prst="rect">
            <a:avLst/>
          </a:prstGeom>
          <a:solidFill>
            <a:srgbClr val="4A1B5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7" name="Text 14"/>
          <p:cNvSpPr txBox="1"/>
          <p:nvPr/>
        </p:nvSpPr>
        <p:spPr>
          <a:xfrm>
            <a:off x="8979407" y="2991402"/>
            <a:ext cx="1892808" cy="7471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100">
                <a:solidFill>
                  <a:srgbClr val="FFFFFF"/>
                </a:solidFill>
              </a:defRPr>
            </a:pPr>
            <a:r>
              <a:t>PIWO</a:t>
            </a:r>
            <a:endParaRPr>
              <a:solidFill>
                <a:srgbClr val="000000"/>
              </a:solidFill>
            </a:endParaRPr>
          </a:p>
          <a:p>
            <a:pPr>
              <a:defRPr b="1" sz="2100">
                <a:solidFill>
                  <a:srgbClr val="FFFFFF"/>
                </a:solidFill>
              </a:defRPr>
            </a:pPr>
            <a:r>
              <a:t>I NAPOJE</a:t>
            </a:r>
          </a:p>
        </p:txBody>
      </p:sp>
      <p:sp>
        <p:nvSpPr>
          <p:cNvPr id="198" name="Text 16"/>
          <p:cNvSpPr txBox="1"/>
          <p:nvPr/>
        </p:nvSpPr>
        <p:spPr>
          <a:xfrm>
            <a:off x="713232" y="4675907"/>
            <a:ext cx="97383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600">
                <a:solidFill>
                  <a:srgbClr val="DACCE0"/>
                </a:solidFill>
              </a:defRPr>
            </a:lvl1pPr>
          </a:lstStyle>
          <a:p>
            <a:pPr/>
            <a:r>
              <a:t>Na miejscu nie zamówimy jedzenia.</a:t>
            </a:r>
          </a:p>
        </p:txBody>
      </p:sp>
      <p:sp>
        <p:nvSpPr>
          <p:cNvPr id="199" name="Text 17"/>
          <p:cNvSpPr txBox="1"/>
          <p:nvPr/>
        </p:nvSpPr>
        <p:spPr>
          <a:xfrm>
            <a:off x="713231" y="5176910"/>
            <a:ext cx="10515601" cy="417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900">
                <a:solidFill>
                  <a:srgbClr val="E9A4F4"/>
                </a:solidFill>
              </a:defRPr>
            </a:lvl1pPr>
          </a:lstStyle>
          <a:p>
            <a:pPr/>
            <a:r>
              <a:t>Pierwsze 80 napojów na koszt sponsora. Kto pierwszy, ten lepszy!</a:t>
            </a:r>
          </a:p>
        </p:txBody>
      </p:sp>
      <p:sp>
        <p:nvSpPr>
          <p:cNvPr id="200" name="Text 18"/>
          <p:cNvSpPr txBox="1"/>
          <p:nvPr/>
        </p:nvSpPr>
        <p:spPr>
          <a:xfrm>
            <a:off x="713232" y="5663459"/>
            <a:ext cx="97383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Po części oficjalnej zostajemy na rozmowy.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3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4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NOWOŚĆ</a:t>
            </a:r>
          </a:p>
        </p:txBody>
      </p:sp>
      <p:sp>
        <p:nvSpPr>
          <p:cNvPr id="205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Nowe wrocnet.org</a:t>
            </a:r>
          </a:p>
        </p:txBody>
      </p:sp>
      <p:sp>
        <p:nvSpPr>
          <p:cNvPr id="206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207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8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09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291A35"/>
          </a:solidFill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10" name="Strona główna wrocnet.org" descr="Strona główna wrocnet.or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sp>
        <p:nvSpPr>
          <p:cNvPr id="211" name="Shape 12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rgbClr val="291A35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2" name="Text 13"/>
          <p:cNvSpPr txBox="1"/>
          <p:nvPr/>
        </p:nvSpPr>
        <p:spPr>
          <a:xfrm>
            <a:off x="8613647" y="2189824"/>
            <a:ext cx="2304289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2"/>
                </a:solidFill>
              </a:defRPr>
            </a:lvl1pPr>
          </a:lstStyle>
          <a:p>
            <a:pPr/>
            <a:r>
              <a:t>PROŚCIEJ</a:t>
            </a:r>
          </a:p>
        </p:txBody>
      </p:sp>
      <p:sp>
        <p:nvSpPr>
          <p:cNvPr id="213" name="Text 14"/>
          <p:cNvSpPr txBox="1"/>
          <p:nvPr/>
        </p:nvSpPr>
        <p:spPr>
          <a:xfrm>
            <a:off x="8613647" y="2834639"/>
            <a:ext cx="2267713" cy="1256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1900">
                <a:solidFill>
                  <a:srgbClr val="FFFFFF"/>
                </a:solidFill>
              </a:defRPr>
            </a:pPr>
            <a:r>
              <a:t>Spotkania, ludzie</a:t>
            </a:r>
            <a:endParaRPr>
              <a:solidFill>
                <a:srgbClr val="000000"/>
              </a:solidFill>
            </a:endParaRPr>
          </a:p>
          <a:p>
            <a:pPr>
              <a:defRPr b="1" sz="1900">
                <a:solidFill>
                  <a:srgbClr val="FFFFFF"/>
                </a:solidFill>
              </a:defRPr>
            </a:pPr>
            <a:r>
              <a:t>i historia grupy</a:t>
            </a:r>
            <a:endParaRPr>
              <a:solidFill>
                <a:srgbClr val="000000"/>
              </a:solidFill>
            </a:endParaRPr>
          </a:p>
          <a:p>
            <a:pPr>
              <a:defRPr b="1" sz="1900">
                <a:solidFill>
                  <a:srgbClr val="FFFFFF"/>
                </a:solidFill>
              </a:defRPr>
            </a:pPr>
            <a:r>
              <a:t>w jednym miejscu.</a:t>
            </a:r>
          </a:p>
        </p:txBody>
      </p:sp>
      <p:sp>
        <p:nvSpPr>
          <p:cNvPr id="214" name="Text 16"/>
          <p:cNvSpPr txBox="1"/>
          <p:nvPr/>
        </p:nvSpPr>
        <p:spPr>
          <a:xfrm>
            <a:off x="8613647" y="4991375"/>
            <a:ext cx="2267713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E9A4F4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215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DACCE0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22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Masz temat? Zostań prelegentem</a:t>
            </a:r>
          </a:p>
        </p:txBody>
      </p:sp>
      <p:sp>
        <p:nvSpPr>
          <p:cNvPr id="22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22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24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291A35"/>
          </a:solidFill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25" name="Strona Zostań prelegentem" descr="Strona Zostań prelegentem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" name="Grafika mikrofonu" descr="Grafika mikrofonu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321040" y="1847088"/>
            <a:ext cx="2871217" cy="3877057"/>
          </a:xfrm>
          <a:prstGeom prst="rect">
            <a:avLst/>
          </a:prstGeom>
          <a:ln w="12700">
            <a:miter lim="400000"/>
          </a:ln>
        </p:spPr>
      </p:pic>
      <p:sp>
        <p:nvSpPr>
          <p:cNvPr id="227" name="Shape 16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rgbClr val="160E22">
              <a:alpha val="80000"/>
            </a:srgbClr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8" name="Text 13"/>
          <p:cNvSpPr txBox="1"/>
          <p:nvPr/>
        </p:nvSpPr>
        <p:spPr>
          <a:xfrm>
            <a:off x="8613647" y="2220397"/>
            <a:ext cx="2304289" cy="405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>
                <a:solidFill>
                  <a:schemeClr val="accent2"/>
                </a:solidFill>
              </a:defRPr>
            </a:lvl1pPr>
          </a:lstStyle>
          <a:p>
            <a:pPr/>
            <a:r>
              <a:t>MASZ POMYSŁ?</a:t>
            </a:r>
          </a:p>
        </p:txBody>
      </p:sp>
      <p:sp>
        <p:nvSpPr>
          <p:cNvPr id="229" name="Text 14"/>
          <p:cNvSpPr txBox="1"/>
          <p:nvPr/>
        </p:nvSpPr>
        <p:spPr>
          <a:xfrm>
            <a:off x="8613647" y="2834639"/>
            <a:ext cx="2286001" cy="10142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000">
                <a:solidFill>
                  <a:srgbClr val="FFFFFF"/>
                </a:solidFill>
              </a:defRPr>
            </a:pPr>
            <a:r>
              <a:t>Nie musisz mieć</a:t>
            </a:r>
            <a:endParaRPr>
              <a:solidFill>
                <a:srgbClr val="000000"/>
              </a:solidFill>
            </a:endParaRPr>
          </a:p>
          <a:p>
            <a:pPr>
              <a:defRPr b="1" sz="2000">
                <a:solidFill>
                  <a:srgbClr val="FFFFFF"/>
                </a:solidFill>
              </a:defRPr>
            </a:pPr>
            <a:r>
              <a:t>gotowej prezentacji.</a:t>
            </a:r>
          </a:p>
        </p:txBody>
      </p:sp>
      <p:sp>
        <p:nvSpPr>
          <p:cNvPr id="230" name="Text 15"/>
          <p:cNvSpPr txBox="1"/>
          <p:nvPr/>
        </p:nvSpPr>
        <p:spPr>
          <a:xfrm>
            <a:off x="8613647" y="4142232"/>
            <a:ext cx="2267713" cy="59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Zgłoś temat.</a:t>
            </a:r>
            <a:endParaRPr>
              <a:solidFill>
                <a:srgbClr val="000000"/>
              </a:solidFill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Pomożemy dalej.</a:t>
            </a:r>
          </a:p>
        </p:txBody>
      </p:sp>
      <p:sp>
        <p:nvSpPr>
          <p:cNvPr id="231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DACCE0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34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35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PO CZĘŚCI OFICJALNEJ</a:t>
            </a:r>
          </a:p>
        </p:txBody>
      </p:sp>
      <p:sp>
        <p:nvSpPr>
          <p:cNvPr id="236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Zostajemy. Bo tak trzeba.</a:t>
            </a:r>
          </a:p>
        </p:txBody>
      </p:sp>
      <p:sp>
        <p:nvSpPr>
          <p:cNvPr id="237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13</a:t>
            </a:r>
          </a:p>
        </p:txBody>
      </p:sp>
      <p:sp>
        <p:nvSpPr>
          <p:cNvPr id="238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9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40" name="Text 10"/>
          <p:cNvSpPr txBox="1"/>
          <p:nvPr/>
        </p:nvSpPr>
        <p:spPr>
          <a:xfrm>
            <a:off x="713232" y="1814068"/>
            <a:ext cx="9966960" cy="5781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600">
                <a:solidFill>
                  <a:srgbClr val="FFFFFF"/>
                </a:solidFill>
              </a:defRPr>
            </a:lvl1pPr>
          </a:lstStyle>
          <a:p>
            <a:pPr/>
            <a:r>
              <a:t>🍺 Piwo. 💬 Rozmowy. 🤝 Networking.</a:t>
            </a:r>
          </a:p>
        </p:txBody>
      </p:sp>
      <p:sp>
        <p:nvSpPr>
          <p:cNvPr id="241" name="Text 11"/>
          <p:cNvSpPr txBox="1"/>
          <p:nvPr/>
        </p:nvSpPr>
        <p:spPr>
          <a:xfrm>
            <a:off x="713232" y="2480862"/>
            <a:ext cx="9966960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rgbClr val="E9A4F4"/>
                </a:solidFill>
              </a:defRPr>
            </a:lvl1pPr>
          </a:lstStyle>
          <a:p>
            <a:pPr/>
            <a:r>
              <a:t>A czasem — całkiem serio — nowa praca.</a:t>
            </a:r>
          </a:p>
        </p:txBody>
      </p:sp>
      <p:sp>
        <p:nvSpPr>
          <p:cNvPr id="242" name="Shape 12"/>
          <p:cNvSpPr/>
          <p:nvPr/>
        </p:nvSpPr>
        <p:spPr>
          <a:xfrm>
            <a:off x="713232" y="3364991"/>
            <a:ext cx="9966960" cy="1691641"/>
          </a:xfrm>
          <a:prstGeom prst="rect">
            <a:avLst/>
          </a:prstGeom>
          <a:solidFill>
            <a:srgbClr val="4A1B5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43" name="Text 13"/>
          <p:cNvSpPr txBox="1"/>
          <p:nvPr/>
        </p:nvSpPr>
        <p:spPr>
          <a:xfrm>
            <a:off x="1005840" y="3611879"/>
            <a:ext cx="9418320" cy="847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400">
                <a:solidFill>
                  <a:srgbClr val="FFFFFF"/>
                </a:solidFill>
              </a:defRPr>
            </a:pPr>
            <a:r>
              <a:t>PONOĆ NAJWIĘKSZE KARIERY ZACZYNAJĄ SIĘ</a:t>
            </a:r>
            <a:endParaRPr>
              <a:solidFill>
                <a:srgbClr val="000000"/>
              </a:solidFill>
            </a:endParaRP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PRZY BARZE, NIE NA LINKEDIN</a:t>
            </a:r>
          </a:p>
        </p:txBody>
      </p:sp>
      <p:sp>
        <p:nvSpPr>
          <p:cNvPr id="244" name="Text 14"/>
          <p:cNvSpPr txBox="1"/>
          <p:nvPr/>
        </p:nvSpPr>
        <p:spPr>
          <a:xfrm>
            <a:off x="1005840" y="4526279"/>
            <a:ext cx="9418320" cy="3436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b="1" sz="1400">
                <a:solidFill>
                  <a:schemeClr val="accent2"/>
                </a:solidFill>
              </a:defRPr>
            </a:lvl1pPr>
          </a:lstStyle>
          <a:p>
            <a:pPr/>
            <a:r>
              <a:t>(przynajmniej tak mówią ci, którzy zostali dłużej)</a:t>
            </a:r>
          </a:p>
        </p:txBody>
      </p:sp>
      <p:sp>
        <p:nvSpPr>
          <p:cNvPr id="245" name="Text 15"/>
          <p:cNvSpPr txBox="1"/>
          <p:nvPr/>
        </p:nvSpPr>
        <p:spPr>
          <a:xfrm>
            <a:off x="713232" y="5370851"/>
            <a:ext cx="99669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600">
                <a:solidFill>
                  <a:srgbClr val="DACCE0"/>
                </a:solidFill>
              </a:defRPr>
            </a:lvl1pPr>
          </a:lstStyle>
          <a:p>
            <a:pPr/>
            <a:r>
              <a:t>Zostań chwilę dłużej — może właśnie tu jest Twoja następna okazja.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4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4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172. SPOTKANIE · 17 LISTOPADA 2026 · 18:30</a:t>
            </a:r>
          </a:p>
        </p:txBody>
      </p:sp>
      <p:sp>
        <p:nvSpPr>
          <p:cNvPr id="25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Następne spotkanie Wroc.NET</a:t>
            </a:r>
          </a:p>
        </p:txBody>
      </p:sp>
      <p:sp>
        <p:nvSpPr>
          <p:cNvPr id="25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25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pic>
        <p:nvPicPr>
          <p:cNvPr id="254" name="Piotr Gankiewicz" descr="Piotr Gankiewicz"/>
          <p:cNvPicPr>
            <a:picLocks noChangeAspect="1"/>
          </p:cNvPicPr>
          <p:nvPr/>
        </p:nvPicPr>
        <p:blipFill>
          <a:blip r:embed="rId2">
            <a:extLst/>
          </a:blip>
          <a:srcRect l="0" t="0" r="10" b="10"/>
          <a:stretch>
            <a:fillRect/>
          </a:stretch>
        </p:blipFill>
        <p:spPr>
          <a:xfrm>
            <a:off x="9189719" y="1600199"/>
            <a:ext cx="1462882" cy="14628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55" name="Piotr Gankiewicz - panel" descr="Piotr Gankiewicz - panel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12480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56" name="Łukasz Olbromski - panel" descr="Łukasz Olbromski - panel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418319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57" name="Łukasz Pyrzyk - panel" descr="Łukasz Pyrzyk - panel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424159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58" name="Text 10"/>
          <p:cNvSpPr txBox="1"/>
          <p:nvPr/>
        </p:nvSpPr>
        <p:spPr>
          <a:xfrm>
            <a:off x="713231" y="1735002"/>
            <a:ext cx="749808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rgbClr val="E9A4F4"/>
                </a:solidFill>
              </a:defRPr>
            </a:lvl1pPr>
          </a:lstStyle>
          <a:p>
            <a:pPr/>
            <a:r>
              <a:t>Piotr Gankiewicz</a:t>
            </a:r>
          </a:p>
        </p:txBody>
      </p:sp>
      <p:sp>
        <p:nvSpPr>
          <p:cNvPr id="259" name="Text 11"/>
          <p:cNvSpPr txBox="1"/>
          <p:nvPr/>
        </p:nvSpPr>
        <p:spPr>
          <a:xfrm>
            <a:off x="713231" y="2275838"/>
            <a:ext cx="7498082" cy="7975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sz="2200">
                <a:solidFill>
                  <a:srgbClr val="DACCE0"/>
                </a:solidFill>
              </a:defRPr>
            </a:pPr>
            <a:r>
              <a:t>Ultra-wydajność -</a:t>
            </a:r>
            <a:endParaRPr>
              <a:solidFill>
                <a:srgbClr val="000000"/>
              </a:solidFill>
            </a:endParaRPr>
          </a:p>
          <a:p>
            <a:pPr>
              <a:defRPr sz="2200">
                <a:solidFill>
                  <a:srgbClr val="DACCE0"/>
                </a:solidFill>
              </a:defRPr>
            </a:pPr>
            <a:r>
              <a:t>gdy liczy się każda mikrosekunda</a:t>
            </a:r>
          </a:p>
        </p:txBody>
      </p:sp>
      <p:sp>
        <p:nvSpPr>
          <p:cNvPr id="260" name="Line 12"/>
          <p:cNvSpPr/>
          <p:nvPr/>
        </p:nvSpPr>
        <p:spPr>
          <a:xfrm>
            <a:off x="713232" y="3136392"/>
            <a:ext cx="10479025" cy="1"/>
          </a:xfrm>
          <a:prstGeom prst="line">
            <a:avLst/>
          </a:prstGeom>
          <a:ln w="1905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1" name="Text 13"/>
          <p:cNvSpPr txBox="1"/>
          <p:nvPr/>
        </p:nvSpPr>
        <p:spPr>
          <a:xfrm>
            <a:off x="713231" y="3423318"/>
            <a:ext cx="10515601" cy="33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300">
                <a:solidFill>
                  <a:schemeClr val="accent2"/>
                </a:solidFill>
              </a:defRPr>
            </a:lvl1pPr>
          </a:lstStyle>
          <a:p>
            <a:pPr/>
            <a:r>
              <a:t>PANEL DYSKUSYJNY</a:t>
            </a:r>
          </a:p>
        </p:txBody>
      </p:sp>
      <p:sp>
        <p:nvSpPr>
          <p:cNvPr id="262" name="Text 14"/>
          <p:cNvSpPr txBox="1"/>
          <p:nvPr/>
        </p:nvSpPr>
        <p:spPr>
          <a:xfrm>
            <a:off x="713231" y="3732181"/>
            <a:ext cx="7498082" cy="847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400">
                <a:solidFill>
                  <a:srgbClr val="FFFFFF"/>
                </a:solidFill>
              </a:defRPr>
            </a:pPr>
            <a:r>
              <a:t>Kiedy .NET wystarcza,</a:t>
            </a:r>
            <a:endParaRPr>
              <a:solidFill>
                <a:srgbClr val="000000"/>
              </a:solidFill>
            </a:endParaRP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a kiedy warto wyjść poza niego?</a:t>
            </a:r>
          </a:p>
        </p:txBody>
      </p:sp>
      <p:sp>
        <p:nvSpPr>
          <p:cNvPr id="263" name="Text 15"/>
          <p:cNvSpPr txBox="1"/>
          <p:nvPr/>
        </p:nvSpPr>
        <p:spPr>
          <a:xfrm>
            <a:off x="713231" y="4622382"/>
            <a:ext cx="7498082" cy="722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000">
                <a:solidFill>
                  <a:srgbClr val="E9A4F4"/>
                </a:solidFill>
              </a:defRPr>
            </a:pPr>
            <a:r>
              <a:t>Piotr Gankiewicz · Łukasz Olbromski</a:t>
            </a:r>
            <a:endParaRPr>
              <a:solidFill>
                <a:srgbClr val="000000"/>
              </a:solidFill>
            </a:endParaRPr>
          </a:p>
          <a:p>
            <a:pPr>
              <a:defRPr b="1" sz="2000">
                <a:solidFill>
                  <a:srgbClr val="E9A4F4"/>
                </a:solidFill>
              </a:defRPr>
            </a:pPr>
            <a:r>
              <a:t>Łukasz Pyrzyk</a:t>
            </a:r>
          </a:p>
        </p:txBody>
      </p:sp>
      <p:sp>
        <p:nvSpPr>
          <p:cNvPr id="264" name="Text 16"/>
          <p:cNvSpPr txBox="1"/>
          <p:nvPr/>
        </p:nvSpPr>
        <p:spPr>
          <a:xfrm>
            <a:off x="713231" y="5297214"/>
            <a:ext cx="10515601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2100">
                <a:solidFill>
                  <a:srgbClr val="DACCE0"/>
                </a:solidFill>
              </a:defRPr>
            </a:lvl1pPr>
          </a:lstStyle>
          <a:p>
            <a:pPr/>
            <a:r>
              <a:t>+ uczestnicy spotkania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67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68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171. SPOTKANIE · DZISIEJSZY PROGRAM · GODZINY ORIENTACYJNE</a:t>
            </a:r>
          </a:p>
        </p:txBody>
      </p:sp>
      <p:sp>
        <p:nvSpPr>
          <p:cNvPr id="269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Plan dzisiejszego spotkania</a:t>
            </a:r>
          </a:p>
        </p:txBody>
      </p:sp>
      <p:sp>
        <p:nvSpPr>
          <p:cNvPr id="270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15</a:t>
            </a:r>
          </a:p>
        </p:txBody>
      </p:sp>
      <p:sp>
        <p:nvSpPr>
          <p:cNvPr id="271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2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pic>
        <p:nvPicPr>
          <p:cNvPr id="273" name="Jakub Kubryński" descr="Jakub Kubryński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646919" y="1691639"/>
            <a:ext cx="1051561" cy="1051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4"/>
                  <a:pt x="4836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74" name="Maciej Aniserowicz" descr="Maciej Aniserowicz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646919" y="2834639"/>
            <a:ext cx="1051561" cy="1051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4"/>
                  <a:pt x="4836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75" name="Text 21"/>
          <p:cNvSpPr txBox="1"/>
          <p:nvPr/>
        </p:nvSpPr>
        <p:spPr>
          <a:xfrm>
            <a:off x="713231" y="168233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E9A4F4"/>
                </a:solidFill>
              </a:defRPr>
            </a:lvl1pPr>
          </a:lstStyle>
          <a:p>
            <a:pPr/>
            <a:r>
              <a:t>18:15</a:t>
            </a:r>
          </a:p>
        </p:txBody>
      </p:sp>
      <p:sp>
        <p:nvSpPr>
          <p:cNvPr id="276" name="Text 10"/>
          <p:cNvSpPr txBox="1"/>
          <p:nvPr/>
        </p:nvSpPr>
        <p:spPr>
          <a:xfrm>
            <a:off x="1920240" y="1657555"/>
            <a:ext cx="7223760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rgbClr val="E9A4F4"/>
                </a:solidFill>
              </a:defRPr>
            </a:lvl1pPr>
          </a:lstStyle>
          <a:p>
            <a:pPr/>
            <a:r>
              <a:t>Jakub Kubryński</a:t>
            </a:r>
          </a:p>
        </p:txBody>
      </p:sp>
      <p:sp>
        <p:nvSpPr>
          <p:cNvPr id="277" name="Text 11"/>
          <p:cNvSpPr txBox="1"/>
          <p:nvPr/>
        </p:nvSpPr>
        <p:spPr>
          <a:xfrm>
            <a:off x="1920240" y="2180680"/>
            <a:ext cx="7223760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AI Retrofit: nowe możliwości, 14 lat bagażu</a:t>
            </a:r>
          </a:p>
        </p:txBody>
      </p:sp>
      <p:sp>
        <p:nvSpPr>
          <p:cNvPr id="278" name="Line 12"/>
          <p:cNvSpPr/>
          <p:nvPr/>
        </p:nvSpPr>
        <p:spPr>
          <a:xfrm>
            <a:off x="713232" y="2743200"/>
            <a:ext cx="10479025" cy="0"/>
          </a:xfrm>
          <a:prstGeom prst="line">
            <a:avLst/>
          </a:prstGeom>
          <a:ln w="1905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9" name="Text 22"/>
          <p:cNvSpPr txBox="1"/>
          <p:nvPr/>
        </p:nvSpPr>
        <p:spPr>
          <a:xfrm>
            <a:off x="713231" y="2843620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E9A4F4"/>
                </a:solidFill>
              </a:defRPr>
            </a:lvl1pPr>
          </a:lstStyle>
          <a:p>
            <a:pPr/>
            <a:r>
              <a:t>19:15</a:t>
            </a:r>
          </a:p>
        </p:txBody>
      </p:sp>
      <p:sp>
        <p:nvSpPr>
          <p:cNvPr id="280" name="Text 13"/>
          <p:cNvSpPr txBox="1"/>
          <p:nvPr/>
        </p:nvSpPr>
        <p:spPr>
          <a:xfrm>
            <a:off x="1920240" y="2818843"/>
            <a:ext cx="7223760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rgbClr val="E9A4F4"/>
                </a:solidFill>
              </a:defRPr>
            </a:lvl1pPr>
          </a:lstStyle>
          <a:p>
            <a:pPr/>
            <a:r>
              <a:t>Maciej Aniserowicz</a:t>
            </a:r>
          </a:p>
        </p:txBody>
      </p:sp>
      <p:sp>
        <p:nvSpPr>
          <p:cNvPr id="281" name="Text 14"/>
          <p:cNvSpPr txBox="1"/>
          <p:nvPr/>
        </p:nvSpPr>
        <p:spPr>
          <a:xfrm>
            <a:off x="1920240" y="3323334"/>
            <a:ext cx="72237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rgbClr val="FFFFFF"/>
                </a:solidFill>
              </a:defRPr>
            </a:lvl1pPr>
          </a:lstStyle>
          <a:p>
            <a:pPr/>
            <a:r>
              <a:t>Tańczący z Agentami</a:t>
            </a:r>
          </a:p>
        </p:txBody>
      </p:sp>
      <p:sp>
        <p:nvSpPr>
          <p:cNvPr id="282" name="Line 17"/>
          <p:cNvSpPr/>
          <p:nvPr/>
        </p:nvSpPr>
        <p:spPr>
          <a:xfrm>
            <a:off x="713232" y="3977640"/>
            <a:ext cx="10479025" cy="1"/>
          </a:xfrm>
          <a:prstGeom prst="line">
            <a:avLst/>
          </a:prstGeom>
          <a:ln w="1905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3" name="Text 23"/>
          <p:cNvSpPr txBox="1"/>
          <p:nvPr/>
        </p:nvSpPr>
        <p:spPr>
          <a:xfrm>
            <a:off x="713231" y="415121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E9A4F4"/>
                </a:solidFill>
              </a:defRPr>
            </a:lvl1pPr>
          </a:lstStyle>
          <a:p>
            <a:pPr/>
            <a:r>
              <a:t>20:15</a:t>
            </a:r>
          </a:p>
        </p:txBody>
      </p:sp>
      <p:sp>
        <p:nvSpPr>
          <p:cNvPr id="284" name="Text 18"/>
          <p:cNvSpPr txBox="1"/>
          <p:nvPr/>
        </p:nvSpPr>
        <p:spPr>
          <a:xfrm>
            <a:off x="1920240" y="4132578"/>
            <a:ext cx="72237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rgbClr val="E9A4F4"/>
                </a:solidFill>
              </a:defRPr>
            </a:lvl1pPr>
          </a:lstStyle>
          <a:p>
            <a:pPr/>
            <a:r>
              <a:t>Panel dyskusyjny</a:t>
            </a:r>
          </a:p>
        </p:txBody>
      </p:sp>
      <p:sp>
        <p:nvSpPr>
          <p:cNvPr id="285" name="Text 24"/>
          <p:cNvSpPr txBox="1"/>
          <p:nvPr/>
        </p:nvSpPr>
        <p:spPr>
          <a:xfrm>
            <a:off x="1920240" y="4553687"/>
            <a:ext cx="7223760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FFFFFF"/>
                </a:solidFill>
              </a:defRPr>
            </a:lvl1pPr>
          </a:lstStyle>
          <a:p>
            <a:pPr/>
            <a:r>
              <a:t>Aniserowicz x Kubryński</a:t>
            </a:r>
          </a:p>
        </p:txBody>
      </p:sp>
      <p:pic>
        <p:nvPicPr>
          <p:cNvPr id="286" name="Maciej Aniserowicz - panel" descr="Maciej Aniserowicz - panel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235440" y="4160520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87" name="Jakub Kubryński - panel" descr="Jakub Kubryński - panel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286999" y="4160520"/>
            <a:ext cx="868682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88" name="Text 27"/>
          <p:cNvSpPr txBox="1"/>
          <p:nvPr/>
        </p:nvSpPr>
        <p:spPr>
          <a:xfrm>
            <a:off x="713231" y="515705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E9A4F4"/>
                </a:solidFill>
              </a:defRPr>
            </a:lvl1pPr>
          </a:lstStyle>
          <a:p>
            <a:pPr/>
            <a:r>
              <a:t>21:00</a:t>
            </a:r>
          </a:p>
        </p:txBody>
      </p:sp>
      <p:sp>
        <p:nvSpPr>
          <p:cNvPr id="289" name="Text 19"/>
          <p:cNvSpPr txBox="1"/>
          <p:nvPr/>
        </p:nvSpPr>
        <p:spPr>
          <a:xfrm>
            <a:off x="1920240" y="5138418"/>
            <a:ext cx="90525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rgbClr val="E9A4F4"/>
                </a:solidFill>
              </a:defRPr>
            </a:lvl1pPr>
          </a:lstStyle>
          <a:p>
            <a:pPr/>
            <a:r>
              <a:t>After party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" name="Wrocław i społeczność Wroc.NET" descr="Wrocław i społeczność Wroc.NET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92" name="Shape 3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>
              <a:alpha val="75000"/>
            </a:srgbClr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93" name="Text 5"/>
          <p:cNvSpPr txBox="1"/>
          <p:nvPr/>
        </p:nvSpPr>
        <p:spPr>
          <a:xfrm>
            <a:off x="713231" y="1780999"/>
            <a:ext cx="10744201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chemeClr val="accent2"/>
                </a:solidFill>
              </a:defRPr>
            </a:lvl1pPr>
          </a:lstStyle>
          <a:p>
            <a:pPr/>
            <a:r>
              <a:t>JAKUB KUBRYŃSKI</a:t>
            </a:r>
          </a:p>
        </p:txBody>
      </p:sp>
      <p:sp>
        <p:nvSpPr>
          <p:cNvPr id="294" name="Text 6"/>
          <p:cNvSpPr txBox="1"/>
          <p:nvPr/>
        </p:nvSpPr>
        <p:spPr>
          <a:xfrm>
            <a:off x="502919" y="2693503"/>
            <a:ext cx="11183113" cy="1059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6400">
                <a:solidFill>
                  <a:srgbClr val="FFFFFF"/>
                </a:solidFill>
              </a:defRPr>
            </a:lvl1pPr>
          </a:lstStyle>
          <a:p>
            <a:pPr/>
            <a:r>
              <a:t>AI RETROFIT</a:t>
            </a:r>
          </a:p>
        </p:txBody>
      </p:sp>
      <p:sp>
        <p:nvSpPr>
          <p:cNvPr id="295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16</a:t>
            </a:r>
          </a:p>
        </p:txBody>
      </p:sp>
      <p:sp>
        <p:nvSpPr>
          <p:cNvPr id="296" name="Text 10"/>
          <p:cNvSpPr txBox="1"/>
          <p:nvPr/>
        </p:nvSpPr>
        <p:spPr>
          <a:xfrm>
            <a:off x="713231" y="4083440"/>
            <a:ext cx="10744201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3000">
                <a:solidFill>
                  <a:srgbClr val="DACCE0"/>
                </a:solidFill>
              </a:defRPr>
            </a:lvl1pPr>
          </a:lstStyle>
          <a:p>
            <a:pPr/>
            <a:r>
              <a:t>Nowe możliwości, 14 lat bagażu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Wroc.NET">
  <a:themeElements>
    <a:clrScheme name="Wroc.NET">
      <a:dk1>
        <a:srgbClr val="160E22"/>
      </a:dk1>
      <a:lt1>
        <a:srgbClr val="1C2214"/>
      </a:lt1>
      <a:dk2>
        <a:srgbClr val="A7A7A7"/>
      </a:dk2>
      <a:lt2>
        <a:srgbClr val="535353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0000FF"/>
      </a:hlink>
      <a:folHlink>
        <a:srgbClr val="FF00FF"/>
      </a:folHlink>
    </a:clrScheme>
    <a:fontScheme name="Wroc.NE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roc.NE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Wroc.NET">
  <a:themeElements>
    <a:clrScheme name="Wroc.NE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0000FF"/>
      </a:hlink>
      <a:folHlink>
        <a:srgbClr val="FF00FF"/>
      </a:folHlink>
    </a:clrScheme>
    <a:fontScheme name="Wroc.NE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roc.NE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