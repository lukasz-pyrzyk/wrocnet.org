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160E22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2CBD5"/>
          </a:solidFill>
        </a:fill>
      </a:tcStyle>
    </a:wholeTbl>
    <a:band2H>
      <a:tcTxStyle b="def" i="def"/>
      <a:tcStyle>
        <a:tcBdr/>
        <a:fill>
          <a:solidFill>
            <a:srgbClr val="EAE7EB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CBE8"/>
          </a:solidFill>
        </a:fill>
      </a:tcStyle>
    </a:wholeTbl>
    <a:band2H>
      <a:tcTxStyle b="def" i="def"/>
      <a:tcStyle>
        <a:tcBdr/>
        <a:fill>
          <a:solidFill>
            <a:srgbClr val="EDE7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CCD7"/>
          </a:solidFill>
        </a:fill>
      </a:tcStyle>
    </a:wholeTbl>
    <a:band2H>
      <a:tcTxStyle b="def" i="def"/>
      <a:tcStyle>
        <a:tcBdr/>
        <a:fill>
          <a:solidFill>
            <a:srgbClr val="EAE7EC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7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60E22"/>
              </a:solidFill>
              <a:prstDash val="solid"/>
              <a:round/>
            </a:ln>
          </a:top>
          <a:bottom>
            <a:ln w="254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60E22"/>
              </a:solidFill>
              <a:prstDash val="solid"/>
              <a:round/>
            </a:ln>
          </a:top>
          <a:bottom>
            <a:ln w="254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B"/>
          </a:solidFill>
        </a:fill>
      </a:tcStyle>
    </a:wholeTbl>
    <a:band2H>
      <a:tcTxStyle b="def" i="def"/>
      <a:tcStyle>
        <a:tcBdr/>
        <a:fill>
          <a:solidFill>
            <a:srgbClr val="E7E6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60E2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60E22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60E22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160E22"/>
              </a:solidFill>
              <a:prstDash val="solid"/>
              <a:round/>
            </a:ln>
          </a:left>
          <a:right>
            <a:ln w="12700" cap="flat">
              <a:solidFill>
                <a:srgbClr val="160E22"/>
              </a:solidFill>
              <a:prstDash val="solid"/>
              <a:round/>
            </a:ln>
          </a:right>
          <a:top>
            <a:ln w="12700" cap="flat">
              <a:solidFill>
                <a:srgbClr val="160E22"/>
              </a:solidFill>
              <a:prstDash val="solid"/>
              <a:round/>
            </a:ln>
          </a:top>
          <a:bottom>
            <a:ln w="127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solidFill>
                <a:srgbClr val="160E22"/>
              </a:solidFill>
              <a:prstDash val="solid"/>
              <a:round/>
            </a:ln>
          </a:insideH>
          <a:insideV>
            <a:ln w="12700" cap="flat">
              <a:solidFill>
                <a:srgbClr val="160E22"/>
              </a:solidFill>
              <a:prstDash val="solid"/>
              <a:round/>
            </a:ln>
          </a:insideV>
        </a:tcBdr>
        <a:fill>
          <a:solidFill>
            <a:srgbClr val="160E22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160E22"/>
              </a:solidFill>
              <a:prstDash val="solid"/>
              <a:round/>
            </a:ln>
          </a:left>
          <a:right>
            <a:ln w="12700" cap="flat">
              <a:solidFill>
                <a:srgbClr val="160E22"/>
              </a:solidFill>
              <a:prstDash val="solid"/>
              <a:round/>
            </a:ln>
          </a:right>
          <a:top>
            <a:ln w="12700" cap="flat">
              <a:solidFill>
                <a:srgbClr val="160E22"/>
              </a:solidFill>
              <a:prstDash val="solid"/>
              <a:round/>
            </a:ln>
          </a:top>
          <a:bottom>
            <a:ln w="127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solidFill>
                <a:srgbClr val="160E22"/>
              </a:solidFill>
              <a:prstDash val="solid"/>
              <a:round/>
            </a:ln>
          </a:insideH>
          <a:insideV>
            <a:ln w="12700" cap="flat">
              <a:solidFill>
                <a:srgbClr val="160E22"/>
              </a:solidFill>
              <a:prstDash val="solid"/>
              <a:round/>
            </a:ln>
          </a:insideV>
        </a:tcBdr>
        <a:fill>
          <a:solidFill>
            <a:srgbClr val="160E22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160E22"/>
              </a:solidFill>
              <a:prstDash val="solid"/>
              <a:round/>
            </a:ln>
          </a:left>
          <a:right>
            <a:ln w="12700" cap="flat">
              <a:solidFill>
                <a:srgbClr val="160E22"/>
              </a:solidFill>
              <a:prstDash val="solid"/>
              <a:round/>
            </a:ln>
          </a:right>
          <a:top>
            <a:ln w="50800" cap="flat">
              <a:solidFill>
                <a:srgbClr val="160E22"/>
              </a:solidFill>
              <a:prstDash val="solid"/>
              <a:round/>
            </a:ln>
          </a:top>
          <a:bottom>
            <a:ln w="127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solidFill>
                <a:srgbClr val="160E22"/>
              </a:solidFill>
              <a:prstDash val="solid"/>
              <a:round/>
            </a:ln>
          </a:insideH>
          <a:insideV>
            <a:ln w="12700" cap="flat">
              <a:solidFill>
                <a:srgbClr val="160E2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160E22"/>
      </a:tcTxStyle>
      <a:tcStyle>
        <a:tcBdr>
          <a:left>
            <a:ln w="12700" cap="flat">
              <a:solidFill>
                <a:srgbClr val="160E22"/>
              </a:solidFill>
              <a:prstDash val="solid"/>
              <a:round/>
            </a:ln>
          </a:left>
          <a:right>
            <a:ln w="12700" cap="flat">
              <a:solidFill>
                <a:srgbClr val="160E22"/>
              </a:solidFill>
              <a:prstDash val="solid"/>
              <a:round/>
            </a:ln>
          </a:right>
          <a:top>
            <a:ln w="12700" cap="flat">
              <a:solidFill>
                <a:srgbClr val="160E22"/>
              </a:solidFill>
              <a:prstDash val="solid"/>
              <a:round/>
            </a:ln>
          </a:top>
          <a:bottom>
            <a:ln w="25400" cap="flat">
              <a:solidFill>
                <a:srgbClr val="160E22"/>
              </a:solidFill>
              <a:prstDash val="solid"/>
              <a:round/>
            </a:ln>
          </a:bottom>
          <a:insideH>
            <a:ln w="12700" cap="flat">
              <a:solidFill>
                <a:srgbClr val="160E22"/>
              </a:solidFill>
              <a:prstDash val="solid"/>
              <a:round/>
            </a:ln>
          </a:insideH>
          <a:insideV>
            <a:ln w="12700" cap="flat">
              <a:solidFill>
                <a:srgbClr val="160E2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5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60E22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1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22" name="Grafika panelu" descr="Grafika panelu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27264" y="118871"/>
            <a:ext cx="4361689" cy="673913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6"/>
          <p:cNvSpPr txBox="1"/>
          <p:nvPr/>
        </p:nvSpPr>
        <p:spPr>
          <a:xfrm>
            <a:off x="749807" y="511301"/>
            <a:ext cx="6217922" cy="29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100">
                <a:solidFill>
                  <a:srgbClr val="D51A96"/>
                </a:solidFill>
              </a:defRPr>
            </a:lvl1pPr>
          </a:lstStyle>
          <a:p>
            <a:pPr/>
            <a:r>
              <a:t>171. SPOTKANIE WROC.NET</a:t>
            </a:r>
          </a:p>
        </p:txBody>
      </p:sp>
      <p:sp>
        <p:nvSpPr>
          <p:cNvPr id="24" name="Text 7"/>
          <p:cNvSpPr txBox="1"/>
          <p:nvPr/>
        </p:nvSpPr>
        <p:spPr>
          <a:xfrm>
            <a:off x="713231" y="1115102"/>
            <a:ext cx="6629401" cy="750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4300">
                <a:solidFill>
                  <a:srgbClr val="FFFFFF"/>
                </a:solidFill>
              </a:defRPr>
            </a:lvl1pPr>
          </a:lstStyle>
          <a:p>
            <a:pPr/>
            <a:r>
              <a:t>AI RETROFIT</a:t>
            </a:r>
          </a:p>
        </p:txBody>
      </p:sp>
      <p:sp>
        <p:nvSpPr>
          <p:cNvPr id="25" name="Text 8"/>
          <p:cNvSpPr txBox="1"/>
          <p:nvPr/>
        </p:nvSpPr>
        <p:spPr>
          <a:xfrm>
            <a:off x="749807" y="2089724"/>
            <a:ext cx="6217922" cy="922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600">
                <a:solidFill>
                  <a:srgbClr val="D51A96"/>
                </a:solidFill>
              </a:defRPr>
            </a:pPr>
            <a:r>
              <a:t>Nowe możliwości,</a:t>
            </a:r>
            <a:endParaRPr>
              <a:solidFill>
                <a:srgbClr val="000000"/>
              </a:solidFill>
            </a:endParaRPr>
          </a:p>
          <a:p>
            <a:pPr>
              <a:defRPr b="1" sz="2600">
                <a:solidFill>
                  <a:srgbClr val="D51A96"/>
                </a:solidFill>
              </a:defRPr>
            </a:pPr>
            <a:r>
              <a:t>14 lat bagażu</a:t>
            </a:r>
          </a:p>
        </p:txBody>
      </p:sp>
      <p:sp>
        <p:nvSpPr>
          <p:cNvPr id="26" name="Text 10"/>
          <p:cNvSpPr txBox="1"/>
          <p:nvPr/>
        </p:nvSpPr>
        <p:spPr>
          <a:xfrm>
            <a:off x="749807" y="3927808"/>
            <a:ext cx="6217922" cy="31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200">
                <a:solidFill>
                  <a:srgbClr val="D51A96"/>
                </a:solidFill>
              </a:defRPr>
            </a:lvl1pPr>
          </a:lstStyle>
          <a:p>
            <a:pPr/>
            <a:r>
              <a:t>DRUGA PRELEKCJA</a:t>
            </a:r>
          </a:p>
        </p:txBody>
      </p:sp>
      <p:sp>
        <p:nvSpPr>
          <p:cNvPr id="27" name="Text 11"/>
          <p:cNvSpPr txBox="1"/>
          <p:nvPr/>
        </p:nvSpPr>
        <p:spPr>
          <a:xfrm>
            <a:off x="749807" y="4304004"/>
            <a:ext cx="6492242" cy="947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Tańczący</a:t>
            </a:r>
            <a:endParaRPr>
              <a:solidFill>
                <a:srgbClr val="000000"/>
              </a:solidFill>
            </a:endParaRPr>
          </a:p>
          <a:p>
            <a:pPr>
              <a:defRPr b="1" sz="2800">
                <a:solidFill>
                  <a:srgbClr val="FFFFFF"/>
                </a:solidFill>
              </a:defRPr>
            </a:pPr>
            <a:r>
              <a:t>z Agentami</a:t>
            </a:r>
          </a:p>
        </p:txBody>
      </p:sp>
      <p:sp>
        <p:nvSpPr>
          <p:cNvPr id="28" name="Text 12"/>
          <p:cNvSpPr txBox="1"/>
          <p:nvPr/>
        </p:nvSpPr>
        <p:spPr>
          <a:xfrm>
            <a:off x="749807" y="6049217"/>
            <a:ext cx="6583682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20 PAŹDZIERNIKA 2026  ·  18:00  ·  PUB WĘDRÓWKI</a:t>
            </a:r>
          </a:p>
        </p:txBody>
      </p:sp>
      <p:sp>
        <p:nvSpPr>
          <p:cNvPr id="29" name="Text 13"/>
          <p:cNvSpPr txBox="1"/>
          <p:nvPr/>
        </p:nvSpPr>
        <p:spPr>
          <a:xfrm>
            <a:off x="749808" y="6448897"/>
            <a:ext cx="2834640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</a:t>
            </a:r>
          </a:p>
        </p:txBody>
      </p:sp>
      <p:pic>
        <p:nvPicPr>
          <p:cNvPr id="30" name="Wroc.NET logo" descr="Wroc.NET logo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00616" y="475487"/>
            <a:ext cx="1005841" cy="10058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Jakub Kubryński" descr="Jakub Kubryński"/>
          <p:cNvPicPr>
            <a:picLocks noChangeAspect="1"/>
          </p:cNvPicPr>
          <p:nvPr/>
        </p:nvPicPr>
        <p:blipFill>
          <a:blip r:embed="rId4">
            <a:extLst/>
          </a:blip>
          <a:srcRect l="0" t="0" r="9" b="9"/>
          <a:stretch>
            <a:fillRect/>
          </a:stretch>
        </p:blipFill>
        <p:spPr>
          <a:xfrm>
            <a:off x="8174735" y="2194560"/>
            <a:ext cx="1691483" cy="1691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32" name="Maciej Aniserowicz" descr="Maciej Aniserowicz"/>
          <p:cNvPicPr>
            <a:picLocks noChangeAspect="1"/>
          </p:cNvPicPr>
          <p:nvPr/>
        </p:nvPicPr>
        <p:blipFill>
          <a:blip r:embed="rId5">
            <a:extLst/>
          </a:blip>
          <a:srcRect l="0" t="0" r="9" b="9"/>
          <a:stretch>
            <a:fillRect/>
          </a:stretch>
        </p:blipFill>
        <p:spPr>
          <a:xfrm>
            <a:off x="10094976" y="2194560"/>
            <a:ext cx="1691482" cy="1691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3" name="Text 19"/>
          <p:cNvSpPr txBox="1"/>
          <p:nvPr/>
        </p:nvSpPr>
        <p:spPr>
          <a:xfrm>
            <a:off x="8083295" y="4138651"/>
            <a:ext cx="1874521" cy="64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1700">
                <a:solidFill>
                  <a:srgbClr val="FFFFFF"/>
                </a:solidFill>
              </a:defRPr>
            </a:pPr>
            <a:r>
              <a:t>Jakub</a:t>
            </a:r>
            <a:endParaRPr>
              <a:solidFill>
                <a:srgbClr val="000000"/>
              </a:solidFill>
            </a:endParaRPr>
          </a:p>
          <a:p>
            <a:pPr>
              <a:defRPr b="1" sz="1700">
                <a:solidFill>
                  <a:srgbClr val="FFFFFF"/>
                </a:solidFill>
              </a:defRPr>
            </a:pPr>
            <a:r>
              <a:t>Kubryński</a:t>
            </a:r>
          </a:p>
        </p:txBody>
      </p:sp>
      <p:sp>
        <p:nvSpPr>
          <p:cNvPr id="34" name="Text 20"/>
          <p:cNvSpPr txBox="1"/>
          <p:nvPr/>
        </p:nvSpPr>
        <p:spPr>
          <a:xfrm>
            <a:off x="10003535" y="4138651"/>
            <a:ext cx="1874521" cy="64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1700">
                <a:solidFill>
                  <a:srgbClr val="FFFFFF"/>
                </a:solidFill>
              </a:defRPr>
            </a:pPr>
            <a:r>
              <a:t>Maciej</a:t>
            </a:r>
            <a:endParaRPr>
              <a:solidFill>
                <a:srgbClr val="000000"/>
              </a:solidFill>
            </a:endParaRPr>
          </a:p>
          <a:p>
            <a:pPr>
              <a:defRPr b="1" sz="1700">
                <a:solidFill>
                  <a:srgbClr val="FFFFFF"/>
                </a:solidFill>
              </a:defRPr>
            </a:pPr>
            <a:r>
              <a:t>Aniserowicz</a:t>
            </a:r>
          </a:p>
        </p:txBody>
      </p:sp>
      <p:sp>
        <p:nvSpPr>
          <p:cNvPr id="35" name="Text 21"/>
          <p:cNvSpPr txBox="1"/>
          <p:nvPr/>
        </p:nvSpPr>
        <p:spPr>
          <a:xfrm>
            <a:off x="8174735" y="5574675"/>
            <a:ext cx="3611881" cy="417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900">
                <a:solidFill>
                  <a:srgbClr val="FFFFFF"/>
                </a:solidFill>
              </a:defRPr>
            </a:lvl1pPr>
          </a:lstStyle>
          <a:p>
            <a:pPr/>
            <a:r>
              <a:t>ZACZYNAMY O 18:00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8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9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OD 2007 ROKU</a:t>
            </a:r>
          </a:p>
        </p:txBody>
      </p:sp>
      <p:sp>
        <p:nvSpPr>
          <p:cNvPr id="40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O grupie · Wroc.NET w liczbach</a:t>
            </a:r>
          </a:p>
        </p:txBody>
      </p:sp>
      <p:sp>
        <p:nvSpPr>
          <p:cNvPr id="41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2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44" name="Text 10"/>
          <p:cNvSpPr txBox="1"/>
          <p:nvPr/>
        </p:nvSpPr>
        <p:spPr>
          <a:xfrm>
            <a:off x="713231" y="1726136"/>
            <a:ext cx="10515601" cy="479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300">
                <a:solidFill>
                  <a:schemeClr val="accent1"/>
                </a:solidFill>
              </a:defRPr>
            </a:lvl1pPr>
          </a:lstStyle>
          <a:p>
            <a:pPr/>
            <a:r>
              <a:t>Wrocławska społeczność programistów .NET</a:t>
            </a:r>
          </a:p>
        </p:txBody>
      </p:sp>
      <p:sp>
        <p:nvSpPr>
          <p:cNvPr id="45" name="Text 20"/>
          <p:cNvSpPr txBox="1"/>
          <p:nvPr/>
        </p:nvSpPr>
        <p:spPr>
          <a:xfrm>
            <a:off x="713231" y="2577657"/>
            <a:ext cx="2468882" cy="82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4800">
                <a:solidFill>
                  <a:schemeClr val="accent1"/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46" name="Text 21"/>
          <p:cNvSpPr txBox="1"/>
          <p:nvPr/>
        </p:nvSpPr>
        <p:spPr>
          <a:xfrm>
            <a:off x="713231" y="3502152"/>
            <a:ext cx="2468882" cy="36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 sz="1600">
                <a:solidFill>
                  <a:srgbClr val="5E5264"/>
                </a:solidFill>
              </a:defRPr>
            </a:lvl1pPr>
          </a:lstStyle>
          <a:p>
            <a:pPr/>
            <a:r>
              <a:t>lat społeczności</a:t>
            </a:r>
          </a:p>
        </p:txBody>
      </p:sp>
      <p:sp>
        <p:nvSpPr>
          <p:cNvPr id="47" name="Text 22"/>
          <p:cNvSpPr txBox="1"/>
          <p:nvPr/>
        </p:nvSpPr>
        <p:spPr>
          <a:xfrm>
            <a:off x="3456431" y="2577657"/>
            <a:ext cx="2468882" cy="82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4800">
                <a:solidFill>
                  <a:schemeClr val="accent1"/>
                </a:solidFill>
              </a:defRPr>
            </a:lvl1pPr>
          </a:lstStyle>
          <a:p>
            <a:pPr/>
            <a:r>
              <a:t>170</a:t>
            </a:r>
          </a:p>
        </p:txBody>
      </p:sp>
      <p:sp>
        <p:nvSpPr>
          <p:cNvPr id="48" name="Text 23"/>
          <p:cNvSpPr txBox="1"/>
          <p:nvPr/>
        </p:nvSpPr>
        <p:spPr>
          <a:xfrm>
            <a:off x="3456431" y="3502152"/>
            <a:ext cx="2468882" cy="36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 sz="1600">
                <a:solidFill>
                  <a:srgbClr val="5E5264"/>
                </a:solidFill>
              </a:defRPr>
            </a:lvl1pPr>
          </a:lstStyle>
          <a:p>
            <a:pPr/>
            <a:r>
              <a:t>spotkań</a:t>
            </a:r>
          </a:p>
        </p:txBody>
      </p:sp>
      <p:sp>
        <p:nvSpPr>
          <p:cNvPr id="49" name="Text 24"/>
          <p:cNvSpPr txBox="1"/>
          <p:nvPr/>
        </p:nvSpPr>
        <p:spPr>
          <a:xfrm>
            <a:off x="6199631" y="2577657"/>
            <a:ext cx="2468882" cy="82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4800">
                <a:solidFill>
                  <a:schemeClr val="accent1"/>
                </a:solidFill>
              </a:defRPr>
            </a:lvl1pPr>
          </a:lstStyle>
          <a:p>
            <a:pPr/>
            <a:r>
              <a:t>185</a:t>
            </a:r>
          </a:p>
        </p:txBody>
      </p:sp>
      <p:sp>
        <p:nvSpPr>
          <p:cNvPr id="50" name="Text 25"/>
          <p:cNvSpPr txBox="1"/>
          <p:nvPr/>
        </p:nvSpPr>
        <p:spPr>
          <a:xfrm>
            <a:off x="6199631" y="3502152"/>
            <a:ext cx="2468882" cy="596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 sz="1600">
                <a:solidFill>
                  <a:srgbClr val="5E5264"/>
                </a:solidFill>
              </a:defRPr>
            </a:lvl1pPr>
          </a:lstStyle>
          <a:p>
            <a:pPr/>
            <a:r>
              <a:t>prelegentów i prelegentek</a:t>
            </a:r>
          </a:p>
        </p:txBody>
      </p:sp>
      <p:sp>
        <p:nvSpPr>
          <p:cNvPr id="51" name="Text 26"/>
          <p:cNvSpPr txBox="1"/>
          <p:nvPr/>
        </p:nvSpPr>
        <p:spPr>
          <a:xfrm>
            <a:off x="8942831" y="2577657"/>
            <a:ext cx="2468881" cy="824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4800">
                <a:solidFill>
                  <a:schemeClr val="accent1"/>
                </a:solidFill>
              </a:defRPr>
            </a:lvl1pPr>
          </a:lstStyle>
          <a:p>
            <a:pPr/>
            <a:r>
              <a:t>300</a:t>
            </a:r>
          </a:p>
        </p:txBody>
      </p:sp>
      <p:sp>
        <p:nvSpPr>
          <p:cNvPr id="52" name="Text 27"/>
          <p:cNvSpPr txBox="1"/>
          <p:nvPr/>
        </p:nvSpPr>
        <p:spPr>
          <a:xfrm>
            <a:off x="8942831" y="3502152"/>
            <a:ext cx="2468881" cy="36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 sz="1600">
                <a:solidFill>
                  <a:srgbClr val="5E5264"/>
                </a:solidFill>
              </a:defRPr>
            </a:lvl1pPr>
          </a:lstStyle>
          <a:p>
            <a:pPr/>
            <a:r>
              <a:t>prezentacji</a:t>
            </a:r>
          </a:p>
        </p:txBody>
      </p:sp>
      <p:sp>
        <p:nvSpPr>
          <p:cNvPr id="53" name="Line 30"/>
          <p:cNvSpPr/>
          <p:nvPr/>
        </p:nvSpPr>
        <p:spPr>
          <a:xfrm>
            <a:off x="713232" y="4315967"/>
            <a:ext cx="10479025" cy="1"/>
          </a:xfrm>
          <a:prstGeom prst="line">
            <a:avLst/>
          </a:prstGeom>
          <a:ln w="1905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" name="Text 31"/>
          <p:cNvSpPr txBox="1"/>
          <p:nvPr/>
        </p:nvSpPr>
        <p:spPr>
          <a:xfrm>
            <a:off x="713231" y="4632887"/>
            <a:ext cx="2743201" cy="701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4000">
                <a:solidFill>
                  <a:srgbClr val="D51A96"/>
                </a:solidFill>
              </a:defRPr>
            </a:lvl1pPr>
          </a:lstStyle>
          <a:p>
            <a:pPr/>
            <a:r>
              <a:t>2400+</a:t>
            </a:r>
          </a:p>
        </p:txBody>
      </p:sp>
      <p:sp>
        <p:nvSpPr>
          <p:cNvPr id="55" name="Text 32"/>
          <p:cNvSpPr txBox="1"/>
          <p:nvPr/>
        </p:nvSpPr>
        <p:spPr>
          <a:xfrm>
            <a:off x="713231" y="5454371"/>
            <a:ext cx="4846322" cy="393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700">
                <a:solidFill>
                  <a:srgbClr val="5E5264"/>
                </a:solidFill>
              </a:defRPr>
            </a:lvl1pPr>
          </a:lstStyle>
          <a:p>
            <a:pPr/>
            <a:r>
              <a:t>członków społeczności</a:t>
            </a:r>
          </a:p>
        </p:txBody>
      </p:sp>
      <p:sp>
        <p:nvSpPr>
          <p:cNvPr id="56" name="Text 33"/>
          <p:cNvSpPr txBox="1"/>
          <p:nvPr/>
        </p:nvSpPr>
        <p:spPr>
          <a:xfrm>
            <a:off x="6400800" y="4632887"/>
            <a:ext cx="2743200" cy="701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4000">
                <a:solidFill>
                  <a:srgbClr val="D51A96"/>
                </a:solidFill>
              </a:defRPr>
            </a:lvl1pPr>
          </a:lstStyle>
          <a:p>
            <a:pPr/>
            <a:r>
              <a:t>+ 32</a:t>
            </a:r>
          </a:p>
        </p:txBody>
      </p:sp>
      <p:sp>
        <p:nvSpPr>
          <p:cNvPr id="57" name="Text 34"/>
          <p:cNvSpPr txBox="1"/>
          <p:nvPr/>
        </p:nvSpPr>
        <p:spPr>
          <a:xfrm>
            <a:off x="6400799" y="5454371"/>
            <a:ext cx="4846322" cy="393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700">
                <a:solidFill>
                  <a:srgbClr val="5E5264"/>
                </a:solidFill>
              </a:defRPr>
            </a:lvl1pPr>
          </a:lstStyle>
          <a:p>
            <a:pPr/>
            <a:r>
              <a:t>dodatkowe wydarzenia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0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1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SEZON 2026/2027</a:t>
            </a:r>
          </a:p>
        </p:txBody>
      </p:sp>
      <p:sp>
        <p:nvSpPr>
          <p:cNvPr id="62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Spotykamy się regularnie</a:t>
            </a:r>
          </a:p>
        </p:txBody>
      </p:sp>
      <p:sp>
        <p:nvSpPr>
          <p:cNvPr id="63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4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5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66" name="Text 10"/>
          <p:cNvSpPr txBox="1"/>
          <p:nvPr/>
        </p:nvSpPr>
        <p:spPr>
          <a:xfrm>
            <a:off x="713231" y="1778483"/>
            <a:ext cx="10515601" cy="393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700">
                <a:solidFill>
                  <a:srgbClr val="5E5264"/>
                </a:solidFill>
              </a:defRPr>
            </a:lvl1pPr>
          </a:lstStyle>
          <a:p>
            <a:pPr/>
            <a:r>
              <a:t>Trzeci wtorek miesiąca. Dzisiaj wyjątkowo zaczynamy o 18:00.</a:t>
            </a:r>
          </a:p>
        </p:txBody>
      </p:sp>
      <p:sp>
        <p:nvSpPr>
          <p:cNvPr id="67" name="Line 11"/>
          <p:cNvSpPr/>
          <p:nvPr/>
        </p:nvSpPr>
        <p:spPr>
          <a:xfrm>
            <a:off x="1243584" y="3081527"/>
            <a:ext cx="9701785" cy="1"/>
          </a:xfrm>
          <a:prstGeom prst="line">
            <a:avLst/>
          </a:prstGeom>
          <a:ln w="254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8" name="Circle 20"/>
          <p:cNvSpPr/>
          <p:nvPr/>
        </p:nvSpPr>
        <p:spPr>
          <a:xfrm>
            <a:off x="2496311" y="2862072"/>
            <a:ext cx="438913" cy="438912"/>
          </a:xfrm>
          <a:prstGeom prst="ellipse">
            <a:avLst/>
          </a:prstGeom>
          <a:solidFill>
            <a:srgbClr val="D51A96"/>
          </a:solidFill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69" name="Text 21"/>
          <p:cNvSpPr txBox="1"/>
          <p:nvPr/>
        </p:nvSpPr>
        <p:spPr>
          <a:xfrm>
            <a:off x="1792223" y="2207627"/>
            <a:ext cx="1847089" cy="50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500">
                <a:solidFill>
                  <a:srgbClr val="D51A96"/>
                </a:solidFill>
              </a:defRPr>
            </a:lvl1pPr>
          </a:lstStyle>
          <a:p>
            <a:pPr/>
            <a:r>
              <a:t>20 PAŹ</a:t>
            </a:r>
          </a:p>
        </p:txBody>
      </p:sp>
      <p:sp>
        <p:nvSpPr>
          <p:cNvPr id="70" name="Text 22"/>
          <p:cNvSpPr txBox="1"/>
          <p:nvPr/>
        </p:nvSpPr>
        <p:spPr>
          <a:xfrm>
            <a:off x="1792223" y="3543760"/>
            <a:ext cx="1847089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200">
                <a:solidFill>
                  <a:srgbClr val="5E5264"/>
                </a:solidFill>
              </a:defRPr>
            </a:lvl1pPr>
          </a:lstStyle>
          <a:p>
            <a:pPr/>
            <a:r>
              <a:t>dzisiaj · 18:00</a:t>
            </a:r>
          </a:p>
        </p:txBody>
      </p:sp>
      <p:sp>
        <p:nvSpPr>
          <p:cNvPr id="71" name="Circle 23"/>
          <p:cNvSpPr/>
          <p:nvPr/>
        </p:nvSpPr>
        <p:spPr>
          <a:xfrm>
            <a:off x="5788152" y="2862072"/>
            <a:ext cx="438913" cy="438912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2" name="Text 24"/>
          <p:cNvSpPr txBox="1"/>
          <p:nvPr/>
        </p:nvSpPr>
        <p:spPr>
          <a:xfrm>
            <a:off x="5084064" y="2207627"/>
            <a:ext cx="1847089" cy="50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500">
                <a:solidFill>
                  <a:srgbClr val="171219"/>
                </a:solidFill>
              </a:defRPr>
            </a:lvl1pPr>
          </a:lstStyle>
          <a:p>
            <a:pPr/>
            <a:r>
              <a:t>17 LIS</a:t>
            </a:r>
          </a:p>
        </p:txBody>
      </p:sp>
      <p:sp>
        <p:nvSpPr>
          <p:cNvPr id="73" name="Text 25"/>
          <p:cNvSpPr txBox="1"/>
          <p:nvPr/>
        </p:nvSpPr>
        <p:spPr>
          <a:xfrm>
            <a:off x="5084064" y="3543760"/>
            <a:ext cx="1847089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200">
                <a:solidFill>
                  <a:srgbClr val="5E5264"/>
                </a:solidFill>
              </a:defRPr>
            </a:lvl1pPr>
          </a:lstStyle>
          <a:p>
            <a:pPr/>
            <a:r>
              <a:t>18:30</a:t>
            </a:r>
          </a:p>
        </p:txBody>
      </p:sp>
      <p:sp>
        <p:nvSpPr>
          <p:cNvPr id="74" name="Circle 26"/>
          <p:cNvSpPr/>
          <p:nvPr/>
        </p:nvSpPr>
        <p:spPr>
          <a:xfrm>
            <a:off x="9079992" y="2862072"/>
            <a:ext cx="438913" cy="438912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5" name="Text 27"/>
          <p:cNvSpPr txBox="1"/>
          <p:nvPr/>
        </p:nvSpPr>
        <p:spPr>
          <a:xfrm>
            <a:off x="8375904" y="2207627"/>
            <a:ext cx="1847089" cy="50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500">
                <a:solidFill>
                  <a:srgbClr val="171219"/>
                </a:solidFill>
              </a:defRPr>
            </a:lvl1pPr>
          </a:lstStyle>
          <a:p>
            <a:pPr/>
            <a:r>
              <a:t>15 GRU</a:t>
            </a:r>
          </a:p>
        </p:txBody>
      </p:sp>
      <p:sp>
        <p:nvSpPr>
          <p:cNvPr id="76" name="Text 28"/>
          <p:cNvSpPr txBox="1"/>
          <p:nvPr/>
        </p:nvSpPr>
        <p:spPr>
          <a:xfrm>
            <a:off x="8375904" y="3543760"/>
            <a:ext cx="1847089" cy="319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200">
                <a:solidFill>
                  <a:srgbClr val="5E5264"/>
                </a:solidFill>
              </a:defRPr>
            </a:lvl1pPr>
          </a:lstStyle>
          <a:p>
            <a:pPr/>
            <a:r>
              <a:t>18:30</a:t>
            </a:r>
          </a:p>
        </p:txBody>
      </p:sp>
      <p:sp>
        <p:nvSpPr>
          <p:cNvPr id="77" name="Shape 40"/>
          <p:cNvSpPr/>
          <p:nvPr/>
        </p:nvSpPr>
        <p:spPr>
          <a:xfrm>
            <a:off x="1847088" y="4636008"/>
            <a:ext cx="8485632" cy="804673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8" name="Text 41"/>
          <p:cNvSpPr txBox="1"/>
          <p:nvPr/>
        </p:nvSpPr>
        <p:spPr>
          <a:xfrm>
            <a:off x="2057400" y="4826783"/>
            <a:ext cx="8065007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chemeClr val="accent1"/>
                </a:solidFill>
              </a:defRPr>
            </a:lvl1pPr>
          </a:lstStyle>
          <a:p>
            <a:pPr/>
            <a:r>
              <a:t>PUB WĘDRÓWKI  ·  UL. PODWALE 37/38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1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2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PARTNER STRATEGICZNY</a:t>
            </a:r>
          </a:p>
        </p:txBody>
      </p:sp>
      <p:sp>
        <p:nvSpPr>
          <p:cNvPr id="83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Wspiera nas Devstyle</a:t>
            </a:r>
          </a:p>
        </p:txBody>
      </p:sp>
      <p:sp>
        <p:nvSpPr>
          <p:cNvPr id="84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5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6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87" name="Text 10"/>
          <p:cNvSpPr txBox="1"/>
          <p:nvPr/>
        </p:nvSpPr>
        <p:spPr>
          <a:xfrm>
            <a:off x="713231" y="1984248"/>
            <a:ext cx="5120642" cy="922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2700">
                <a:solidFill>
                  <a:schemeClr val="accent1"/>
                </a:solidFill>
              </a:defRPr>
            </a:pPr>
            <a:r>
              <a:t>DZIĘKUJEMY ZA WSPARCIE</a:t>
            </a:r>
            <a:endParaRPr>
              <a:solidFill>
                <a:srgbClr val="000000"/>
              </a:solidFill>
            </a:endParaRPr>
          </a:p>
          <a:p>
            <a:pPr>
              <a:defRPr b="1" sz="2700">
                <a:solidFill>
                  <a:schemeClr val="accent1"/>
                </a:solidFill>
              </a:defRPr>
            </a:pPr>
            <a:r>
              <a:t>WROC.NET</a:t>
            </a:r>
          </a:p>
        </p:txBody>
      </p:sp>
      <p:sp>
        <p:nvSpPr>
          <p:cNvPr id="88" name="Text 11"/>
          <p:cNvSpPr txBox="1"/>
          <p:nvPr/>
        </p:nvSpPr>
        <p:spPr>
          <a:xfrm>
            <a:off x="713232" y="3291840"/>
            <a:ext cx="5230368" cy="697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sz="1900">
                <a:solidFill>
                  <a:srgbClr val="171219"/>
                </a:solidFill>
              </a:defRPr>
            </a:pPr>
            <a:r>
              <a:t>Devstyle jest partnerem strategicznym</a:t>
            </a:r>
            <a:endParaRPr>
              <a:solidFill>
                <a:srgbClr val="000000"/>
              </a:solidFill>
            </a:endParaRPr>
          </a:p>
          <a:p>
            <a:pPr>
              <a:defRPr sz="1900">
                <a:solidFill>
                  <a:srgbClr val="171219"/>
                </a:solidFill>
              </a:defRPr>
            </a:pPr>
            <a:r>
              <a:t>naszej społeczności.</a:t>
            </a:r>
          </a:p>
        </p:txBody>
      </p:sp>
      <p:sp>
        <p:nvSpPr>
          <p:cNvPr id="89" name="Shape 14"/>
          <p:cNvSpPr/>
          <p:nvPr/>
        </p:nvSpPr>
        <p:spPr>
          <a:xfrm>
            <a:off x="6656831" y="1828799"/>
            <a:ext cx="4535425" cy="3794761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90" name="Logo Devstyle" descr="Logo Devstyl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31735" y="3081527"/>
            <a:ext cx="3785617" cy="758953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16"/>
          <p:cNvSpPr txBox="1"/>
          <p:nvPr/>
        </p:nvSpPr>
        <p:spPr>
          <a:xfrm>
            <a:off x="713231" y="4095749"/>
            <a:ext cx="5120642" cy="29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100">
                <a:solidFill>
                  <a:srgbClr val="5E5264"/>
                </a:solidFill>
              </a:defRPr>
            </a:lvl1pPr>
          </a:lstStyle>
          <a:p>
            <a:pPr/>
            <a:r>
              <a:t>PARTNERZY WSPIERAJĄCY</a:t>
            </a:r>
          </a:p>
        </p:txBody>
      </p:sp>
      <p:pic>
        <p:nvPicPr>
          <p:cNvPr id="92" name="Logo Helion" descr="Logo Heli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3231" y="4434840"/>
            <a:ext cx="1463041" cy="484633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 18"/>
          <p:cNvSpPr txBox="1"/>
          <p:nvPr/>
        </p:nvSpPr>
        <p:spPr>
          <a:xfrm>
            <a:off x="713231" y="4915706"/>
            <a:ext cx="1737362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partner nagród</a:t>
            </a:r>
          </a:p>
        </p:txBody>
      </p:sp>
      <p:pic>
        <p:nvPicPr>
          <p:cNvPr id="94" name="Logo hued.me" descr="Logo hued.m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04872" y="4471415"/>
            <a:ext cx="420624" cy="420625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 20"/>
          <p:cNvSpPr txBox="1"/>
          <p:nvPr/>
        </p:nvSpPr>
        <p:spPr>
          <a:xfrm>
            <a:off x="2404872" y="4915706"/>
            <a:ext cx="237744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hued.me — partner medialny</a:t>
            </a:r>
          </a:p>
        </p:txBody>
      </p:sp>
      <p:sp>
        <p:nvSpPr>
          <p:cNvPr id="96" name="Text 13"/>
          <p:cNvSpPr txBox="1"/>
          <p:nvPr/>
        </p:nvSpPr>
        <p:spPr>
          <a:xfrm>
            <a:off x="713231" y="5357135"/>
            <a:ext cx="5120642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chemeClr val="accent1"/>
                </a:solidFill>
              </a:defRPr>
            </a:lvl1pPr>
          </a:lstStyle>
          <a:p>
            <a:pPr/>
            <a:r>
              <a:t>https://devstyle.pl/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9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00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NASZE MIEJSCE</a:t>
            </a:r>
          </a:p>
        </p:txBody>
      </p:sp>
      <p:sp>
        <p:nvSpPr>
          <p:cNvPr id="101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Pub Wędrówki</a:t>
            </a:r>
          </a:p>
        </p:txBody>
      </p:sp>
      <p:sp>
        <p:nvSpPr>
          <p:cNvPr id="102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4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05" name="Text 11"/>
          <p:cNvSpPr txBox="1"/>
          <p:nvPr/>
        </p:nvSpPr>
        <p:spPr>
          <a:xfrm>
            <a:off x="713231" y="2493330"/>
            <a:ext cx="7498082" cy="664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700">
                <a:solidFill>
                  <a:srgbClr val="171219"/>
                </a:solidFill>
              </a:defRPr>
            </a:lvl1pPr>
          </a:lstStyle>
          <a:p>
            <a:pPr/>
            <a:r>
              <a:t>Nie ma pizzy.</a:t>
            </a:r>
          </a:p>
        </p:txBody>
      </p:sp>
      <p:sp>
        <p:nvSpPr>
          <p:cNvPr id="106" name="Text 12"/>
          <p:cNvSpPr txBox="1"/>
          <p:nvPr/>
        </p:nvSpPr>
        <p:spPr>
          <a:xfrm>
            <a:off x="713231" y="3261426"/>
            <a:ext cx="7498082" cy="664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700">
                <a:solidFill>
                  <a:schemeClr val="accent1"/>
                </a:solidFill>
              </a:defRPr>
            </a:lvl1pPr>
          </a:lstStyle>
          <a:p>
            <a:pPr/>
            <a:r>
              <a:t>Bar działa.</a:t>
            </a:r>
          </a:p>
        </p:txBody>
      </p:sp>
      <p:sp>
        <p:nvSpPr>
          <p:cNvPr id="107" name="Shape 13"/>
          <p:cNvSpPr/>
          <p:nvPr/>
        </p:nvSpPr>
        <p:spPr>
          <a:xfrm>
            <a:off x="8723376" y="2432304"/>
            <a:ext cx="2404873" cy="195681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08" name="Text 14"/>
          <p:cNvSpPr txBox="1"/>
          <p:nvPr/>
        </p:nvSpPr>
        <p:spPr>
          <a:xfrm>
            <a:off x="8979407" y="2991402"/>
            <a:ext cx="1892808" cy="74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100">
                <a:solidFill>
                  <a:srgbClr val="FFFFFF"/>
                </a:solidFill>
              </a:defRPr>
            </a:pPr>
            <a:r>
              <a:t>PIWO</a:t>
            </a:r>
            <a:endParaRPr>
              <a:solidFill>
                <a:srgbClr val="000000"/>
              </a:solidFill>
            </a:endParaRPr>
          </a:p>
          <a:p>
            <a:pPr>
              <a:defRPr b="1" sz="2100">
                <a:solidFill>
                  <a:srgbClr val="FFFFFF"/>
                </a:solidFill>
              </a:defRPr>
            </a:pPr>
            <a:r>
              <a:t>I NAPOJE</a:t>
            </a:r>
          </a:p>
        </p:txBody>
      </p:sp>
      <p:sp>
        <p:nvSpPr>
          <p:cNvPr id="109" name="Text 16"/>
          <p:cNvSpPr txBox="1"/>
          <p:nvPr/>
        </p:nvSpPr>
        <p:spPr>
          <a:xfrm>
            <a:off x="713232" y="4675907"/>
            <a:ext cx="9738360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600">
                <a:solidFill>
                  <a:srgbClr val="5E5264"/>
                </a:solidFill>
              </a:defRPr>
            </a:lvl1pPr>
          </a:lstStyle>
          <a:p>
            <a:pPr/>
            <a:r>
              <a:t>Na miejscu nie zamówimy jedzenia.</a:t>
            </a:r>
          </a:p>
        </p:txBody>
      </p:sp>
      <p:sp>
        <p:nvSpPr>
          <p:cNvPr id="110" name="Text 17"/>
          <p:cNvSpPr txBox="1"/>
          <p:nvPr/>
        </p:nvSpPr>
        <p:spPr>
          <a:xfrm>
            <a:off x="713231" y="5176910"/>
            <a:ext cx="10515601" cy="417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900">
                <a:solidFill>
                  <a:schemeClr val="accent1"/>
                </a:solidFill>
              </a:defRPr>
            </a:lvl1pPr>
          </a:lstStyle>
          <a:p>
            <a:pPr/>
            <a:r>
              <a:t>Pierwsze 80 napojów na koszt sponsora. Kto pierwszy, ten lepszy!</a:t>
            </a:r>
          </a:p>
        </p:txBody>
      </p:sp>
      <p:sp>
        <p:nvSpPr>
          <p:cNvPr id="111" name="Text 18"/>
          <p:cNvSpPr txBox="1"/>
          <p:nvPr/>
        </p:nvSpPr>
        <p:spPr>
          <a:xfrm>
            <a:off x="713232" y="5663459"/>
            <a:ext cx="9738360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rgbClr val="171219"/>
                </a:solidFill>
              </a:defRPr>
            </a:lvl1pPr>
          </a:lstStyle>
          <a:p>
            <a:pPr/>
            <a:r>
              <a:t>Po części oficjalnej zostajemy na rozmowy.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14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15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NA KONIEC SPOTKANIA</a:t>
            </a:r>
          </a:p>
        </p:txBody>
      </p:sp>
      <p:sp>
        <p:nvSpPr>
          <p:cNvPr id="116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Lista obecności = udział w losowaniu</a:t>
            </a:r>
          </a:p>
        </p:txBody>
      </p:sp>
      <p:sp>
        <p:nvSpPr>
          <p:cNvPr id="117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18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9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20" name="Text 10"/>
          <p:cNvSpPr txBox="1"/>
          <p:nvPr/>
        </p:nvSpPr>
        <p:spPr>
          <a:xfrm>
            <a:off x="713232" y="1972261"/>
            <a:ext cx="4983480" cy="6274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400">
                <a:solidFill>
                  <a:schemeClr val="accent1"/>
                </a:solidFill>
              </a:defRPr>
            </a:lvl1pPr>
          </a:lstStyle>
          <a:p>
            <a:pPr/>
            <a:r>
              <a:t>WPISUJESZ SIĘ</a:t>
            </a:r>
          </a:p>
        </p:txBody>
      </p:sp>
      <p:sp>
        <p:nvSpPr>
          <p:cNvPr id="121" name="Text 11"/>
          <p:cNvSpPr txBox="1"/>
          <p:nvPr/>
        </p:nvSpPr>
        <p:spPr>
          <a:xfrm>
            <a:off x="713231" y="2759754"/>
            <a:ext cx="5852162" cy="442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100">
                <a:solidFill>
                  <a:srgbClr val="171219"/>
                </a:solidFill>
              </a:defRPr>
            </a:lvl1pPr>
          </a:lstStyle>
          <a:p>
            <a:pPr/>
            <a:r>
              <a:t>Bierzesz udział w losowaniu nagród.</a:t>
            </a:r>
          </a:p>
        </p:txBody>
      </p:sp>
      <p:sp>
        <p:nvSpPr>
          <p:cNvPr id="122" name="Shape 12"/>
          <p:cNvSpPr/>
          <p:nvPr/>
        </p:nvSpPr>
        <p:spPr>
          <a:xfrm>
            <a:off x="6931152" y="1856231"/>
            <a:ext cx="4261105" cy="331013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23" name="Text 13"/>
          <p:cNvSpPr txBox="1"/>
          <p:nvPr/>
        </p:nvSpPr>
        <p:spPr>
          <a:xfrm>
            <a:off x="7278623" y="2300038"/>
            <a:ext cx="3566160" cy="355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500">
                <a:solidFill>
                  <a:srgbClr val="D51A96"/>
                </a:solidFill>
              </a:defRPr>
            </a:lvl1pPr>
          </a:lstStyle>
          <a:p>
            <a:pPr/>
            <a:r>
              <a:t>LOSOWANIE</a:t>
            </a:r>
          </a:p>
        </p:txBody>
      </p:sp>
      <p:sp>
        <p:nvSpPr>
          <p:cNvPr id="124" name="Text 14"/>
          <p:cNvSpPr txBox="1"/>
          <p:nvPr/>
        </p:nvSpPr>
        <p:spPr>
          <a:xfrm>
            <a:off x="7278623" y="2924484"/>
            <a:ext cx="3566160" cy="972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900">
                <a:solidFill>
                  <a:srgbClr val="FFFFFF"/>
                </a:solidFill>
              </a:defRPr>
            </a:pPr>
            <a:r>
              <a:t>NA KONIEC</a:t>
            </a:r>
            <a:endParaRPr>
              <a:solidFill>
                <a:srgbClr val="000000"/>
              </a:solidFill>
            </a:endParaRPr>
          </a:p>
          <a:p>
            <a:pPr>
              <a:defRPr b="1" sz="2900">
                <a:solidFill>
                  <a:srgbClr val="FFFFFF"/>
                </a:solidFill>
              </a:defRPr>
            </a:pPr>
            <a:r>
              <a:t>SPOTKANIA</a:t>
            </a:r>
          </a:p>
        </p:txBody>
      </p:sp>
      <p:sp>
        <p:nvSpPr>
          <p:cNvPr id="125" name="Text 15"/>
          <p:cNvSpPr txBox="1"/>
          <p:nvPr/>
        </p:nvSpPr>
        <p:spPr>
          <a:xfrm>
            <a:off x="713231" y="4041647"/>
            <a:ext cx="5870450" cy="672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>
                <a:solidFill>
                  <a:srgbClr val="5E5264"/>
                </a:solidFill>
              </a:defRPr>
            </a:pPr>
            <a:r>
              <a:t>Do wygrania są różne nagrody.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rgbClr val="5E5264"/>
                </a:solidFill>
              </a:defRPr>
            </a:pPr>
            <a:r>
              <a:t>Najczęściej książki od sponsorów.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28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29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NOWOŚĆ</a:t>
            </a:r>
          </a:p>
        </p:txBody>
      </p:sp>
      <p:sp>
        <p:nvSpPr>
          <p:cNvPr id="130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Nowe wrocnet.org</a:t>
            </a:r>
          </a:p>
        </p:txBody>
      </p:sp>
      <p:sp>
        <p:nvSpPr>
          <p:cNvPr id="131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32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3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34" name="Shape 10"/>
          <p:cNvSpPr/>
          <p:nvPr/>
        </p:nvSpPr>
        <p:spPr>
          <a:xfrm>
            <a:off x="658367" y="1847088"/>
            <a:ext cx="7424930" cy="3877057"/>
          </a:xfrm>
          <a:prstGeom prst="rect">
            <a:avLst/>
          </a:prstGeom>
          <a:solidFill>
            <a:srgbClr val="F4EDF7"/>
          </a:solidFill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35" name="Strona główna wrocnet.org" descr="Strona główna wrocnet.or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231" y="1901951"/>
            <a:ext cx="7315201" cy="3767330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hape 12"/>
          <p:cNvSpPr/>
          <p:nvPr/>
        </p:nvSpPr>
        <p:spPr>
          <a:xfrm>
            <a:off x="8321040" y="1847088"/>
            <a:ext cx="2871217" cy="3877057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37" name="Text 13"/>
          <p:cNvSpPr txBox="1"/>
          <p:nvPr/>
        </p:nvSpPr>
        <p:spPr>
          <a:xfrm>
            <a:off x="8613647" y="2189824"/>
            <a:ext cx="2304289" cy="43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000">
                <a:solidFill>
                  <a:srgbClr val="D51A96"/>
                </a:solidFill>
              </a:defRPr>
            </a:lvl1pPr>
          </a:lstStyle>
          <a:p>
            <a:pPr/>
            <a:r>
              <a:t>PROŚCIEJ</a:t>
            </a:r>
          </a:p>
        </p:txBody>
      </p:sp>
      <p:sp>
        <p:nvSpPr>
          <p:cNvPr id="138" name="Text 14"/>
          <p:cNvSpPr txBox="1"/>
          <p:nvPr/>
        </p:nvSpPr>
        <p:spPr>
          <a:xfrm>
            <a:off x="8613647" y="2834639"/>
            <a:ext cx="2267713" cy="1256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1900">
                <a:solidFill>
                  <a:srgbClr val="171219"/>
                </a:solidFill>
              </a:defRPr>
            </a:pPr>
            <a:r>
              <a:t>Spotkania, ludzie</a:t>
            </a:r>
            <a:endParaRPr>
              <a:solidFill>
                <a:srgbClr val="000000"/>
              </a:solidFill>
            </a:endParaRPr>
          </a:p>
          <a:p>
            <a:pPr>
              <a:defRPr b="1" sz="1900">
                <a:solidFill>
                  <a:srgbClr val="171219"/>
                </a:solidFill>
              </a:defRPr>
            </a:pPr>
            <a:r>
              <a:t>i historia grupy</a:t>
            </a:r>
            <a:endParaRPr>
              <a:solidFill>
                <a:srgbClr val="000000"/>
              </a:solidFill>
            </a:endParaRPr>
          </a:p>
          <a:p>
            <a:pPr>
              <a:defRPr b="1" sz="1900">
                <a:solidFill>
                  <a:srgbClr val="171219"/>
                </a:solidFill>
              </a:defRPr>
            </a:pPr>
            <a:r>
              <a:t>w jednym miejscu.</a:t>
            </a:r>
          </a:p>
        </p:txBody>
      </p:sp>
      <p:sp>
        <p:nvSpPr>
          <p:cNvPr id="139" name="Text 16"/>
          <p:cNvSpPr txBox="1"/>
          <p:nvPr/>
        </p:nvSpPr>
        <p:spPr>
          <a:xfrm>
            <a:off x="8613647" y="4991375"/>
            <a:ext cx="2267713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chemeClr val="accent1"/>
                </a:solidFill>
              </a:defRPr>
            </a:lvl1pPr>
          </a:lstStyle>
          <a:p>
            <a:pPr/>
            <a:r>
              <a:t>wrocnet.org</a:t>
            </a:r>
          </a:p>
        </p:txBody>
      </p:sp>
      <p:sp>
        <p:nvSpPr>
          <p:cNvPr id="140" name="Text 17"/>
          <p:cNvSpPr txBox="1"/>
          <p:nvPr/>
        </p:nvSpPr>
        <p:spPr>
          <a:xfrm>
            <a:off x="713231" y="5802675"/>
            <a:ext cx="7315201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https://wrocnet.org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43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44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WROCNET.ORG</a:t>
            </a:r>
          </a:p>
        </p:txBody>
      </p:sp>
      <p:sp>
        <p:nvSpPr>
          <p:cNvPr id="145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Masz temat? Zostań prelegentem</a:t>
            </a:r>
          </a:p>
        </p:txBody>
      </p:sp>
      <p:sp>
        <p:nvSpPr>
          <p:cNvPr id="146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47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8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49" name="Shape 10"/>
          <p:cNvSpPr/>
          <p:nvPr/>
        </p:nvSpPr>
        <p:spPr>
          <a:xfrm>
            <a:off x="658367" y="1847088"/>
            <a:ext cx="7424930" cy="3877057"/>
          </a:xfrm>
          <a:prstGeom prst="rect">
            <a:avLst/>
          </a:prstGeom>
          <a:solidFill>
            <a:srgbClr val="F4EDF7"/>
          </a:solidFill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50" name="Strona Zostań prelegentem" descr="Strona Zostań prelegentem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231" y="1901951"/>
            <a:ext cx="7315201" cy="376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Grafika mikrofonu" descr="Grafika mikrofonu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21040" y="1847088"/>
            <a:ext cx="2871217" cy="38770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hape 16"/>
          <p:cNvSpPr/>
          <p:nvPr/>
        </p:nvSpPr>
        <p:spPr>
          <a:xfrm>
            <a:off x="8321040" y="1847088"/>
            <a:ext cx="2871217" cy="3877057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3" name="Text 13"/>
          <p:cNvSpPr txBox="1"/>
          <p:nvPr/>
        </p:nvSpPr>
        <p:spPr>
          <a:xfrm>
            <a:off x="8613647" y="2220397"/>
            <a:ext cx="2304289" cy="405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>
                <a:solidFill>
                  <a:srgbClr val="D51A96"/>
                </a:solidFill>
              </a:defRPr>
            </a:lvl1pPr>
          </a:lstStyle>
          <a:p>
            <a:pPr/>
            <a:r>
              <a:t>MASZ POMYSŁ?</a:t>
            </a:r>
          </a:p>
        </p:txBody>
      </p:sp>
      <p:sp>
        <p:nvSpPr>
          <p:cNvPr id="154" name="Text 14"/>
          <p:cNvSpPr txBox="1"/>
          <p:nvPr/>
        </p:nvSpPr>
        <p:spPr>
          <a:xfrm>
            <a:off x="8613647" y="2834639"/>
            <a:ext cx="2286001" cy="1014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Nie musisz mieć</a:t>
            </a:r>
            <a:endParaRPr>
              <a:solidFill>
                <a:srgbClr val="000000"/>
              </a:solidFill>
            </a:endParaRPr>
          </a:p>
          <a:p>
            <a:pPr>
              <a:defRPr b="1" sz="2000">
                <a:solidFill>
                  <a:srgbClr val="FFFFFF"/>
                </a:solidFill>
              </a:defRPr>
            </a:pPr>
            <a:r>
              <a:t>gotowej prezentacji.</a:t>
            </a:r>
          </a:p>
        </p:txBody>
      </p:sp>
      <p:sp>
        <p:nvSpPr>
          <p:cNvPr id="155" name="Text 15"/>
          <p:cNvSpPr txBox="1"/>
          <p:nvPr/>
        </p:nvSpPr>
        <p:spPr>
          <a:xfrm>
            <a:off x="8613647" y="4142232"/>
            <a:ext cx="2267713" cy="596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Zgłoś temat.</a:t>
            </a:r>
            <a:endParaRPr>
              <a:solidFill>
                <a:srgbClr val="000000"/>
              </a:solidFill>
            </a:endParaR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Pomożemy dalej.</a:t>
            </a:r>
          </a:p>
        </p:txBody>
      </p:sp>
      <p:sp>
        <p:nvSpPr>
          <p:cNvPr id="156" name="Text 17"/>
          <p:cNvSpPr txBox="1"/>
          <p:nvPr/>
        </p:nvSpPr>
        <p:spPr>
          <a:xfrm>
            <a:off x="713231" y="5802675"/>
            <a:ext cx="7315201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https://wrocnet.org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59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60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WROCNET.ORG</a:t>
            </a:r>
          </a:p>
        </p:txBody>
      </p:sp>
      <p:sp>
        <p:nvSpPr>
          <p:cNvPr id="161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Poznaj organizatorów</a:t>
            </a:r>
          </a:p>
        </p:txBody>
      </p:sp>
      <p:sp>
        <p:nvSpPr>
          <p:cNvPr id="162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63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4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65" name="Shape 10"/>
          <p:cNvSpPr/>
          <p:nvPr/>
        </p:nvSpPr>
        <p:spPr>
          <a:xfrm>
            <a:off x="658367" y="1847088"/>
            <a:ext cx="7424930" cy="3877057"/>
          </a:xfrm>
          <a:prstGeom prst="rect">
            <a:avLst/>
          </a:prstGeom>
          <a:solidFill>
            <a:srgbClr val="F4EDF7"/>
          </a:solidFill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66" name="Strona Organizatorzy" descr="Strona Organizatorzy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231" y="1901951"/>
            <a:ext cx="7315201" cy="376733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Shape 12"/>
          <p:cNvSpPr/>
          <p:nvPr/>
        </p:nvSpPr>
        <p:spPr>
          <a:xfrm>
            <a:off x="8321040" y="1847088"/>
            <a:ext cx="2871217" cy="3877057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68" name="Text 13"/>
          <p:cNvSpPr txBox="1"/>
          <p:nvPr/>
        </p:nvSpPr>
        <p:spPr>
          <a:xfrm>
            <a:off x="8613647" y="2212848"/>
            <a:ext cx="2304289" cy="67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 b="1">
                <a:solidFill>
                  <a:srgbClr val="D51A96"/>
                </a:solidFill>
              </a:defRPr>
            </a:lvl1pPr>
          </a:lstStyle>
          <a:p>
            <a:pPr/>
            <a:r>
              <a:t>LUDZIE ZA WROC.NET</a:t>
            </a:r>
          </a:p>
        </p:txBody>
      </p:sp>
      <p:sp>
        <p:nvSpPr>
          <p:cNvPr id="169" name="Text 14"/>
          <p:cNvSpPr txBox="1"/>
          <p:nvPr/>
        </p:nvSpPr>
        <p:spPr>
          <a:xfrm>
            <a:off x="8613647" y="3136392"/>
            <a:ext cx="2267713" cy="1205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>
                <a:solidFill>
                  <a:srgbClr val="171219"/>
                </a:solidFill>
              </a:defRPr>
            </a:pPr>
            <a:r>
              <a:t>Poznaj aktualnych</a:t>
            </a:r>
            <a:endParaRPr>
              <a:solidFill>
                <a:srgbClr val="000000"/>
              </a:solidFill>
            </a:endParaRPr>
          </a:p>
          <a:p>
            <a:pPr>
              <a:defRPr b="1">
                <a:solidFill>
                  <a:srgbClr val="171219"/>
                </a:solidFill>
              </a:defRPr>
            </a:pPr>
            <a:r>
              <a:t>i byłych organizatorów społeczności.</a:t>
            </a:r>
          </a:p>
        </p:txBody>
      </p:sp>
      <p:sp>
        <p:nvSpPr>
          <p:cNvPr id="170" name="Text 16"/>
          <p:cNvSpPr txBox="1"/>
          <p:nvPr/>
        </p:nvSpPr>
        <p:spPr>
          <a:xfrm>
            <a:off x="8613647" y="5037581"/>
            <a:ext cx="2267713" cy="29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100">
                <a:solidFill>
                  <a:schemeClr val="accent1"/>
                </a:solidFill>
              </a:defRPr>
            </a:lvl1pPr>
          </a:lstStyle>
          <a:p>
            <a:pPr/>
            <a:r>
              <a:t>wrocnet.org/organizatorzy/</a:t>
            </a:r>
          </a:p>
        </p:txBody>
      </p:sp>
      <p:sp>
        <p:nvSpPr>
          <p:cNvPr id="171" name="Text 17"/>
          <p:cNvSpPr txBox="1"/>
          <p:nvPr/>
        </p:nvSpPr>
        <p:spPr>
          <a:xfrm>
            <a:off x="713231" y="5802675"/>
            <a:ext cx="7315201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000">
                <a:solidFill>
                  <a:srgbClr val="5E5264"/>
                </a:solidFill>
              </a:defRPr>
            </a:lvl1pPr>
          </a:lstStyle>
          <a:p>
            <a:pPr/>
            <a:r>
              <a:t>https://wrocnet.org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74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75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BĄDŹMY W KONTAKCIE</a:t>
            </a:r>
          </a:p>
        </p:txBody>
      </p:sp>
      <p:sp>
        <p:nvSpPr>
          <p:cNvPr id="176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Dołącz do społeczności na WhatsAppie</a:t>
            </a:r>
          </a:p>
        </p:txBody>
      </p:sp>
      <p:sp>
        <p:nvSpPr>
          <p:cNvPr id="177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8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9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80" name="Shape 10"/>
          <p:cNvSpPr/>
          <p:nvPr/>
        </p:nvSpPr>
        <p:spPr>
          <a:xfrm>
            <a:off x="713231" y="1837943"/>
            <a:ext cx="3959354" cy="3959354"/>
          </a:xfrm>
          <a:prstGeom prst="rect">
            <a:avLst/>
          </a:prstGeom>
          <a:solidFill>
            <a:srgbClr val="F4EDF7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pic>
        <p:nvPicPr>
          <p:cNvPr id="181" name="Kod QR społeczności WhatsApp" descr="Kod QR społeczności WhatsApp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7" y="1965960"/>
            <a:ext cx="3703322" cy="3703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Grafika panelu" descr="Grafika panelu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56047" y="1837944"/>
            <a:ext cx="6236209" cy="3959353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 13"/>
          <p:cNvSpPr txBox="1"/>
          <p:nvPr/>
        </p:nvSpPr>
        <p:spPr>
          <a:xfrm>
            <a:off x="5358384" y="2293895"/>
            <a:ext cx="5394961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600">
                <a:solidFill>
                  <a:srgbClr val="D51A96"/>
                </a:solidFill>
              </a:defRPr>
            </a:lvl1pPr>
          </a:lstStyle>
          <a:p>
            <a:pPr/>
            <a:r>
              <a:t>ZESKANUJ KOD</a:t>
            </a:r>
          </a:p>
        </p:txBody>
      </p:sp>
      <p:sp>
        <p:nvSpPr>
          <p:cNvPr id="184" name="Text 14"/>
          <p:cNvSpPr txBox="1"/>
          <p:nvPr/>
        </p:nvSpPr>
        <p:spPr>
          <a:xfrm>
            <a:off x="5358384" y="2809398"/>
            <a:ext cx="5248657" cy="1147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3500">
                <a:solidFill>
                  <a:srgbClr val="FFFFFF"/>
                </a:solidFill>
              </a:defRPr>
            </a:pPr>
            <a:r>
              <a:t>Wrocławska</a:t>
            </a:r>
            <a:endParaRPr>
              <a:solidFill>
                <a:srgbClr val="000000"/>
              </a:solidFill>
            </a:endParaRPr>
          </a:p>
          <a:p>
            <a:pPr>
              <a:defRPr b="1" sz="3500">
                <a:solidFill>
                  <a:srgbClr val="FFFFFF"/>
                </a:solidFill>
              </a:defRPr>
            </a:pPr>
            <a:r>
              <a:t>Grupa .NET</a:t>
            </a:r>
          </a:p>
        </p:txBody>
      </p:sp>
      <p:sp>
        <p:nvSpPr>
          <p:cNvPr id="185" name="Text 15"/>
          <p:cNvSpPr txBox="1"/>
          <p:nvPr/>
        </p:nvSpPr>
        <p:spPr>
          <a:xfrm>
            <a:off x="5358384" y="4288535"/>
            <a:ext cx="5047489" cy="672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Ogłoszenia, rozmowy i kontakt między spotkaniami.</a:t>
            </a:r>
          </a:p>
        </p:txBody>
      </p:sp>
      <p:sp>
        <p:nvSpPr>
          <p:cNvPr id="186" name="Text 17"/>
          <p:cNvSpPr txBox="1"/>
          <p:nvPr/>
        </p:nvSpPr>
        <p:spPr>
          <a:xfrm>
            <a:off x="5358384" y="5311554"/>
            <a:ext cx="5047489" cy="331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300">
                <a:solidFill>
                  <a:srgbClr val="D51A96"/>
                </a:solidFill>
              </a:defRPr>
            </a:lvl1pPr>
          </a:lstStyle>
          <a:p>
            <a:pPr/>
            <a:r>
              <a:t>wrocnet.org/whatsapp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89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90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PO CZĘŚCI OFICJALNEJ</a:t>
            </a:r>
          </a:p>
        </p:txBody>
      </p:sp>
      <p:sp>
        <p:nvSpPr>
          <p:cNvPr id="191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Zostajemy. Bo tak trzeba.</a:t>
            </a:r>
          </a:p>
        </p:txBody>
      </p:sp>
      <p:sp>
        <p:nvSpPr>
          <p:cNvPr id="192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93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4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sp>
        <p:nvSpPr>
          <p:cNvPr id="195" name="Text 10"/>
          <p:cNvSpPr txBox="1"/>
          <p:nvPr/>
        </p:nvSpPr>
        <p:spPr>
          <a:xfrm>
            <a:off x="713232" y="1814068"/>
            <a:ext cx="9966960" cy="57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600">
                <a:solidFill>
                  <a:srgbClr val="171219"/>
                </a:solidFill>
              </a:defRPr>
            </a:lvl1pPr>
          </a:lstStyle>
          <a:p>
            <a:pPr/>
            <a:r>
              <a:t>🍺 Piwo. 💬 Rozmowy. 🤝 Networking.</a:t>
            </a:r>
          </a:p>
        </p:txBody>
      </p:sp>
      <p:sp>
        <p:nvSpPr>
          <p:cNvPr id="196" name="Text 11"/>
          <p:cNvSpPr txBox="1"/>
          <p:nvPr/>
        </p:nvSpPr>
        <p:spPr>
          <a:xfrm>
            <a:off x="713232" y="2480862"/>
            <a:ext cx="9966960" cy="442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100">
                <a:solidFill>
                  <a:schemeClr val="accent1"/>
                </a:solidFill>
              </a:defRPr>
            </a:lvl1pPr>
          </a:lstStyle>
          <a:p>
            <a:pPr/>
            <a:r>
              <a:t>A czasem — całkiem serio — nowa praca.</a:t>
            </a:r>
          </a:p>
        </p:txBody>
      </p:sp>
      <p:sp>
        <p:nvSpPr>
          <p:cNvPr id="197" name="Shape 12"/>
          <p:cNvSpPr/>
          <p:nvPr/>
        </p:nvSpPr>
        <p:spPr>
          <a:xfrm>
            <a:off x="713232" y="3364991"/>
            <a:ext cx="9966960" cy="169164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98" name="Text 13"/>
          <p:cNvSpPr txBox="1"/>
          <p:nvPr/>
        </p:nvSpPr>
        <p:spPr>
          <a:xfrm>
            <a:off x="1005840" y="3611879"/>
            <a:ext cx="9418320" cy="847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PONOĆ NAJWIĘKSZE KARIERY ZACZYNAJĄ SIĘ</a:t>
            </a:r>
            <a:endParaRPr>
              <a:solidFill>
                <a:srgbClr val="000000"/>
              </a:solidFill>
            </a:endParaRP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PRZY BARZE, NIE NA LINKEDIN</a:t>
            </a:r>
          </a:p>
        </p:txBody>
      </p:sp>
      <p:sp>
        <p:nvSpPr>
          <p:cNvPr id="199" name="Text 14"/>
          <p:cNvSpPr txBox="1"/>
          <p:nvPr/>
        </p:nvSpPr>
        <p:spPr>
          <a:xfrm>
            <a:off x="1005840" y="4526279"/>
            <a:ext cx="9418320" cy="343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>
            <a:spAutoFit/>
          </a:bodyPr>
          <a:lstStyle>
            <a:lvl1pPr>
              <a:defRPr b="1" sz="1400">
                <a:solidFill>
                  <a:srgbClr val="D51A96"/>
                </a:solidFill>
              </a:defRPr>
            </a:lvl1pPr>
          </a:lstStyle>
          <a:p>
            <a:pPr/>
            <a:r>
              <a:t>(przynajmniej tak mówią ci, którzy zostali dłużej)</a:t>
            </a:r>
          </a:p>
        </p:txBody>
      </p:sp>
      <p:sp>
        <p:nvSpPr>
          <p:cNvPr id="200" name="Text 15"/>
          <p:cNvSpPr txBox="1"/>
          <p:nvPr/>
        </p:nvSpPr>
        <p:spPr>
          <a:xfrm>
            <a:off x="713232" y="5370851"/>
            <a:ext cx="9966960" cy="36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600">
                <a:solidFill>
                  <a:srgbClr val="5E5264"/>
                </a:solidFill>
              </a:defRPr>
            </a:lvl1pPr>
          </a:lstStyle>
          <a:p>
            <a:pPr/>
            <a:r>
              <a:t>Zostań chwilę dłużej — może właśnie tu jest Twoja następna okazja.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3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04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171. SPOTKANIE · DZISIEJSZY PROGRAM · GODZINY ORIENTACYJNE</a:t>
            </a:r>
          </a:p>
        </p:txBody>
      </p:sp>
      <p:sp>
        <p:nvSpPr>
          <p:cNvPr id="205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AI w praktyce</a:t>
            </a:r>
          </a:p>
        </p:txBody>
      </p:sp>
      <p:sp>
        <p:nvSpPr>
          <p:cNvPr id="206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7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8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pic>
        <p:nvPicPr>
          <p:cNvPr id="209" name="Jakub Kubryński" descr="Jakub Kubryńsk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46919" y="1691639"/>
            <a:ext cx="1051561" cy="10515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4"/>
                  <a:pt x="4836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10" name="Maciej Aniserowicz" descr="Maciej Aniserowicz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46919" y="2834639"/>
            <a:ext cx="1051561" cy="10515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4"/>
                  <a:pt x="4836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1" name="Text 21"/>
          <p:cNvSpPr txBox="1"/>
          <p:nvPr/>
        </p:nvSpPr>
        <p:spPr>
          <a:xfrm>
            <a:off x="713231" y="1682332"/>
            <a:ext cx="1097282" cy="43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000">
                <a:solidFill>
                  <a:schemeClr val="accent1"/>
                </a:solidFill>
              </a:defRPr>
            </a:lvl1pPr>
          </a:lstStyle>
          <a:p>
            <a:pPr/>
            <a:r>
              <a:t>18:15</a:t>
            </a:r>
          </a:p>
        </p:txBody>
      </p:sp>
      <p:sp>
        <p:nvSpPr>
          <p:cNvPr id="212" name="Text 10"/>
          <p:cNvSpPr txBox="1"/>
          <p:nvPr/>
        </p:nvSpPr>
        <p:spPr>
          <a:xfrm>
            <a:off x="1920240" y="1657555"/>
            <a:ext cx="7223760" cy="479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300">
                <a:solidFill>
                  <a:schemeClr val="accent1"/>
                </a:solidFill>
              </a:defRPr>
            </a:lvl1pPr>
          </a:lstStyle>
          <a:p>
            <a:pPr/>
            <a:r>
              <a:t>Jakub Kubryński</a:t>
            </a:r>
          </a:p>
        </p:txBody>
      </p:sp>
      <p:sp>
        <p:nvSpPr>
          <p:cNvPr id="213" name="Text 11"/>
          <p:cNvSpPr txBox="1"/>
          <p:nvPr/>
        </p:nvSpPr>
        <p:spPr>
          <a:xfrm>
            <a:off x="1920240" y="2180680"/>
            <a:ext cx="7223760" cy="43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000">
                <a:solidFill>
                  <a:srgbClr val="171219"/>
                </a:solidFill>
              </a:defRPr>
            </a:lvl1pPr>
          </a:lstStyle>
          <a:p>
            <a:pPr/>
            <a:r>
              <a:t>AI Retrofit: nowe możliwości, 14 lat bagażu</a:t>
            </a:r>
          </a:p>
        </p:txBody>
      </p:sp>
      <p:sp>
        <p:nvSpPr>
          <p:cNvPr id="214" name="Line 12"/>
          <p:cNvSpPr/>
          <p:nvPr/>
        </p:nvSpPr>
        <p:spPr>
          <a:xfrm>
            <a:off x="713232" y="2743200"/>
            <a:ext cx="10479025" cy="0"/>
          </a:xfrm>
          <a:prstGeom prst="line">
            <a:avLst/>
          </a:prstGeom>
          <a:ln w="1905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5" name="Text 22"/>
          <p:cNvSpPr txBox="1"/>
          <p:nvPr/>
        </p:nvSpPr>
        <p:spPr>
          <a:xfrm>
            <a:off x="713231" y="2843620"/>
            <a:ext cx="1097282" cy="43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000">
                <a:solidFill>
                  <a:schemeClr val="accent1"/>
                </a:solidFill>
              </a:defRPr>
            </a:lvl1pPr>
          </a:lstStyle>
          <a:p>
            <a:pPr/>
            <a:r>
              <a:t>19:15</a:t>
            </a:r>
          </a:p>
        </p:txBody>
      </p:sp>
      <p:sp>
        <p:nvSpPr>
          <p:cNvPr id="216" name="Text 13"/>
          <p:cNvSpPr txBox="1"/>
          <p:nvPr/>
        </p:nvSpPr>
        <p:spPr>
          <a:xfrm>
            <a:off x="1920240" y="2818843"/>
            <a:ext cx="7223760" cy="479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300">
                <a:solidFill>
                  <a:schemeClr val="accent1"/>
                </a:solidFill>
              </a:defRPr>
            </a:lvl1pPr>
          </a:lstStyle>
          <a:p>
            <a:pPr/>
            <a:r>
              <a:t>Maciej Aniserowicz</a:t>
            </a:r>
          </a:p>
        </p:txBody>
      </p:sp>
      <p:sp>
        <p:nvSpPr>
          <p:cNvPr id="217" name="Text 14"/>
          <p:cNvSpPr txBox="1"/>
          <p:nvPr/>
        </p:nvSpPr>
        <p:spPr>
          <a:xfrm>
            <a:off x="1920240" y="3323334"/>
            <a:ext cx="7223760" cy="46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200">
                <a:solidFill>
                  <a:srgbClr val="171219"/>
                </a:solidFill>
              </a:defRPr>
            </a:lvl1pPr>
          </a:lstStyle>
          <a:p>
            <a:pPr/>
            <a:r>
              <a:t>Tańczący z Agentami</a:t>
            </a:r>
          </a:p>
        </p:txBody>
      </p:sp>
      <p:sp>
        <p:nvSpPr>
          <p:cNvPr id="218" name="Line 17"/>
          <p:cNvSpPr/>
          <p:nvPr/>
        </p:nvSpPr>
        <p:spPr>
          <a:xfrm>
            <a:off x="713232" y="3977640"/>
            <a:ext cx="10479025" cy="1"/>
          </a:xfrm>
          <a:prstGeom prst="line">
            <a:avLst/>
          </a:prstGeom>
          <a:ln w="1905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9" name="Text 23"/>
          <p:cNvSpPr txBox="1"/>
          <p:nvPr/>
        </p:nvSpPr>
        <p:spPr>
          <a:xfrm>
            <a:off x="713231" y="4151212"/>
            <a:ext cx="1097282" cy="43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000">
                <a:solidFill>
                  <a:schemeClr val="accent1"/>
                </a:solidFill>
              </a:defRPr>
            </a:lvl1pPr>
          </a:lstStyle>
          <a:p>
            <a:pPr/>
            <a:r>
              <a:t>20:15</a:t>
            </a:r>
          </a:p>
        </p:txBody>
      </p:sp>
      <p:sp>
        <p:nvSpPr>
          <p:cNvPr id="220" name="Text 18"/>
          <p:cNvSpPr txBox="1"/>
          <p:nvPr/>
        </p:nvSpPr>
        <p:spPr>
          <a:xfrm>
            <a:off x="1920240" y="4132578"/>
            <a:ext cx="7223760" cy="46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200">
                <a:solidFill>
                  <a:schemeClr val="accent1"/>
                </a:solidFill>
              </a:defRPr>
            </a:lvl1pPr>
          </a:lstStyle>
          <a:p>
            <a:pPr/>
            <a:r>
              <a:t>Panel dyskusyjny</a:t>
            </a:r>
          </a:p>
        </p:txBody>
      </p:sp>
      <p:sp>
        <p:nvSpPr>
          <p:cNvPr id="221" name="Text 24"/>
          <p:cNvSpPr txBox="1"/>
          <p:nvPr/>
        </p:nvSpPr>
        <p:spPr>
          <a:xfrm>
            <a:off x="1920240" y="4553687"/>
            <a:ext cx="7223760" cy="393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1700">
                <a:solidFill>
                  <a:srgbClr val="171219"/>
                </a:solidFill>
              </a:defRPr>
            </a:lvl1pPr>
          </a:lstStyle>
          <a:p>
            <a:pPr/>
            <a:r>
              <a:t>Aniserowicz x Kubryński</a:t>
            </a:r>
          </a:p>
        </p:txBody>
      </p:sp>
      <p:pic>
        <p:nvPicPr>
          <p:cNvPr id="222" name="Maciej Aniserowicz - panel" descr="Maciej Aniserowicz - panel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35440" y="4160520"/>
            <a:ext cx="868681" cy="868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5" y="0"/>
                </a:moveTo>
                <a:cubicBezTo>
                  <a:pt x="4831" y="0"/>
                  <a:pt x="0" y="4831"/>
                  <a:pt x="0" y="10795"/>
                </a:cubicBezTo>
                <a:cubicBezTo>
                  <a:pt x="0" y="16759"/>
                  <a:pt x="4831" y="21600"/>
                  <a:pt x="10795" y="21600"/>
                </a:cubicBezTo>
                <a:cubicBezTo>
                  <a:pt x="16759" y="21600"/>
                  <a:pt x="21600" y="16759"/>
                  <a:pt x="21600" y="10795"/>
                </a:cubicBezTo>
                <a:cubicBezTo>
                  <a:pt x="21600" y="4831"/>
                  <a:pt x="16759" y="0"/>
                  <a:pt x="10795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23" name="Jakub Kubryński - panel" descr="Jakub Kubryński - panel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86999" y="4160520"/>
            <a:ext cx="868682" cy="868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5" y="0"/>
                </a:moveTo>
                <a:cubicBezTo>
                  <a:pt x="4831" y="0"/>
                  <a:pt x="0" y="4831"/>
                  <a:pt x="0" y="10795"/>
                </a:cubicBezTo>
                <a:cubicBezTo>
                  <a:pt x="0" y="16759"/>
                  <a:pt x="4831" y="21600"/>
                  <a:pt x="10795" y="21600"/>
                </a:cubicBezTo>
                <a:cubicBezTo>
                  <a:pt x="16759" y="21600"/>
                  <a:pt x="21600" y="16759"/>
                  <a:pt x="21600" y="10795"/>
                </a:cubicBezTo>
                <a:cubicBezTo>
                  <a:pt x="21600" y="4831"/>
                  <a:pt x="16759" y="0"/>
                  <a:pt x="10795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24" name="Text 27"/>
          <p:cNvSpPr txBox="1"/>
          <p:nvPr/>
        </p:nvSpPr>
        <p:spPr>
          <a:xfrm>
            <a:off x="713231" y="5157052"/>
            <a:ext cx="1097282" cy="43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000">
                <a:solidFill>
                  <a:schemeClr val="accent1"/>
                </a:solidFill>
              </a:defRPr>
            </a:lvl1pPr>
          </a:lstStyle>
          <a:p>
            <a:pPr/>
            <a:r>
              <a:t>21:00</a:t>
            </a:r>
          </a:p>
        </p:txBody>
      </p:sp>
      <p:sp>
        <p:nvSpPr>
          <p:cNvPr id="225" name="Text 19"/>
          <p:cNvSpPr txBox="1"/>
          <p:nvPr/>
        </p:nvSpPr>
        <p:spPr>
          <a:xfrm>
            <a:off x="1920240" y="5138418"/>
            <a:ext cx="9052560" cy="46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200">
                <a:solidFill>
                  <a:schemeClr val="accent1"/>
                </a:solidFill>
              </a:defRPr>
            </a:lvl1pPr>
          </a:lstStyle>
          <a:p>
            <a:pPr/>
            <a:r>
              <a:t>After party</a:t>
            </a:r>
          </a:p>
        </p:txBody>
      </p:sp>
      <p:sp>
        <p:nvSpPr>
          <p:cNvPr id="226" name="Text 28"/>
          <p:cNvSpPr txBox="1"/>
          <p:nvPr/>
        </p:nvSpPr>
        <p:spPr>
          <a:xfrm>
            <a:off x="713231" y="5705692"/>
            <a:ext cx="1097282" cy="43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000">
                <a:solidFill>
                  <a:schemeClr val="accent1"/>
                </a:solidFill>
              </a:defRPr>
            </a:lvl1pPr>
          </a:lstStyle>
          <a:p>
            <a:pPr/>
            <a:r>
              <a:t>22:00+</a:t>
            </a:r>
          </a:p>
        </p:txBody>
      </p:sp>
      <p:sp>
        <p:nvSpPr>
          <p:cNvPr id="227" name="Text 20"/>
          <p:cNvSpPr txBox="1"/>
          <p:nvPr/>
        </p:nvSpPr>
        <p:spPr>
          <a:xfrm>
            <a:off x="1920240" y="5687058"/>
            <a:ext cx="9052560" cy="46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200">
                <a:solidFill>
                  <a:schemeClr val="accent1"/>
                </a:solidFill>
              </a:defRPr>
            </a:lvl1pPr>
          </a:lstStyle>
          <a:p>
            <a:pPr/>
            <a:r>
              <a:t>After party after party ;)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30" name="Gradient 3"/>
          <p:cNvSpPr/>
          <p:nvPr/>
        </p:nvSpPr>
        <p:spPr>
          <a:xfrm>
            <a:off x="-1" y="0"/>
            <a:ext cx="12191697" cy="64008"/>
          </a:xfrm>
          <a:prstGeom prst="rect">
            <a:avLst/>
          </a:prstGeom>
          <a:gradFill>
            <a:gsLst>
              <a:gs pos="0">
                <a:srgbClr val="000000">
                  <a:alpha val="22000"/>
                </a:srgbClr>
              </a:gs>
              <a:gs pos="100000">
                <a:srgbClr val="000000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231" name="Text 5"/>
          <p:cNvSpPr txBox="1"/>
          <p:nvPr/>
        </p:nvSpPr>
        <p:spPr>
          <a:xfrm>
            <a:off x="713232" y="361995"/>
            <a:ext cx="8138160" cy="281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000">
                <a:solidFill>
                  <a:schemeClr val="accent1"/>
                </a:solidFill>
              </a:defRPr>
            </a:lvl1pPr>
          </a:lstStyle>
          <a:p>
            <a:pPr/>
            <a:r>
              <a:t>172. SPOTKANIE · 17 LISTOPADA 2026 · 18:30</a:t>
            </a:r>
          </a:p>
        </p:txBody>
      </p:sp>
      <p:sp>
        <p:nvSpPr>
          <p:cNvPr id="232" name="Text 6"/>
          <p:cNvSpPr txBox="1"/>
          <p:nvPr/>
        </p:nvSpPr>
        <p:spPr>
          <a:xfrm>
            <a:off x="713231" y="777884"/>
            <a:ext cx="987552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Następne spotkanie Wroc.NET</a:t>
            </a:r>
          </a:p>
        </p:txBody>
      </p:sp>
      <p:sp>
        <p:nvSpPr>
          <p:cNvPr id="233" name="Text 7"/>
          <p:cNvSpPr txBox="1"/>
          <p:nvPr/>
        </p:nvSpPr>
        <p:spPr>
          <a:xfrm>
            <a:off x="10533888" y="406120"/>
            <a:ext cx="868681" cy="541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 algn="r">
              <a:defRPr b="1" sz="2800">
                <a:solidFill>
                  <a:srgbClr val="7A248F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34" name="Line 8"/>
          <p:cNvSpPr/>
          <p:nvPr/>
        </p:nvSpPr>
        <p:spPr>
          <a:xfrm>
            <a:off x="713231" y="6318503"/>
            <a:ext cx="10744202" cy="1"/>
          </a:xfrm>
          <a:prstGeom prst="line">
            <a:avLst/>
          </a:prstGeom>
          <a:ln w="1270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5" name="Text 9"/>
          <p:cNvSpPr txBox="1"/>
          <p:nvPr/>
        </p:nvSpPr>
        <p:spPr>
          <a:xfrm>
            <a:off x="713231" y="6403177"/>
            <a:ext cx="3931922" cy="2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900">
                <a:solidFill>
                  <a:srgbClr val="5E5264"/>
                </a:solidFill>
              </a:defRPr>
            </a:lvl1pPr>
          </a:lstStyle>
          <a:p>
            <a:pPr/>
            <a:r>
              <a:t>Łukasz Pyrzyk  ·  Wroc.NET</a:t>
            </a:r>
          </a:p>
        </p:txBody>
      </p:sp>
      <p:pic>
        <p:nvPicPr>
          <p:cNvPr id="236" name="Piotr Gankiewicz" descr="Piotr Gankiewicz"/>
          <p:cNvPicPr>
            <a:picLocks noChangeAspect="1"/>
          </p:cNvPicPr>
          <p:nvPr/>
        </p:nvPicPr>
        <p:blipFill>
          <a:blip r:embed="rId2">
            <a:extLst/>
          </a:blip>
          <a:srcRect l="0" t="0" r="10" b="10"/>
          <a:stretch>
            <a:fillRect/>
          </a:stretch>
        </p:blipFill>
        <p:spPr>
          <a:xfrm>
            <a:off x="9189719" y="1600199"/>
            <a:ext cx="1462882" cy="14628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37" name="Piotr Gankiewicz - panel" descr="Piotr Gankiewicz - panel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12480" y="4069079"/>
            <a:ext cx="868681" cy="868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5" y="0"/>
                </a:moveTo>
                <a:cubicBezTo>
                  <a:pt x="4831" y="0"/>
                  <a:pt x="0" y="4831"/>
                  <a:pt x="0" y="10795"/>
                </a:cubicBezTo>
                <a:cubicBezTo>
                  <a:pt x="0" y="16759"/>
                  <a:pt x="4831" y="21600"/>
                  <a:pt x="10795" y="21600"/>
                </a:cubicBezTo>
                <a:cubicBezTo>
                  <a:pt x="16759" y="21600"/>
                  <a:pt x="21600" y="16759"/>
                  <a:pt x="21600" y="10795"/>
                </a:cubicBezTo>
                <a:cubicBezTo>
                  <a:pt x="21600" y="4831"/>
                  <a:pt x="16759" y="0"/>
                  <a:pt x="10795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38" name="Łukasz Olbromski - panel" descr="Łukasz Olbromski - panel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418319" y="4069079"/>
            <a:ext cx="868681" cy="868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5" y="0"/>
                </a:moveTo>
                <a:cubicBezTo>
                  <a:pt x="4831" y="0"/>
                  <a:pt x="0" y="4831"/>
                  <a:pt x="0" y="10795"/>
                </a:cubicBezTo>
                <a:cubicBezTo>
                  <a:pt x="0" y="16759"/>
                  <a:pt x="4831" y="21600"/>
                  <a:pt x="10795" y="21600"/>
                </a:cubicBezTo>
                <a:cubicBezTo>
                  <a:pt x="16759" y="21600"/>
                  <a:pt x="21600" y="16759"/>
                  <a:pt x="21600" y="10795"/>
                </a:cubicBezTo>
                <a:cubicBezTo>
                  <a:pt x="21600" y="4831"/>
                  <a:pt x="16759" y="0"/>
                  <a:pt x="10795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39" name="Łukasz Pyrzyk - panel" descr="Łukasz Pyrzyk - panel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424159" y="4069079"/>
            <a:ext cx="868681" cy="868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5" y="0"/>
                </a:moveTo>
                <a:cubicBezTo>
                  <a:pt x="4831" y="0"/>
                  <a:pt x="0" y="4831"/>
                  <a:pt x="0" y="10795"/>
                </a:cubicBezTo>
                <a:cubicBezTo>
                  <a:pt x="0" y="16759"/>
                  <a:pt x="4831" y="21600"/>
                  <a:pt x="10795" y="21600"/>
                </a:cubicBezTo>
                <a:cubicBezTo>
                  <a:pt x="16759" y="21600"/>
                  <a:pt x="21600" y="16759"/>
                  <a:pt x="21600" y="10795"/>
                </a:cubicBezTo>
                <a:cubicBezTo>
                  <a:pt x="21600" y="4831"/>
                  <a:pt x="16759" y="0"/>
                  <a:pt x="10795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40" name="Text 10"/>
          <p:cNvSpPr txBox="1"/>
          <p:nvPr/>
        </p:nvSpPr>
        <p:spPr>
          <a:xfrm>
            <a:off x="713231" y="1735002"/>
            <a:ext cx="7498082" cy="553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2900">
                <a:solidFill>
                  <a:schemeClr val="accent1"/>
                </a:solidFill>
              </a:defRPr>
            </a:lvl1pPr>
          </a:lstStyle>
          <a:p>
            <a:pPr/>
            <a:r>
              <a:t>Piotr Gankiewicz</a:t>
            </a:r>
          </a:p>
        </p:txBody>
      </p:sp>
      <p:sp>
        <p:nvSpPr>
          <p:cNvPr id="241" name="Text 11"/>
          <p:cNvSpPr txBox="1"/>
          <p:nvPr/>
        </p:nvSpPr>
        <p:spPr>
          <a:xfrm>
            <a:off x="713231" y="2372358"/>
            <a:ext cx="10515601" cy="46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2200">
                <a:solidFill>
                  <a:srgbClr val="5E5264"/>
                </a:solidFill>
              </a:defRPr>
            </a:lvl1pPr>
          </a:lstStyle>
          <a:p>
            <a:pPr/>
            <a:r>
              <a:t>Temat: TBD</a:t>
            </a:r>
          </a:p>
        </p:txBody>
      </p:sp>
      <p:sp>
        <p:nvSpPr>
          <p:cNvPr id="242" name="Line 12"/>
          <p:cNvSpPr/>
          <p:nvPr/>
        </p:nvSpPr>
        <p:spPr>
          <a:xfrm>
            <a:off x="713232" y="3136392"/>
            <a:ext cx="10479025" cy="1"/>
          </a:xfrm>
          <a:prstGeom prst="line">
            <a:avLst/>
          </a:prstGeom>
          <a:ln w="19050">
            <a:solidFill>
              <a:srgbClr val="D8C4D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3" name="Text 13"/>
          <p:cNvSpPr txBox="1"/>
          <p:nvPr/>
        </p:nvSpPr>
        <p:spPr>
          <a:xfrm>
            <a:off x="713231" y="3423318"/>
            <a:ext cx="10515601" cy="331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1300">
                <a:solidFill>
                  <a:srgbClr val="D51A96"/>
                </a:solidFill>
              </a:defRPr>
            </a:lvl1pPr>
          </a:lstStyle>
          <a:p>
            <a:pPr/>
            <a:r>
              <a:t>PANEL DYSKUSYJNY</a:t>
            </a:r>
          </a:p>
        </p:txBody>
      </p:sp>
      <p:sp>
        <p:nvSpPr>
          <p:cNvPr id="244" name="Text 14"/>
          <p:cNvSpPr txBox="1"/>
          <p:nvPr/>
        </p:nvSpPr>
        <p:spPr>
          <a:xfrm>
            <a:off x="713231" y="3950852"/>
            <a:ext cx="7498082" cy="56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b="1" sz="3000">
                <a:solidFill>
                  <a:srgbClr val="171219"/>
                </a:solidFill>
              </a:defRPr>
            </a:lvl1pPr>
          </a:lstStyle>
          <a:p>
            <a:pPr/>
            <a:r>
              <a:t>Przyszłość .NET, Rust i AI</a:t>
            </a:r>
          </a:p>
        </p:txBody>
      </p:sp>
      <p:sp>
        <p:nvSpPr>
          <p:cNvPr id="245" name="Text 15"/>
          <p:cNvSpPr txBox="1"/>
          <p:nvPr/>
        </p:nvSpPr>
        <p:spPr>
          <a:xfrm>
            <a:off x="713231" y="4622382"/>
            <a:ext cx="7498082" cy="722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/>
          <a:p>
            <a:pPr>
              <a:defRPr b="1" sz="2000">
                <a:solidFill>
                  <a:schemeClr val="accent1"/>
                </a:solidFill>
              </a:defRPr>
            </a:pPr>
            <a:r>
              <a:t>Piotr Gankiewicz · Łukasz Olbromski</a:t>
            </a:r>
            <a:endParaRPr>
              <a:solidFill>
                <a:srgbClr val="000000"/>
              </a:solidFill>
            </a:endParaRPr>
          </a:p>
          <a:p>
            <a:pPr>
              <a:defRPr b="1" sz="2000">
                <a:solidFill>
                  <a:schemeClr val="accent1"/>
                </a:solidFill>
              </a:defRPr>
            </a:pPr>
            <a:r>
              <a:t>Łukasz Pyrzyk</a:t>
            </a:r>
          </a:p>
        </p:txBody>
      </p:sp>
      <p:sp>
        <p:nvSpPr>
          <p:cNvPr id="246" name="Text 16"/>
          <p:cNvSpPr txBox="1"/>
          <p:nvPr/>
        </p:nvSpPr>
        <p:spPr>
          <a:xfrm>
            <a:off x="713231" y="5297214"/>
            <a:ext cx="10515601" cy="442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3152" tIns="73152" rIns="73152" bIns="73152" anchor="ctr">
            <a:spAutoFit/>
          </a:bodyPr>
          <a:lstStyle>
            <a:lvl1pPr>
              <a:defRPr sz="2100">
                <a:solidFill>
                  <a:srgbClr val="5E5264"/>
                </a:solidFill>
              </a:defRPr>
            </a:lvl1pPr>
          </a:lstStyle>
          <a:p>
            <a:pPr/>
            <a:r>
              <a:t>+ uczestnicy spotkania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roc.NET">
  <a:themeElements>
    <a:clrScheme name="Wroc.NET">
      <a:dk1>
        <a:srgbClr val="160E22"/>
      </a:dk1>
      <a:lt1>
        <a:srgbClr val="1C2214"/>
      </a:lt1>
      <a:dk2>
        <a:srgbClr val="A7A7A7"/>
      </a:dk2>
      <a:lt2>
        <a:srgbClr val="535353"/>
      </a:lt2>
      <a:accent1>
        <a:srgbClr val="641E78"/>
      </a:accent1>
      <a:accent2>
        <a:srgbClr val="F13BB8"/>
      </a:accent2>
      <a:accent3>
        <a:srgbClr val="8B2BBE"/>
      </a:accent3>
      <a:accent4>
        <a:srgbClr val="25D366"/>
      </a:accent4>
      <a:accent5>
        <a:srgbClr val="B9ADBF"/>
      </a:accent5>
      <a:accent6>
        <a:srgbClr val="6E347E"/>
      </a:accent6>
      <a:hlink>
        <a:srgbClr val="0000FF"/>
      </a:hlink>
      <a:folHlink>
        <a:srgbClr val="FF00FF"/>
      </a:folHlink>
    </a:clrScheme>
    <a:fontScheme name="Wroc.NE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roc.N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60E22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60E22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roc.NET">
  <a:themeElements>
    <a:clrScheme name="Wroc.N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41E78"/>
      </a:accent1>
      <a:accent2>
        <a:srgbClr val="F13BB8"/>
      </a:accent2>
      <a:accent3>
        <a:srgbClr val="8B2BBE"/>
      </a:accent3>
      <a:accent4>
        <a:srgbClr val="25D366"/>
      </a:accent4>
      <a:accent5>
        <a:srgbClr val="B9ADBF"/>
      </a:accent5>
      <a:accent6>
        <a:srgbClr val="6E347E"/>
      </a:accent6>
      <a:hlink>
        <a:srgbClr val="0000FF"/>
      </a:hlink>
      <a:folHlink>
        <a:srgbClr val="FF00FF"/>
      </a:folHlink>
    </a:clrScheme>
    <a:fontScheme name="Wroc.NE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roc.N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60E22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160E22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