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CBD5"/>
          </a:solidFill>
        </a:fill>
      </a:tcStyle>
    </a:wholeTbl>
    <a:band2H>
      <a:tcTxStyle b="def" i="def"/>
      <a:tcStyle>
        <a:tcBdr/>
        <a:fill>
          <a:solidFill>
            <a:srgbClr val="EAE7EB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ACBE8"/>
          </a:solidFill>
        </a:fill>
      </a:tcStyle>
    </a:wholeTbl>
    <a:band2H>
      <a:tcTxStyle b="def" i="def"/>
      <a:tcStyle>
        <a:tcBdr/>
        <a:fill>
          <a:solidFill>
            <a:srgbClr val="EDE7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CCD7"/>
          </a:solidFill>
        </a:fill>
      </a:tcStyle>
    </a:wholeTbl>
    <a:band2H>
      <a:tcTxStyle b="def" i="def"/>
      <a:tcStyle>
        <a:tcBdr/>
        <a:fill>
          <a:solidFill>
            <a:srgbClr val="EAE7EC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6E7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B"/>
          </a:solidFill>
        </a:fill>
      </a:tcStyle>
    </a:wholeTbl>
    <a:band2H>
      <a:tcTxStyle b="def" i="def"/>
      <a:tcStyle>
        <a:tcBdr/>
        <a:fill>
          <a:solidFill>
            <a:srgbClr val="E7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 slajd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 tytułowy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Tekst tytułowy</a:t>
            </a:r>
          </a:p>
        </p:txBody>
      </p:sp>
      <p:sp>
        <p:nvSpPr>
          <p:cNvPr id="3" name="Treść - poziom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Treść - poziom 1</a:t>
            </a:r>
          </a:p>
          <a:p>
            <a:pPr lvl="1"/>
            <a:r>
              <a:t>Treść - poziom 2</a:t>
            </a:r>
          </a:p>
          <a:p>
            <a:pPr lvl="2"/>
            <a:r>
              <a:t>Treść - poziom 3</a:t>
            </a:r>
          </a:p>
          <a:p>
            <a:pPr lvl="3"/>
            <a:r>
              <a:t>Treść - poziom 4</a:t>
            </a:r>
          </a:p>
          <a:p>
            <a:pPr lvl="4"/>
            <a:r>
              <a:t>Treść - poziom 5</a:t>
            </a:r>
          </a:p>
        </p:txBody>
      </p:sp>
      <p:sp>
        <p:nvSpPr>
          <p:cNvPr id="4" name="Numer slajdu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eg"/><Relationship Id="rId4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" name="Grafika panelu" descr="Grafika panelu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27264" y="118871"/>
            <a:ext cx="4361689" cy="6739130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6"/>
          <p:cNvSpPr txBox="1"/>
          <p:nvPr/>
        </p:nvSpPr>
        <p:spPr>
          <a:xfrm>
            <a:off x="749807" y="511301"/>
            <a:ext cx="621792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D51A96"/>
                </a:solidFill>
              </a:defRPr>
            </a:lvl1pPr>
          </a:lstStyle>
          <a:p>
            <a:pPr/>
            <a:r>
              <a:t>171. SPOTKANIE WROC.NET</a:t>
            </a:r>
          </a:p>
        </p:txBody>
      </p:sp>
      <p:sp>
        <p:nvSpPr>
          <p:cNvPr id="24" name="Text 7"/>
          <p:cNvSpPr txBox="1"/>
          <p:nvPr/>
        </p:nvSpPr>
        <p:spPr>
          <a:xfrm>
            <a:off x="713231" y="1115102"/>
            <a:ext cx="6629401" cy="750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3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5" name="Text 8"/>
          <p:cNvSpPr txBox="1"/>
          <p:nvPr/>
        </p:nvSpPr>
        <p:spPr>
          <a:xfrm>
            <a:off x="749807" y="2089724"/>
            <a:ext cx="6217922" cy="922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600">
                <a:solidFill>
                  <a:srgbClr val="D51A96"/>
                </a:solidFill>
              </a:defRPr>
            </a:pPr>
            <a:r>
              <a:t>Nowe możliwości,</a:t>
            </a:r>
            <a:endParaRPr>
              <a:solidFill>
                <a:srgbClr val="000000"/>
              </a:solidFill>
            </a:endParaRPr>
          </a:p>
          <a:p>
            <a:pPr>
              <a:defRPr b="1" sz="2600">
                <a:solidFill>
                  <a:srgbClr val="D51A96"/>
                </a:solidFill>
              </a:defRPr>
            </a:pPr>
            <a:r>
              <a:t>14 lat bagażu</a:t>
            </a:r>
          </a:p>
        </p:txBody>
      </p:sp>
      <p:sp>
        <p:nvSpPr>
          <p:cNvPr id="26" name="Text 10"/>
          <p:cNvSpPr txBox="1"/>
          <p:nvPr/>
        </p:nvSpPr>
        <p:spPr>
          <a:xfrm>
            <a:off x="749807" y="3927808"/>
            <a:ext cx="621792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51A96"/>
                </a:solidFill>
              </a:defRPr>
            </a:lvl1pPr>
          </a:lstStyle>
          <a:p>
            <a:pPr/>
            <a:r>
              <a:t>DRUGA PRELEKCJA</a:t>
            </a:r>
          </a:p>
        </p:txBody>
      </p:sp>
      <p:sp>
        <p:nvSpPr>
          <p:cNvPr id="27" name="Text 11"/>
          <p:cNvSpPr txBox="1"/>
          <p:nvPr/>
        </p:nvSpPr>
        <p:spPr>
          <a:xfrm>
            <a:off x="749807" y="4304004"/>
            <a:ext cx="6492242" cy="947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Tańczący</a:t>
            </a:r>
            <a:endParaRPr>
              <a:solidFill>
                <a:srgbClr val="000000"/>
              </a:solidFill>
            </a:endParaRP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z Agentami</a:t>
            </a:r>
          </a:p>
        </p:txBody>
      </p:sp>
      <p:sp>
        <p:nvSpPr>
          <p:cNvPr id="28" name="Text 12"/>
          <p:cNvSpPr txBox="1"/>
          <p:nvPr/>
        </p:nvSpPr>
        <p:spPr>
          <a:xfrm>
            <a:off x="749807" y="6049217"/>
            <a:ext cx="6583682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20 PAŹDZIERNIKA 2026  ·  18:00  ·  PUB WĘDRÓWKI</a:t>
            </a:r>
          </a:p>
        </p:txBody>
      </p:sp>
      <p:sp>
        <p:nvSpPr>
          <p:cNvPr id="29" name="Text 13"/>
          <p:cNvSpPr txBox="1"/>
          <p:nvPr/>
        </p:nvSpPr>
        <p:spPr>
          <a:xfrm>
            <a:off x="749808" y="6448897"/>
            <a:ext cx="2834640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</a:t>
            </a:r>
          </a:p>
        </p:txBody>
      </p:sp>
      <p:pic>
        <p:nvPicPr>
          <p:cNvPr id="30" name="Wroc.NET logo" descr="Wroc.NET logo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00616" y="475487"/>
            <a:ext cx="1005841" cy="1005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Jakub Kubryński" descr="Jakub Kubryński"/>
          <p:cNvPicPr>
            <a:picLocks noChangeAspect="1"/>
          </p:cNvPicPr>
          <p:nvPr/>
        </p:nvPicPr>
        <p:blipFill>
          <a:blip r:embed="rId4">
            <a:extLst/>
          </a:blip>
          <a:srcRect l="0" t="0" r="9" b="9"/>
          <a:stretch>
            <a:fillRect/>
          </a:stretch>
        </p:blipFill>
        <p:spPr>
          <a:xfrm>
            <a:off x="8174735" y="2194560"/>
            <a:ext cx="1691483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2" name="Maciej Aniserowicz" descr="Maciej Aniserowicz"/>
          <p:cNvPicPr>
            <a:picLocks noChangeAspect="1"/>
          </p:cNvPicPr>
          <p:nvPr/>
        </p:nvPicPr>
        <p:blipFill>
          <a:blip r:embed="rId5">
            <a:extLst/>
          </a:blip>
          <a:srcRect l="0" t="0" r="9" b="9"/>
          <a:stretch>
            <a:fillRect/>
          </a:stretch>
        </p:blipFill>
        <p:spPr>
          <a:xfrm>
            <a:off x="10094976" y="2194560"/>
            <a:ext cx="1691482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33" name="Text 19"/>
          <p:cNvSpPr txBox="1"/>
          <p:nvPr/>
        </p:nvSpPr>
        <p:spPr>
          <a:xfrm>
            <a:off x="808329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Jakub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Kubryński</a:t>
            </a:r>
          </a:p>
        </p:txBody>
      </p:sp>
      <p:sp>
        <p:nvSpPr>
          <p:cNvPr id="34" name="Text 20"/>
          <p:cNvSpPr txBox="1"/>
          <p:nvPr/>
        </p:nvSpPr>
        <p:spPr>
          <a:xfrm>
            <a:off x="1000353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Maciej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Aniserowicz</a:t>
            </a:r>
          </a:p>
        </p:txBody>
      </p:sp>
      <p:sp>
        <p:nvSpPr>
          <p:cNvPr id="35" name="Text 21"/>
          <p:cNvSpPr txBox="1"/>
          <p:nvPr/>
        </p:nvSpPr>
        <p:spPr>
          <a:xfrm>
            <a:off x="8174735" y="5574675"/>
            <a:ext cx="3611881" cy="417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FFFFFF"/>
                </a:solidFill>
              </a:defRPr>
            </a:lvl1pPr>
          </a:lstStyle>
          <a:p>
            <a:pPr/>
            <a:r>
              <a:t>ZACZYNAMY O 18:00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Wrocław połączony społecznością Wroc.NET" descr="Wrocław połączony społecznością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" name="Text 5"/>
          <p:cNvSpPr txBox="1"/>
          <p:nvPr/>
        </p:nvSpPr>
        <p:spPr>
          <a:xfrm>
            <a:off x="713231" y="361995"/>
            <a:ext cx="78638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OD 2007 ROKU</a:t>
            </a:r>
          </a:p>
        </p:txBody>
      </p:sp>
      <p:sp>
        <p:nvSpPr>
          <p:cNvPr id="39" name="Text 6"/>
          <p:cNvSpPr txBox="1"/>
          <p:nvPr/>
        </p:nvSpPr>
        <p:spPr>
          <a:xfrm>
            <a:off x="713231" y="869324"/>
            <a:ext cx="82296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O grupie · Wroc.NET w liczbach</a:t>
            </a:r>
          </a:p>
        </p:txBody>
      </p:sp>
      <p:sp>
        <p:nvSpPr>
          <p:cNvPr id="40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1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42" name="Text 10"/>
          <p:cNvSpPr txBox="1"/>
          <p:nvPr/>
        </p:nvSpPr>
        <p:spPr>
          <a:xfrm>
            <a:off x="713231" y="1744770"/>
            <a:ext cx="7863842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FFFFFF"/>
                </a:solidFill>
              </a:defRPr>
            </a:lvl1pPr>
          </a:lstStyle>
          <a:p>
            <a:pPr/>
            <a:r>
              <a:t>Wrocławska społeczność programistów .NET</a:t>
            </a:r>
          </a:p>
        </p:txBody>
      </p:sp>
      <p:sp>
        <p:nvSpPr>
          <p:cNvPr id="43" name="Text 20"/>
          <p:cNvSpPr txBox="1"/>
          <p:nvPr/>
        </p:nvSpPr>
        <p:spPr>
          <a:xfrm>
            <a:off x="71323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44" name="Text 21"/>
          <p:cNvSpPr txBox="1"/>
          <p:nvPr/>
        </p:nvSpPr>
        <p:spPr>
          <a:xfrm>
            <a:off x="71323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lat społeczności</a:t>
            </a:r>
          </a:p>
        </p:txBody>
      </p:sp>
      <p:sp>
        <p:nvSpPr>
          <p:cNvPr id="45" name="Text 22"/>
          <p:cNvSpPr txBox="1"/>
          <p:nvPr/>
        </p:nvSpPr>
        <p:spPr>
          <a:xfrm>
            <a:off x="267919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170</a:t>
            </a:r>
          </a:p>
        </p:txBody>
      </p:sp>
      <p:sp>
        <p:nvSpPr>
          <p:cNvPr id="46" name="Text 23"/>
          <p:cNvSpPr txBox="1"/>
          <p:nvPr/>
        </p:nvSpPr>
        <p:spPr>
          <a:xfrm>
            <a:off x="2679192" y="3502152"/>
            <a:ext cx="1874521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spotkań</a:t>
            </a:r>
          </a:p>
        </p:txBody>
      </p:sp>
      <p:sp>
        <p:nvSpPr>
          <p:cNvPr id="47" name="Text 24"/>
          <p:cNvSpPr txBox="1"/>
          <p:nvPr/>
        </p:nvSpPr>
        <p:spPr>
          <a:xfrm>
            <a:off x="464515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185</a:t>
            </a:r>
          </a:p>
        </p:txBody>
      </p:sp>
      <p:sp>
        <p:nvSpPr>
          <p:cNvPr id="48" name="Text 25"/>
          <p:cNvSpPr txBox="1"/>
          <p:nvPr/>
        </p:nvSpPr>
        <p:spPr>
          <a:xfrm>
            <a:off x="4645152" y="3502152"/>
            <a:ext cx="1874521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prelegentów i prelegentek</a:t>
            </a:r>
          </a:p>
        </p:txBody>
      </p:sp>
      <p:sp>
        <p:nvSpPr>
          <p:cNvPr id="49" name="Text 26"/>
          <p:cNvSpPr txBox="1"/>
          <p:nvPr/>
        </p:nvSpPr>
        <p:spPr>
          <a:xfrm>
            <a:off x="661111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300</a:t>
            </a:r>
          </a:p>
        </p:txBody>
      </p:sp>
      <p:sp>
        <p:nvSpPr>
          <p:cNvPr id="50" name="Text 27"/>
          <p:cNvSpPr txBox="1"/>
          <p:nvPr/>
        </p:nvSpPr>
        <p:spPr>
          <a:xfrm>
            <a:off x="661111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prezentacji</a:t>
            </a:r>
          </a:p>
        </p:txBody>
      </p:sp>
      <p:sp>
        <p:nvSpPr>
          <p:cNvPr id="51" name="Line 30"/>
          <p:cNvSpPr/>
          <p:nvPr/>
        </p:nvSpPr>
        <p:spPr>
          <a:xfrm>
            <a:off x="713231" y="4315967"/>
            <a:ext cx="7562090" cy="1"/>
          </a:xfrm>
          <a:prstGeom prst="line">
            <a:avLst/>
          </a:prstGeom>
          <a:ln w="19050">
            <a:solidFill>
              <a:srgbClr val="5E3B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2" name="Text 31"/>
          <p:cNvSpPr txBox="1"/>
          <p:nvPr/>
        </p:nvSpPr>
        <p:spPr>
          <a:xfrm>
            <a:off x="713231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2400+</a:t>
            </a:r>
          </a:p>
        </p:txBody>
      </p:sp>
      <p:sp>
        <p:nvSpPr>
          <p:cNvPr id="53" name="Text 32"/>
          <p:cNvSpPr txBox="1"/>
          <p:nvPr/>
        </p:nvSpPr>
        <p:spPr>
          <a:xfrm>
            <a:off x="713231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członków społeczności</a:t>
            </a:r>
          </a:p>
        </p:txBody>
      </p:sp>
      <p:sp>
        <p:nvSpPr>
          <p:cNvPr id="54" name="Text 33"/>
          <p:cNvSpPr txBox="1"/>
          <p:nvPr/>
        </p:nvSpPr>
        <p:spPr>
          <a:xfrm>
            <a:off x="4709159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+ 32</a:t>
            </a:r>
          </a:p>
        </p:txBody>
      </p:sp>
      <p:sp>
        <p:nvSpPr>
          <p:cNvPr id="55" name="Text 34"/>
          <p:cNvSpPr txBox="1"/>
          <p:nvPr/>
        </p:nvSpPr>
        <p:spPr>
          <a:xfrm>
            <a:off x="4709159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dodatkowe wydarzenia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Rekordowe spotkanie Wroc.NET - ilustracja" descr="Rekordowe spotkanie Wroc.NET - ilustracja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Shape 3"/>
          <p:cNvSpPr/>
          <p:nvPr/>
        </p:nvSpPr>
        <p:spPr>
          <a:xfrm>
            <a:off x="-1" y="0"/>
            <a:ext cx="7178042" cy="6858000"/>
          </a:xfrm>
          <a:prstGeom prst="rect">
            <a:avLst/>
          </a:prstGeom>
          <a:solidFill>
            <a:srgbClr val="160E22">
              <a:alpha val="92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59" name="Text 5"/>
          <p:cNvSpPr txBox="1"/>
          <p:nvPr/>
        </p:nvSpPr>
        <p:spPr>
          <a:xfrm>
            <a:off x="713231" y="361995"/>
            <a:ext cx="60350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REKORDOWE SPOTKANIE WROC.NET</a:t>
            </a:r>
          </a:p>
        </p:txBody>
      </p:sp>
      <p:sp>
        <p:nvSpPr>
          <p:cNvPr id="60" name="Text 6"/>
          <p:cNvSpPr txBox="1"/>
          <p:nvPr/>
        </p:nvSpPr>
        <p:spPr>
          <a:xfrm>
            <a:off x="713231" y="763152"/>
            <a:ext cx="6035042" cy="997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000">
                <a:solidFill>
                  <a:srgbClr val="FFFFFF"/>
                </a:solidFill>
              </a:defRPr>
            </a:pPr>
            <a:r>
              <a:t>171 na 171. spotkaniu.</a:t>
            </a:r>
            <a:endParaRPr>
              <a:solidFill>
                <a:srgbClr val="000000"/>
              </a:solidFill>
            </a:endParaRPr>
          </a:p>
          <a:p>
            <a:pPr>
              <a:defRPr b="1" sz="3000">
                <a:solidFill>
                  <a:srgbClr val="FFFFFF"/>
                </a:solidFill>
              </a:defRPr>
            </a:pPr>
            <a:r>
              <a:t>Rekord!</a:t>
            </a:r>
          </a:p>
        </p:txBody>
      </p:sp>
      <p:sp>
        <p:nvSpPr>
          <p:cNvPr id="6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62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63" name="Text 10"/>
          <p:cNvSpPr txBox="1"/>
          <p:nvPr/>
        </p:nvSpPr>
        <p:spPr>
          <a:xfrm>
            <a:off x="713231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64" name="Text 11"/>
          <p:cNvSpPr txBox="1"/>
          <p:nvPr/>
        </p:nvSpPr>
        <p:spPr>
          <a:xfrm>
            <a:off x="713232" y="2748094"/>
            <a:ext cx="283464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zapisanych uczestników</a:t>
            </a:r>
          </a:p>
        </p:txBody>
      </p:sp>
      <p:sp>
        <p:nvSpPr>
          <p:cNvPr id="65" name="Text 12"/>
          <p:cNvSpPr txBox="1"/>
          <p:nvPr/>
        </p:nvSpPr>
        <p:spPr>
          <a:xfrm>
            <a:off x="3749040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chemeClr val="accent2"/>
                </a:solidFill>
              </a:defRPr>
            </a:lvl1pPr>
          </a:lstStyle>
          <a:p>
            <a:pPr/>
            <a:r>
              <a:t>+ 34</a:t>
            </a:r>
          </a:p>
        </p:txBody>
      </p:sp>
      <p:sp>
        <p:nvSpPr>
          <p:cNvPr id="66" name="Text 13"/>
          <p:cNvSpPr txBox="1"/>
          <p:nvPr/>
        </p:nvSpPr>
        <p:spPr>
          <a:xfrm>
            <a:off x="3749040" y="2748094"/>
            <a:ext cx="2834641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na liście oczekujących</a:t>
            </a:r>
          </a:p>
        </p:txBody>
      </p:sp>
      <p:sp>
        <p:nvSpPr>
          <p:cNvPr id="67" name="Text 16"/>
          <p:cNvSpPr txBox="1"/>
          <p:nvPr/>
        </p:nvSpPr>
        <p:spPr>
          <a:xfrm>
            <a:off x="713231" y="3414521"/>
            <a:ext cx="60350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WCZEŚNIEJSZE NAJLICZNIEJSZE SPOTKANIA</a:t>
            </a:r>
          </a:p>
        </p:txBody>
      </p:sp>
      <p:sp>
        <p:nvSpPr>
          <p:cNvPr id="68" name="Text 20"/>
          <p:cNvSpPr txBox="1"/>
          <p:nvPr/>
        </p:nvSpPr>
        <p:spPr>
          <a:xfrm>
            <a:off x="713231" y="3778686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165</a:t>
            </a:r>
          </a:p>
        </p:txBody>
      </p:sp>
      <p:sp>
        <p:nvSpPr>
          <p:cNvPr id="69" name="Text 21"/>
          <p:cNvSpPr txBox="1"/>
          <p:nvPr/>
        </p:nvSpPr>
        <p:spPr>
          <a:xfrm>
            <a:off x="1920239" y="3770651"/>
            <a:ext cx="46634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TPL Dataflow, Pamięć w .NET</a:t>
            </a:r>
          </a:p>
        </p:txBody>
      </p:sp>
      <p:sp>
        <p:nvSpPr>
          <p:cNvPr id="70" name="Text 22"/>
          <p:cNvSpPr txBox="1"/>
          <p:nvPr/>
        </p:nvSpPr>
        <p:spPr>
          <a:xfrm>
            <a:off x="1920239" y="4091177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100. spotkanie · 20.06.2017</a:t>
            </a:r>
          </a:p>
        </p:txBody>
      </p:sp>
      <p:sp>
        <p:nvSpPr>
          <p:cNvPr id="71" name="Text 23"/>
          <p:cNvSpPr txBox="1"/>
          <p:nvPr/>
        </p:nvSpPr>
        <p:spPr>
          <a:xfrm>
            <a:off x="713231" y="4446198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158</a:t>
            </a:r>
          </a:p>
        </p:txBody>
      </p:sp>
      <p:sp>
        <p:nvSpPr>
          <p:cNvPr id="72" name="Text 24"/>
          <p:cNvSpPr txBox="1"/>
          <p:nvPr/>
        </p:nvSpPr>
        <p:spPr>
          <a:xfrm>
            <a:off x="1920239" y="4438163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CQRS w trzech odsłonach</a:t>
            </a:r>
          </a:p>
        </p:txBody>
      </p:sp>
      <p:sp>
        <p:nvSpPr>
          <p:cNvPr id="73" name="Text 25"/>
          <p:cNvSpPr txBox="1"/>
          <p:nvPr/>
        </p:nvSpPr>
        <p:spPr>
          <a:xfrm>
            <a:off x="1920239" y="4758689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75. spotkanie · 11.03.2015</a:t>
            </a:r>
          </a:p>
        </p:txBody>
      </p:sp>
      <p:sp>
        <p:nvSpPr>
          <p:cNvPr id="74" name="Text 26"/>
          <p:cNvSpPr txBox="1"/>
          <p:nvPr/>
        </p:nvSpPr>
        <p:spPr>
          <a:xfrm>
            <a:off x="713231" y="5113710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145</a:t>
            </a:r>
          </a:p>
        </p:txBody>
      </p:sp>
      <p:sp>
        <p:nvSpPr>
          <p:cNvPr id="75" name="Text 27"/>
          <p:cNvSpPr txBox="1"/>
          <p:nvPr/>
        </p:nvSpPr>
        <p:spPr>
          <a:xfrm>
            <a:off x="1920239" y="5105676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Microservices, Lightning talki</a:t>
            </a:r>
          </a:p>
        </p:txBody>
      </p:sp>
      <p:sp>
        <p:nvSpPr>
          <p:cNvPr id="76" name="Text 28"/>
          <p:cNvSpPr txBox="1"/>
          <p:nvPr/>
        </p:nvSpPr>
        <p:spPr>
          <a:xfrm>
            <a:off x="1920239" y="5426201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86. spotkanie · 09.03.2016</a:t>
            </a:r>
          </a:p>
        </p:txBody>
      </p:sp>
      <p:sp>
        <p:nvSpPr>
          <p:cNvPr id="77" name="Text 30"/>
          <p:cNvSpPr txBox="1"/>
          <p:nvPr/>
        </p:nvSpPr>
        <p:spPr>
          <a:xfrm>
            <a:off x="713231" y="5834748"/>
            <a:ext cx="6035042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400">
                <a:solidFill>
                  <a:schemeClr val="accent2"/>
                </a:solidFill>
              </a:defRPr>
            </a:pPr>
            <a:r>
              <a:t>205 osób chce być częścią tego spotkania.</a:t>
            </a:r>
            <a:endParaRPr>
              <a:solidFill>
                <a:srgbClr val="000000"/>
              </a:solidFill>
            </a:endParaRPr>
          </a:p>
          <a:p>
            <a:pPr>
              <a:defRPr b="1" sz="1400">
                <a:solidFill>
                  <a:schemeClr val="accent2"/>
                </a:solidFill>
              </a:defRPr>
            </a:pPr>
            <a:r>
              <a:t>Dziękujemy!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80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81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PARTNER STRATEGICZNY</a:t>
            </a:r>
          </a:p>
        </p:txBody>
      </p:sp>
      <p:sp>
        <p:nvSpPr>
          <p:cNvPr id="82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Wspiera nas Devstyle</a:t>
            </a:r>
          </a:p>
        </p:txBody>
      </p:sp>
      <p:sp>
        <p:nvSpPr>
          <p:cNvPr id="83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84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86" name="Text 10"/>
          <p:cNvSpPr txBox="1"/>
          <p:nvPr/>
        </p:nvSpPr>
        <p:spPr>
          <a:xfrm>
            <a:off x="713231" y="1984248"/>
            <a:ext cx="5120642" cy="922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700">
                <a:solidFill>
                  <a:schemeClr val="accent1"/>
                </a:solidFill>
              </a:defRPr>
            </a:pPr>
            <a:r>
              <a:t>DZIĘKUJEMY ZA WSPARCIE</a:t>
            </a:r>
            <a:endParaRPr>
              <a:solidFill>
                <a:srgbClr val="000000"/>
              </a:solidFill>
            </a:endParaRPr>
          </a:p>
          <a:p>
            <a:pPr>
              <a:defRPr b="1" sz="2700">
                <a:solidFill>
                  <a:schemeClr val="accent1"/>
                </a:solidFill>
              </a:defRPr>
            </a:pPr>
            <a:r>
              <a:t>WROC.NET</a:t>
            </a:r>
          </a:p>
        </p:txBody>
      </p:sp>
      <p:sp>
        <p:nvSpPr>
          <p:cNvPr id="87" name="Text 11"/>
          <p:cNvSpPr txBox="1"/>
          <p:nvPr/>
        </p:nvSpPr>
        <p:spPr>
          <a:xfrm>
            <a:off x="713232" y="3291840"/>
            <a:ext cx="5230368" cy="6972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900">
                <a:solidFill>
                  <a:srgbClr val="171219"/>
                </a:solidFill>
              </a:defRPr>
            </a:pPr>
            <a:r>
              <a:t>Devstyle jest partnerem strategicznym</a:t>
            </a:r>
            <a:endParaRPr>
              <a:solidFill>
                <a:srgbClr val="000000"/>
              </a:solidFill>
            </a:endParaRPr>
          </a:p>
          <a:p>
            <a:pPr>
              <a:defRPr sz="1900">
                <a:solidFill>
                  <a:srgbClr val="171219"/>
                </a:solidFill>
              </a:defRPr>
            </a:pPr>
            <a:r>
              <a:t>naszej społeczności.</a:t>
            </a:r>
          </a:p>
        </p:txBody>
      </p:sp>
      <p:sp>
        <p:nvSpPr>
          <p:cNvPr id="88" name="Shape 14"/>
          <p:cNvSpPr/>
          <p:nvPr/>
        </p:nvSpPr>
        <p:spPr>
          <a:xfrm>
            <a:off x="6656831" y="1828799"/>
            <a:ext cx="4535425" cy="3794761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89" name="Logo Devstyle" descr="Logo Devstyl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31735" y="3081527"/>
            <a:ext cx="3785617" cy="758953"/>
          </a:xfrm>
          <a:prstGeom prst="rect">
            <a:avLst/>
          </a:prstGeom>
          <a:ln w="12700">
            <a:miter lim="400000"/>
          </a:ln>
        </p:spPr>
      </p:pic>
      <p:sp>
        <p:nvSpPr>
          <p:cNvPr id="90" name="Text 16"/>
          <p:cNvSpPr txBox="1"/>
          <p:nvPr/>
        </p:nvSpPr>
        <p:spPr>
          <a:xfrm>
            <a:off x="713231" y="4095749"/>
            <a:ext cx="51206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5E5264"/>
                </a:solidFill>
              </a:defRPr>
            </a:lvl1pPr>
          </a:lstStyle>
          <a:p>
            <a:pPr/>
            <a:r>
              <a:t>PARTNERZY WSPIERAJĄCY</a:t>
            </a:r>
          </a:p>
        </p:txBody>
      </p:sp>
      <p:pic>
        <p:nvPicPr>
          <p:cNvPr id="91" name="Logo Helion" descr="Logo Heli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3231" y="4434840"/>
            <a:ext cx="1463041" cy="484633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ext 18"/>
          <p:cNvSpPr txBox="1"/>
          <p:nvPr/>
        </p:nvSpPr>
        <p:spPr>
          <a:xfrm>
            <a:off x="713231" y="4915706"/>
            <a:ext cx="173736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partner nagród</a:t>
            </a:r>
          </a:p>
        </p:txBody>
      </p:sp>
      <p:pic>
        <p:nvPicPr>
          <p:cNvPr id="93" name="Logo hued.me" descr="Logo hued.m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04872" y="4471415"/>
            <a:ext cx="420624" cy="420625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Text 20"/>
          <p:cNvSpPr txBox="1"/>
          <p:nvPr/>
        </p:nvSpPr>
        <p:spPr>
          <a:xfrm>
            <a:off x="2404872" y="4915706"/>
            <a:ext cx="237744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hued.me — partner medialny</a:t>
            </a:r>
          </a:p>
        </p:txBody>
      </p:sp>
      <p:sp>
        <p:nvSpPr>
          <p:cNvPr id="95" name="Text 13"/>
          <p:cNvSpPr txBox="1"/>
          <p:nvPr/>
        </p:nvSpPr>
        <p:spPr>
          <a:xfrm>
            <a:off x="713231" y="5357135"/>
            <a:ext cx="51206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https://devstyle.pl/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SEZON 2026/2027</a:t>
            </a:r>
          </a:p>
        </p:txBody>
      </p:sp>
      <p:sp>
        <p:nvSpPr>
          <p:cNvPr id="10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Spotykamy się regularnie</a:t>
            </a:r>
          </a:p>
        </p:txBody>
      </p:sp>
      <p:sp>
        <p:nvSpPr>
          <p:cNvPr id="10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0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04" name="Text 10"/>
          <p:cNvSpPr txBox="1"/>
          <p:nvPr/>
        </p:nvSpPr>
        <p:spPr>
          <a:xfrm>
            <a:off x="713231" y="1778483"/>
            <a:ext cx="10515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5E5264"/>
                </a:solidFill>
              </a:defRPr>
            </a:lvl1pPr>
          </a:lstStyle>
          <a:p>
            <a:pPr/>
            <a:r>
              <a:t>Trzeci wtorek miesiąca. Dzisiaj wyjątkowo zaczynamy o 18:00.</a:t>
            </a:r>
          </a:p>
        </p:txBody>
      </p:sp>
      <p:sp>
        <p:nvSpPr>
          <p:cNvPr id="105" name="Line 11"/>
          <p:cNvSpPr/>
          <p:nvPr/>
        </p:nvSpPr>
        <p:spPr>
          <a:xfrm>
            <a:off x="1243584" y="3081527"/>
            <a:ext cx="9701785" cy="1"/>
          </a:xfrm>
          <a:prstGeom prst="line">
            <a:avLst/>
          </a:prstGeom>
          <a:ln w="254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6" name="Circle 20"/>
          <p:cNvSpPr/>
          <p:nvPr/>
        </p:nvSpPr>
        <p:spPr>
          <a:xfrm>
            <a:off x="2496311" y="2862072"/>
            <a:ext cx="438913" cy="438912"/>
          </a:xfrm>
          <a:prstGeom prst="ellipse">
            <a:avLst/>
          </a:prstGeom>
          <a:solidFill>
            <a:srgbClr val="D51A96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7" name="Text 21"/>
          <p:cNvSpPr txBox="1"/>
          <p:nvPr/>
        </p:nvSpPr>
        <p:spPr>
          <a:xfrm>
            <a:off x="1792223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D51A96"/>
                </a:solidFill>
              </a:defRPr>
            </a:lvl1pPr>
          </a:lstStyle>
          <a:p>
            <a:pPr/>
            <a:r>
              <a:t>20 PAŹ</a:t>
            </a:r>
          </a:p>
        </p:txBody>
      </p:sp>
      <p:sp>
        <p:nvSpPr>
          <p:cNvPr id="108" name="Text 22"/>
          <p:cNvSpPr txBox="1"/>
          <p:nvPr/>
        </p:nvSpPr>
        <p:spPr>
          <a:xfrm>
            <a:off x="1792223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5E5264"/>
                </a:solidFill>
              </a:defRPr>
            </a:lvl1pPr>
          </a:lstStyle>
          <a:p>
            <a:pPr/>
            <a:r>
              <a:t>dzisiaj · 18:00</a:t>
            </a:r>
          </a:p>
        </p:txBody>
      </p:sp>
      <p:sp>
        <p:nvSpPr>
          <p:cNvPr id="109" name="Circle 23"/>
          <p:cNvSpPr/>
          <p:nvPr/>
        </p:nvSpPr>
        <p:spPr>
          <a:xfrm>
            <a:off x="578815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0" name="Text 24"/>
          <p:cNvSpPr txBox="1"/>
          <p:nvPr/>
        </p:nvSpPr>
        <p:spPr>
          <a:xfrm>
            <a:off x="508406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17 LIS</a:t>
            </a:r>
          </a:p>
        </p:txBody>
      </p:sp>
      <p:sp>
        <p:nvSpPr>
          <p:cNvPr id="111" name="Text 25"/>
          <p:cNvSpPr txBox="1"/>
          <p:nvPr/>
        </p:nvSpPr>
        <p:spPr>
          <a:xfrm>
            <a:off x="508406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12" name="Circle 26"/>
          <p:cNvSpPr/>
          <p:nvPr/>
        </p:nvSpPr>
        <p:spPr>
          <a:xfrm>
            <a:off x="907999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3" name="Text 27"/>
          <p:cNvSpPr txBox="1"/>
          <p:nvPr/>
        </p:nvSpPr>
        <p:spPr>
          <a:xfrm>
            <a:off x="837590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15 GRU</a:t>
            </a:r>
          </a:p>
        </p:txBody>
      </p:sp>
      <p:sp>
        <p:nvSpPr>
          <p:cNvPr id="114" name="Text 28"/>
          <p:cNvSpPr txBox="1"/>
          <p:nvPr/>
        </p:nvSpPr>
        <p:spPr>
          <a:xfrm>
            <a:off x="837590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15" name="Shape 40"/>
          <p:cNvSpPr/>
          <p:nvPr/>
        </p:nvSpPr>
        <p:spPr>
          <a:xfrm>
            <a:off x="1847088" y="4636008"/>
            <a:ext cx="8485632" cy="804673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6" name="Text 41"/>
          <p:cNvSpPr txBox="1"/>
          <p:nvPr/>
        </p:nvSpPr>
        <p:spPr>
          <a:xfrm>
            <a:off x="2057400" y="4826783"/>
            <a:ext cx="8065007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PUB WĘDRÓWKI  ·  UL. PODWALE 37/38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NASZE MIEJSCE</a:t>
            </a:r>
          </a:p>
        </p:txBody>
      </p:sp>
      <p:sp>
        <p:nvSpPr>
          <p:cNvPr id="12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Pub Wędrówki</a:t>
            </a:r>
          </a:p>
        </p:txBody>
      </p:sp>
      <p:sp>
        <p:nvSpPr>
          <p:cNvPr id="12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2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25" name="Text 11"/>
          <p:cNvSpPr txBox="1"/>
          <p:nvPr/>
        </p:nvSpPr>
        <p:spPr>
          <a:xfrm>
            <a:off x="713231" y="2493330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171219"/>
                </a:solidFill>
              </a:defRPr>
            </a:lvl1pPr>
          </a:lstStyle>
          <a:p>
            <a:pPr/>
            <a:r>
              <a:t>Nie ma pizzy.</a:t>
            </a:r>
          </a:p>
        </p:txBody>
      </p:sp>
      <p:sp>
        <p:nvSpPr>
          <p:cNvPr id="126" name="Text 12"/>
          <p:cNvSpPr txBox="1"/>
          <p:nvPr/>
        </p:nvSpPr>
        <p:spPr>
          <a:xfrm>
            <a:off x="713231" y="3261426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chemeClr val="accent1"/>
                </a:solidFill>
              </a:defRPr>
            </a:lvl1pPr>
          </a:lstStyle>
          <a:p>
            <a:pPr/>
            <a:r>
              <a:t>Bar działa.</a:t>
            </a:r>
          </a:p>
        </p:txBody>
      </p:sp>
      <p:sp>
        <p:nvSpPr>
          <p:cNvPr id="127" name="Shape 13"/>
          <p:cNvSpPr/>
          <p:nvPr/>
        </p:nvSpPr>
        <p:spPr>
          <a:xfrm>
            <a:off x="8723376" y="2432304"/>
            <a:ext cx="2404873" cy="195681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8" name="Text 14"/>
          <p:cNvSpPr txBox="1"/>
          <p:nvPr/>
        </p:nvSpPr>
        <p:spPr>
          <a:xfrm>
            <a:off x="8979407" y="2991402"/>
            <a:ext cx="1892808" cy="747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100">
                <a:solidFill>
                  <a:srgbClr val="FFFFFF"/>
                </a:solidFill>
              </a:defRPr>
            </a:pPr>
            <a:r>
              <a:t>PIWO</a:t>
            </a:r>
            <a:endParaRPr>
              <a:solidFill>
                <a:srgbClr val="000000"/>
              </a:solidFill>
            </a:endParaRPr>
          </a:p>
          <a:p>
            <a:pPr>
              <a:defRPr b="1" sz="2100">
                <a:solidFill>
                  <a:srgbClr val="FFFFFF"/>
                </a:solidFill>
              </a:defRPr>
            </a:pPr>
            <a:r>
              <a:t>I NAPOJE</a:t>
            </a:r>
          </a:p>
        </p:txBody>
      </p:sp>
      <p:sp>
        <p:nvSpPr>
          <p:cNvPr id="129" name="Text 16"/>
          <p:cNvSpPr txBox="1"/>
          <p:nvPr/>
        </p:nvSpPr>
        <p:spPr>
          <a:xfrm>
            <a:off x="713232" y="4675907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Na miejscu nie zamówimy jedzenia.</a:t>
            </a:r>
          </a:p>
        </p:txBody>
      </p:sp>
      <p:sp>
        <p:nvSpPr>
          <p:cNvPr id="130" name="Text 17"/>
          <p:cNvSpPr txBox="1"/>
          <p:nvPr/>
        </p:nvSpPr>
        <p:spPr>
          <a:xfrm>
            <a:off x="713231" y="5176910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chemeClr val="accent1"/>
                </a:solidFill>
              </a:defRPr>
            </a:lvl1pPr>
          </a:lstStyle>
          <a:p>
            <a:pPr/>
            <a:r>
              <a:t>Pierwsze 80 napojów na koszt sponsora. Kto pierwszy, ten lepszy!</a:t>
            </a:r>
          </a:p>
        </p:txBody>
      </p:sp>
      <p:sp>
        <p:nvSpPr>
          <p:cNvPr id="131" name="Text 18"/>
          <p:cNvSpPr txBox="1"/>
          <p:nvPr/>
        </p:nvSpPr>
        <p:spPr>
          <a:xfrm>
            <a:off x="713232" y="5663459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171219"/>
                </a:solidFill>
              </a:defRPr>
            </a:lvl1pPr>
          </a:lstStyle>
          <a:p>
            <a:pPr/>
            <a:r>
              <a:t>Po części oficjalnej zostajemy na rozmowy.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 KONIEC SPOTKANIA</a:t>
            </a:r>
          </a:p>
        </p:txBody>
      </p:sp>
      <p:sp>
        <p:nvSpPr>
          <p:cNvPr id="13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Lista obecności = udział w losowaniu</a:t>
            </a:r>
          </a:p>
        </p:txBody>
      </p:sp>
      <p:sp>
        <p:nvSpPr>
          <p:cNvPr id="13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3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40" name="Text 10"/>
          <p:cNvSpPr txBox="1"/>
          <p:nvPr/>
        </p:nvSpPr>
        <p:spPr>
          <a:xfrm>
            <a:off x="713232" y="1972261"/>
            <a:ext cx="4983480" cy="6274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400">
                <a:solidFill>
                  <a:schemeClr val="accent1"/>
                </a:solidFill>
              </a:defRPr>
            </a:lvl1pPr>
          </a:lstStyle>
          <a:p>
            <a:pPr/>
            <a:r>
              <a:t>WPISUJESZ SIĘ</a:t>
            </a:r>
          </a:p>
        </p:txBody>
      </p:sp>
      <p:sp>
        <p:nvSpPr>
          <p:cNvPr id="141" name="Text 11"/>
          <p:cNvSpPr txBox="1"/>
          <p:nvPr/>
        </p:nvSpPr>
        <p:spPr>
          <a:xfrm>
            <a:off x="713231" y="2759754"/>
            <a:ext cx="5852162" cy="442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171219"/>
                </a:solidFill>
              </a:defRPr>
            </a:lvl1pPr>
          </a:lstStyle>
          <a:p>
            <a:pPr/>
            <a:r>
              <a:t>Bierzesz udział w losowaniu nagród.</a:t>
            </a:r>
          </a:p>
        </p:txBody>
      </p:sp>
      <p:sp>
        <p:nvSpPr>
          <p:cNvPr id="142" name="Shape 12"/>
          <p:cNvSpPr/>
          <p:nvPr/>
        </p:nvSpPr>
        <p:spPr>
          <a:xfrm>
            <a:off x="6931152" y="1856231"/>
            <a:ext cx="4261105" cy="331013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3" name="Text 13"/>
          <p:cNvSpPr txBox="1"/>
          <p:nvPr/>
        </p:nvSpPr>
        <p:spPr>
          <a:xfrm>
            <a:off x="7278623" y="2300038"/>
            <a:ext cx="356616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D51A96"/>
                </a:solidFill>
              </a:defRPr>
            </a:lvl1pPr>
          </a:lstStyle>
          <a:p>
            <a:pPr/>
            <a:r>
              <a:t>LOSOWANIE</a:t>
            </a:r>
          </a:p>
        </p:txBody>
      </p:sp>
      <p:sp>
        <p:nvSpPr>
          <p:cNvPr id="144" name="Text 14"/>
          <p:cNvSpPr txBox="1"/>
          <p:nvPr/>
        </p:nvSpPr>
        <p:spPr>
          <a:xfrm>
            <a:off x="7278623" y="2924484"/>
            <a:ext cx="3566160" cy="972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900">
                <a:solidFill>
                  <a:srgbClr val="FFFFFF"/>
                </a:solidFill>
              </a:defRPr>
            </a:pPr>
            <a:r>
              <a:t>NA KONIEC</a:t>
            </a:r>
            <a:endParaRPr>
              <a:solidFill>
                <a:srgbClr val="000000"/>
              </a:solidFill>
            </a:endParaRPr>
          </a:p>
          <a:p>
            <a:pPr>
              <a:defRPr b="1" sz="2900">
                <a:solidFill>
                  <a:srgbClr val="FFFFFF"/>
                </a:solidFill>
              </a:defRPr>
            </a:pPr>
            <a:r>
              <a:t>SPOTKANIA</a:t>
            </a:r>
          </a:p>
        </p:txBody>
      </p:sp>
      <p:sp>
        <p:nvSpPr>
          <p:cNvPr id="145" name="Text 15"/>
          <p:cNvSpPr txBox="1"/>
          <p:nvPr/>
        </p:nvSpPr>
        <p:spPr>
          <a:xfrm>
            <a:off x="713231" y="4041647"/>
            <a:ext cx="5870450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>
                <a:solidFill>
                  <a:srgbClr val="5E5264"/>
                </a:solidFill>
              </a:defRPr>
            </a:pPr>
            <a:r>
              <a:t>Do wygrania są różne nagrody.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5E5264"/>
                </a:solidFill>
              </a:defRPr>
            </a:pPr>
            <a:r>
              <a:t>Najczęściej książki od sponsorów.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NOWOŚĆ</a:t>
            </a:r>
          </a:p>
        </p:txBody>
      </p:sp>
      <p:sp>
        <p:nvSpPr>
          <p:cNvPr id="15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Nowe wrocnet.org</a:t>
            </a:r>
          </a:p>
        </p:txBody>
      </p:sp>
      <p:sp>
        <p:nvSpPr>
          <p:cNvPr id="15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15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54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55" name="Strona główna wrocnet.org" descr="Strona główna wrocnet.or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156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7" name="Text 13"/>
          <p:cNvSpPr txBox="1"/>
          <p:nvPr/>
        </p:nvSpPr>
        <p:spPr>
          <a:xfrm>
            <a:off x="8613647" y="2189824"/>
            <a:ext cx="2304289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D51A96"/>
                </a:solidFill>
              </a:defRPr>
            </a:lvl1pPr>
          </a:lstStyle>
          <a:p>
            <a:pPr/>
            <a:r>
              <a:t>PROŚCIEJ</a:t>
            </a:r>
          </a:p>
        </p:txBody>
      </p:sp>
      <p:sp>
        <p:nvSpPr>
          <p:cNvPr id="158" name="Text 14"/>
          <p:cNvSpPr txBox="1"/>
          <p:nvPr/>
        </p:nvSpPr>
        <p:spPr>
          <a:xfrm>
            <a:off x="8613647" y="2834639"/>
            <a:ext cx="2267713" cy="1256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1900">
                <a:solidFill>
                  <a:srgbClr val="171219"/>
                </a:solidFill>
              </a:defRPr>
            </a:pPr>
            <a:r>
              <a:t>Spotkania, ludzie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i historia grupy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w jednym miejscu.</a:t>
            </a:r>
          </a:p>
        </p:txBody>
      </p:sp>
      <p:sp>
        <p:nvSpPr>
          <p:cNvPr id="159" name="Text 16"/>
          <p:cNvSpPr txBox="1"/>
          <p:nvPr/>
        </p:nvSpPr>
        <p:spPr>
          <a:xfrm>
            <a:off x="8613647" y="4991375"/>
            <a:ext cx="2267713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60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3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65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Masz temat? Zostań prelegentem</a:t>
            </a:r>
          </a:p>
        </p:txBody>
      </p:sp>
      <p:sp>
        <p:nvSpPr>
          <p:cNvPr id="16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167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69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70" name="Strona Zostań prelegentem" descr="Strona Zostań prelegentem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Grafika mikrofonu" descr="Grafika mikrofon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21040" y="1847088"/>
            <a:ext cx="2871217" cy="3877057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Shape 16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chemeClr val="accent1">
              <a:alpha val="70000"/>
            </a:scheme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3" name="Text 13"/>
          <p:cNvSpPr txBox="1"/>
          <p:nvPr/>
        </p:nvSpPr>
        <p:spPr>
          <a:xfrm>
            <a:off x="8613647" y="2220397"/>
            <a:ext cx="2304289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MASZ POMYSŁ?</a:t>
            </a:r>
          </a:p>
        </p:txBody>
      </p:sp>
      <p:sp>
        <p:nvSpPr>
          <p:cNvPr id="174" name="Text 14"/>
          <p:cNvSpPr txBox="1"/>
          <p:nvPr/>
        </p:nvSpPr>
        <p:spPr>
          <a:xfrm>
            <a:off x="8613647" y="2834639"/>
            <a:ext cx="2286001" cy="10142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Nie musisz mieć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FFFFFF"/>
                </a:solidFill>
              </a:defRPr>
            </a:pPr>
            <a:r>
              <a:t>gotowej prezentacji.</a:t>
            </a:r>
          </a:p>
        </p:txBody>
      </p:sp>
      <p:sp>
        <p:nvSpPr>
          <p:cNvPr id="175" name="Text 15"/>
          <p:cNvSpPr txBox="1"/>
          <p:nvPr/>
        </p:nvSpPr>
        <p:spPr>
          <a:xfrm>
            <a:off x="8613647" y="4142232"/>
            <a:ext cx="2267713" cy="59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Zgłoś temat.</a:t>
            </a:r>
            <a:endParaRPr>
              <a:solidFill>
                <a:srgbClr val="000000"/>
              </a:solidFill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Pomożemy dalej.</a:t>
            </a:r>
          </a:p>
        </p:txBody>
      </p:sp>
      <p:sp>
        <p:nvSpPr>
          <p:cNvPr id="176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8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Poznaj organizatorów</a:t>
            </a:r>
          </a:p>
        </p:txBody>
      </p:sp>
      <p:sp>
        <p:nvSpPr>
          <p:cNvPr id="18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8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85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6" name="Strona Organizatorzy" descr="Strona Organizatorzy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8" name="Text 13"/>
          <p:cNvSpPr txBox="1"/>
          <p:nvPr/>
        </p:nvSpPr>
        <p:spPr>
          <a:xfrm>
            <a:off x="8613647" y="2212848"/>
            <a:ext cx="2304289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LUDZIE ZA WROC.NET</a:t>
            </a:r>
          </a:p>
        </p:txBody>
      </p:sp>
      <p:sp>
        <p:nvSpPr>
          <p:cNvPr id="189" name="Text 14"/>
          <p:cNvSpPr txBox="1"/>
          <p:nvPr/>
        </p:nvSpPr>
        <p:spPr>
          <a:xfrm>
            <a:off x="8613647" y="3136392"/>
            <a:ext cx="2267713" cy="1205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>
                <a:solidFill>
                  <a:srgbClr val="171219"/>
                </a:solidFill>
              </a:defRPr>
            </a:pPr>
            <a:r>
              <a:t>Poznaj aktualnych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171219"/>
                </a:solidFill>
              </a:defRPr>
            </a:pPr>
            <a:r>
              <a:t>i byłych organizatorów społeczności.</a:t>
            </a:r>
          </a:p>
        </p:txBody>
      </p:sp>
      <p:sp>
        <p:nvSpPr>
          <p:cNvPr id="190" name="Text 16"/>
          <p:cNvSpPr txBox="1"/>
          <p:nvPr/>
        </p:nvSpPr>
        <p:spPr>
          <a:xfrm>
            <a:off x="8613647" y="5037581"/>
            <a:ext cx="2267713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wrocnet.org/organizatorzy/</a:t>
            </a:r>
          </a:p>
        </p:txBody>
      </p:sp>
      <p:sp>
        <p:nvSpPr>
          <p:cNvPr id="191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BĄDŹMY W KONTAKCIE</a:t>
            </a:r>
          </a:p>
        </p:txBody>
      </p:sp>
      <p:sp>
        <p:nvSpPr>
          <p:cNvPr id="19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Dołącz do społeczności na WhatsAppie</a:t>
            </a:r>
          </a:p>
        </p:txBody>
      </p:sp>
      <p:sp>
        <p:nvSpPr>
          <p:cNvPr id="19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9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00" name="Shape 10"/>
          <p:cNvSpPr/>
          <p:nvPr/>
        </p:nvSpPr>
        <p:spPr>
          <a:xfrm>
            <a:off x="713231" y="1837943"/>
            <a:ext cx="3959354" cy="3959354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01" name="Kod QR społeczności WhatsApp" descr="Kod QR społeczności WhatsApp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7" y="1965960"/>
            <a:ext cx="3703322" cy="370332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2" name="Grafika panelu" descr="Grafika panel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56047" y="1837944"/>
            <a:ext cx="6236209" cy="3959353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Text 13"/>
          <p:cNvSpPr txBox="1"/>
          <p:nvPr/>
        </p:nvSpPr>
        <p:spPr>
          <a:xfrm>
            <a:off x="5358384" y="2293895"/>
            <a:ext cx="5394961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D51A96"/>
                </a:solidFill>
              </a:defRPr>
            </a:lvl1pPr>
          </a:lstStyle>
          <a:p>
            <a:pPr/>
            <a:r>
              <a:t>ZESKANUJ KOD</a:t>
            </a:r>
          </a:p>
        </p:txBody>
      </p:sp>
      <p:sp>
        <p:nvSpPr>
          <p:cNvPr id="204" name="Text 14"/>
          <p:cNvSpPr txBox="1"/>
          <p:nvPr/>
        </p:nvSpPr>
        <p:spPr>
          <a:xfrm>
            <a:off x="5358384" y="2809398"/>
            <a:ext cx="5248657" cy="1147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500">
                <a:solidFill>
                  <a:srgbClr val="FFFFFF"/>
                </a:solidFill>
              </a:defRPr>
            </a:pPr>
            <a:r>
              <a:t>Wrocławska</a:t>
            </a:r>
            <a:endParaRPr>
              <a:solidFill>
                <a:srgbClr val="000000"/>
              </a:solidFill>
            </a:endParaRPr>
          </a:p>
          <a:p>
            <a:pPr>
              <a:defRPr b="1" sz="3500">
                <a:solidFill>
                  <a:srgbClr val="FFFFFF"/>
                </a:solidFill>
              </a:defRPr>
            </a:pPr>
            <a:r>
              <a:t>Grupa .NET</a:t>
            </a:r>
          </a:p>
        </p:txBody>
      </p:sp>
      <p:sp>
        <p:nvSpPr>
          <p:cNvPr id="205" name="Text 15"/>
          <p:cNvSpPr txBox="1"/>
          <p:nvPr/>
        </p:nvSpPr>
        <p:spPr>
          <a:xfrm>
            <a:off x="5358384" y="4288535"/>
            <a:ext cx="5047489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Ogłoszenia, rozmowy i kontakt między spotkaniami.</a:t>
            </a:r>
          </a:p>
        </p:txBody>
      </p:sp>
      <p:sp>
        <p:nvSpPr>
          <p:cNvPr id="206" name="Text 17"/>
          <p:cNvSpPr txBox="1"/>
          <p:nvPr/>
        </p:nvSpPr>
        <p:spPr>
          <a:xfrm>
            <a:off x="5358384" y="5311554"/>
            <a:ext cx="5047489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wrocnet.org/whatsapp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PO CZĘŚCI OFICJALNEJ</a:t>
            </a:r>
          </a:p>
        </p:txBody>
      </p:sp>
      <p:sp>
        <p:nvSpPr>
          <p:cNvPr id="21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Zostajemy. Bo tak trzeba.</a:t>
            </a:r>
          </a:p>
        </p:txBody>
      </p:sp>
      <p:sp>
        <p:nvSpPr>
          <p:cNvPr id="21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1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15" name="Text 10"/>
          <p:cNvSpPr txBox="1"/>
          <p:nvPr/>
        </p:nvSpPr>
        <p:spPr>
          <a:xfrm>
            <a:off x="713232" y="1814068"/>
            <a:ext cx="9966960" cy="5781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171219"/>
                </a:solidFill>
              </a:defRPr>
            </a:lvl1pPr>
          </a:lstStyle>
          <a:p>
            <a:pPr/>
            <a:r>
              <a:t>🍺 Piwo. 💬 Rozmowy. 🤝 Networking.</a:t>
            </a:r>
          </a:p>
        </p:txBody>
      </p:sp>
      <p:sp>
        <p:nvSpPr>
          <p:cNvPr id="216" name="Text 11"/>
          <p:cNvSpPr txBox="1"/>
          <p:nvPr/>
        </p:nvSpPr>
        <p:spPr>
          <a:xfrm>
            <a:off x="713232" y="2480862"/>
            <a:ext cx="9966960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chemeClr val="accent1"/>
                </a:solidFill>
              </a:defRPr>
            </a:lvl1pPr>
          </a:lstStyle>
          <a:p>
            <a:pPr/>
            <a:r>
              <a:t>A czasem — całkiem serio — nowa praca.</a:t>
            </a:r>
          </a:p>
        </p:txBody>
      </p:sp>
      <p:sp>
        <p:nvSpPr>
          <p:cNvPr id="217" name="Shape 12"/>
          <p:cNvSpPr/>
          <p:nvPr/>
        </p:nvSpPr>
        <p:spPr>
          <a:xfrm>
            <a:off x="713232" y="3364991"/>
            <a:ext cx="9966960" cy="169164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8" name="Text 13"/>
          <p:cNvSpPr txBox="1"/>
          <p:nvPr/>
        </p:nvSpPr>
        <p:spPr>
          <a:xfrm>
            <a:off x="1005840" y="3611879"/>
            <a:ext cx="9418320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PONOĆ NAJWIĘKSZE KARIERY ZACZYNAJĄ SIĘ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PRZY BARZE, NIE NA LINKEDIN</a:t>
            </a:r>
          </a:p>
        </p:txBody>
      </p:sp>
      <p:sp>
        <p:nvSpPr>
          <p:cNvPr id="219" name="Text 14"/>
          <p:cNvSpPr txBox="1"/>
          <p:nvPr/>
        </p:nvSpPr>
        <p:spPr>
          <a:xfrm>
            <a:off x="1005840" y="4526279"/>
            <a:ext cx="9418320" cy="343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 sz="1400">
                <a:solidFill>
                  <a:srgbClr val="D51A96"/>
                </a:solidFill>
              </a:defRPr>
            </a:lvl1pPr>
          </a:lstStyle>
          <a:p>
            <a:pPr/>
            <a:r>
              <a:t>(przynajmniej tak mówią ci, którzy zostali dłużej)</a:t>
            </a:r>
          </a:p>
        </p:txBody>
      </p:sp>
      <p:sp>
        <p:nvSpPr>
          <p:cNvPr id="220" name="Text 15"/>
          <p:cNvSpPr txBox="1"/>
          <p:nvPr/>
        </p:nvSpPr>
        <p:spPr>
          <a:xfrm>
            <a:off x="713232" y="5370851"/>
            <a:ext cx="99669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Zostań chwilę dłużej — może właśnie tu jest Twoja następna okazja.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3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4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172. SPOTKANIE · 17 LISTOPADA 2026 · 18:30</a:t>
            </a:r>
          </a:p>
        </p:txBody>
      </p:sp>
      <p:sp>
        <p:nvSpPr>
          <p:cNvPr id="225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Następne spotkanie Wroc.NET</a:t>
            </a:r>
          </a:p>
        </p:txBody>
      </p:sp>
      <p:sp>
        <p:nvSpPr>
          <p:cNvPr id="22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227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29" name="Piotr Gankiewicz" descr="Piotr Gankiewicz"/>
          <p:cNvPicPr>
            <a:picLocks noChangeAspect="1"/>
          </p:cNvPicPr>
          <p:nvPr/>
        </p:nvPicPr>
        <p:blipFill>
          <a:blip r:embed="rId2">
            <a:extLst/>
          </a:blip>
          <a:srcRect l="0" t="0" r="10" b="10"/>
          <a:stretch>
            <a:fillRect/>
          </a:stretch>
        </p:blipFill>
        <p:spPr>
          <a:xfrm>
            <a:off x="9189719" y="1600199"/>
            <a:ext cx="1462882" cy="14628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30" name="Piotr Gankiewicz - panel" descr="Piotr Gankiewicz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80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31" name="Łukasz Olbromski - panel" descr="Łukasz Olbromski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1831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32" name="Łukasz Pyrzyk - panel" descr="Łukasz Pyrzyk - panel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42415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33" name="Text 10"/>
          <p:cNvSpPr txBox="1"/>
          <p:nvPr/>
        </p:nvSpPr>
        <p:spPr>
          <a:xfrm>
            <a:off x="713231" y="1735002"/>
            <a:ext cx="749808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1"/>
                </a:solidFill>
              </a:defRPr>
            </a:lvl1pPr>
          </a:lstStyle>
          <a:p>
            <a:pPr/>
            <a:r>
              <a:t>Piotr Gankiewicz</a:t>
            </a:r>
          </a:p>
        </p:txBody>
      </p:sp>
      <p:sp>
        <p:nvSpPr>
          <p:cNvPr id="234" name="Text 11"/>
          <p:cNvSpPr txBox="1"/>
          <p:nvPr/>
        </p:nvSpPr>
        <p:spPr>
          <a:xfrm>
            <a:off x="713231" y="2372358"/>
            <a:ext cx="10515601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200">
                <a:solidFill>
                  <a:srgbClr val="5E5264"/>
                </a:solidFill>
              </a:defRPr>
            </a:lvl1pPr>
          </a:lstStyle>
          <a:p>
            <a:pPr/>
            <a:r>
              <a:t>Temat: TBD</a:t>
            </a:r>
          </a:p>
        </p:txBody>
      </p:sp>
      <p:sp>
        <p:nvSpPr>
          <p:cNvPr id="235" name="Line 12"/>
          <p:cNvSpPr/>
          <p:nvPr/>
        </p:nvSpPr>
        <p:spPr>
          <a:xfrm>
            <a:off x="713232" y="3136392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6" name="Text 13"/>
          <p:cNvSpPr txBox="1"/>
          <p:nvPr/>
        </p:nvSpPr>
        <p:spPr>
          <a:xfrm>
            <a:off x="713231" y="3423318"/>
            <a:ext cx="105156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37" name="Text 14"/>
          <p:cNvSpPr txBox="1"/>
          <p:nvPr/>
        </p:nvSpPr>
        <p:spPr>
          <a:xfrm>
            <a:off x="713231" y="3950852"/>
            <a:ext cx="749808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Przyszłość .NET, Rust i AI</a:t>
            </a:r>
          </a:p>
        </p:txBody>
      </p:sp>
      <p:sp>
        <p:nvSpPr>
          <p:cNvPr id="238" name="Text 15"/>
          <p:cNvSpPr txBox="1"/>
          <p:nvPr/>
        </p:nvSpPr>
        <p:spPr>
          <a:xfrm>
            <a:off x="713231" y="4622382"/>
            <a:ext cx="7498082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000">
                <a:solidFill>
                  <a:schemeClr val="accent1"/>
                </a:solidFill>
              </a:defRPr>
            </a:pPr>
            <a:r>
              <a:t>Piotr Gankiewicz · Łukasz Olbromski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chemeClr val="accent1"/>
                </a:solidFill>
              </a:defRPr>
            </a:pPr>
            <a:r>
              <a:t>Łukasz Pyrzyk</a:t>
            </a:r>
          </a:p>
        </p:txBody>
      </p:sp>
      <p:sp>
        <p:nvSpPr>
          <p:cNvPr id="239" name="Text 16"/>
          <p:cNvSpPr txBox="1"/>
          <p:nvPr/>
        </p:nvSpPr>
        <p:spPr>
          <a:xfrm>
            <a:off x="713231" y="5297214"/>
            <a:ext cx="10515601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100">
                <a:solidFill>
                  <a:srgbClr val="5E5264"/>
                </a:solidFill>
              </a:defRPr>
            </a:lvl1pPr>
          </a:lstStyle>
          <a:p>
            <a:pPr/>
            <a:r>
              <a:t>+ uczestnicy spotkania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2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3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171. SPOTKANIE · DZISIEJSZY PROGRAM · GODZINY ORIENTACYJNE</a:t>
            </a:r>
          </a:p>
        </p:txBody>
      </p:sp>
      <p:sp>
        <p:nvSpPr>
          <p:cNvPr id="244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AI w praktyce</a:t>
            </a:r>
          </a:p>
        </p:txBody>
      </p:sp>
      <p:sp>
        <p:nvSpPr>
          <p:cNvPr id="245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246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7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48" name="Jakub Kubryński" descr="Jakub Kubryńsk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46919" y="1691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9" name="Maciej Aniserowicz" descr="Maciej Aniserowicz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646919" y="2834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50" name="Text 21"/>
          <p:cNvSpPr txBox="1"/>
          <p:nvPr/>
        </p:nvSpPr>
        <p:spPr>
          <a:xfrm>
            <a:off x="713231" y="168233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18:15</a:t>
            </a:r>
          </a:p>
        </p:txBody>
      </p:sp>
      <p:sp>
        <p:nvSpPr>
          <p:cNvPr id="251" name="Text 10"/>
          <p:cNvSpPr txBox="1"/>
          <p:nvPr/>
        </p:nvSpPr>
        <p:spPr>
          <a:xfrm>
            <a:off x="1920240" y="1657555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52" name="Text 11"/>
          <p:cNvSpPr txBox="1"/>
          <p:nvPr/>
        </p:nvSpPr>
        <p:spPr>
          <a:xfrm>
            <a:off x="1920240" y="2180680"/>
            <a:ext cx="7223760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171219"/>
                </a:solidFill>
              </a:defRPr>
            </a:lvl1pPr>
          </a:lstStyle>
          <a:p>
            <a:pPr/>
            <a:r>
              <a:t>AI Retrofit: nowe możliwości, 14 lat bagażu</a:t>
            </a:r>
          </a:p>
        </p:txBody>
      </p:sp>
      <p:sp>
        <p:nvSpPr>
          <p:cNvPr id="253" name="Line 12"/>
          <p:cNvSpPr/>
          <p:nvPr/>
        </p:nvSpPr>
        <p:spPr>
          <a:xfrm>
            <a:off x="713232" y="2743200"/>
            <a:ext cx="10479025" cy="0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" name="Text 22"/>
          <p:cNvSpPr txBox="1"/>
          <p:nvPr/>
        </p:nvSpPr>
        <p:spPr>
          <a:xfrm>
            <a:off x="713231" y="2843620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19:15</a:t>
            </a:r>
          </a:p>
        </p:txBody>
      </p:sp>
      <p:sp>
        <p:nvSpPr>
          <p:cNvPr id="255" name="Text 13"/>
          <p:cNvSpPr txBox="1"/>
          <p:nvPr/>
        </p:nvSpPr>
        <p:spPr>
          <a:xfrm>
            <a:off x="1920240" y="2818843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Maciej Aniserowicz</a:t>
            </a:r>
          </a:p>
        </p:txBody>
      </p:sp>
      <p:sp>
        <p:nvSpPr>
          <p:cNvPr id="256" name="Text 14"/>
          <p:cNvSpPr txBox="1"/>
          <p:nvPr/>
        </p:nvSpPr>
        <p:spPr>
          <a:xfrm>
            <a:off x="1920240" y="3323334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171219"/>
                </a:solidFill>
              </a:defRPr>
            </a:lvl1pPr>
          </a:lstStyle>
          <a:p>
            <a:pPr/>
            <a:r>
              <a:t>Tańczący z Agentami</a:t>
            </a:r>
          </a:p>
        </p:txBody>
      </p:sp>
      <p:sp>
        <p:nvSpPr>
          <p:cNvPr id="257" name="Line 17"/>
          <p:cNvSpPr/>
          <p:nvPr/>
        </p:nvSpPr>
        <p:spPr>
          <a:xfrm>
            <a:off x="713232" y="3977640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8" name="Text 23"/>
          <p:cNvSpPr txBox="1"/>
          <p:nvPr/>
        </p:nvSpPr>
        <p:spPr>
          <a:xfrm>
            <a:off x="713231" y="415121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20:15</a:t>
            </a:r>
          </a:p>
        </p:txBody>
      </p:sp>
      <p:sp>
        <p:nvSpPr>
          <p:cNvPr id="259" name="Text 18"/>
          <p:cNvSpPr txBox="1"/>
          <p:nvPr/>
        </p:nvSpPr>
        <p:spPr>
          <a:xfrm>
            <a:off x="1920240" y="4132578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60" name="Text 24"/>
          <p:cNvSpPr txBox="1"/>
          <p:nvPr/>
        </p:nvSpPr>
        <p:spPr>
          <a:xfrm>
            <a:off x="1920240" y="4553687"/>
            <a:ext cx="7223760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171219"/>
                </a:solidFill>
              </a:defRPr>
            </a:lvl1pPr>
          </a:lstStyle>
          <a:p>
            <a:pPr/>
            <a:r>
              <a:t>Aniserowicz x Kubryński</a:t>
            </a:r>
          </a:p>
        </p:txBody>
      </p:sp>
      <p:pic>
        <p:nvPicPr>
          <p:cNvPr id="261" name="Maciej Aniserowicz - panel" descr="Maciej Aniserowicz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235440" y="4160520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62" name="Jakub Kubryński - panel" descr="Jakub Kubryński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286999" y="4160520"/>
            <a:ext cx="868682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63" name="Text 27"/>
          <p:cNvSpPr txBox="1"/>
          <p:nvPr/>
        </p:nvSpPr>
        <p:spPr>
          <a:xfrm>
            <a:off x="713231" y="515705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21:00</a:t>
            </a:r>
          </a:p>
        </p:txBody>
      </p:sp>
      <p:sp>
        <p:nvSpPr>
          <p:cNvPr id="264" name="Text 19"/>
          <p:cNvSpPr txBox="1"/>
          <p:nvPr/>
        </p:nvSpPr>
        <p:spPr>
          <a:xfrm>
            <a:off x="1920240" y="513841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After party</a:t>
            </a:r>
          </a:p>
        </p:txBody>
      </p:sp>
      <p:sp>
        <p:nvSpPr>
          <p:cNvPr id="265" name="Text 28"/>
          <p:cNvSpPr txBox="1"/>
          <p:nvPr/>
        </p:nvSpPr>
        <p:spPr>
          <a:xfrm>
            <a:off x="713231" y="570569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22:00+</a:t>
            </a:r>
          </a:p>
        </p:txBody>
      </p:sp>
      <p:sp>
        <p:nvSpPr>
          <p:cNvPr id="266" name="Text 20"/>
          <p:cNvSpPr txBox="1"/>
          <p:nvPr/>
        </p:nvSpPr>
        <p:spPr>
          <a:xfrm>
            <a:off x="1920240" y="568705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After party after party ;)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160E22"/>
      </a:dk1>
      <a:lt1>
        <a:srgbClr val="1C2214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