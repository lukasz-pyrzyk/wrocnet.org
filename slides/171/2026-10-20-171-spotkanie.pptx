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media/image2.jpeg" ContentType="image/jpeg"/>
  <Override PartName="/ppt/media/image3.jpeg" ContentType="image/jpeg"/>
  <Override PartName="/ppt/media/image4.jpeg" ContentType="image/jpeg"/>
  <Override PartName="/ppt/media/image5.jpeg" ContentType="image/jpeg"/>
  <Override PartName="/ppt/media/image6.jpeg" ContentType="image/jpeg"/>
  <Override PartName="/ppt/media/image7.jpeg" ContentType="image/jpeg"/>
  <Override PartName="/ppt/media/image8.jpeg" ContentType="image/jpeg"/>
  <Override PartName="/ppt/media/image9.jpeg" ContentType="image/jpeg"/>
  <Override PartName="/ppt/media/image10.jpeg" ContentType="image/jpeg"/>
  <Override PartName="/ppt/media/image11.jpeg" ContentType="image/jpeg"/>
  <Override PartName="/ppt/media/image12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2CBD5"/>
          </a:solidFill>
        </a:fill>
      </a:tcStyle>
    </a:wholeTbl>
    <a:band2H>
      <a:tcTxStyle b="def" i="def"/>
      <a:tcStyle>
        <a:tcBdr/>
        <a:fill>
          <a:solidFill>
            <a:srgbClr val="EAE7EB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ACBE8"/>
          </a:solidFill>
        </a:fill>
      </a:tcStyle>
    </a:wholeTbl>
    <a:band2H>
      <a:tcTxStyle b="def" i="def"/>
      <a:tcStyle>
        <a:tcBdr/>
        <a:fill>
          <a:solidFill>
            <a:srgbClr val="EDE7F4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CCD7"/>
          </a:solidFill>
        </a:fill>
      </a:tcStyle>
    </a:wholeTbl>
    <a:band2H>
      <a:tcTxStyle b="def" i="def"/>
      <a:tcStyle>
        <a:tcBdr/>
        <a:fill>
          <a:solidFill>
            <a:srgbClr val="EAE7EC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7E6E7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160E22"/>
              </a:solidFill>
              <a:prstDash val="solid"/>
              <a:round/>
            </a:ln>
          </a:top>
          <a:bottom>
            <a:ln w="254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160E22"/>
              </a:solidFill>
              <a:prstDash val="solid"/>
              <a:round/>
            </a:ln>
          </a:top>
          <a:bottom>
            <a:ln w="254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B"/>
          </a:solidFill>
        </a:fill>
      </a:tcStyle>
    </a:wholeTbl>
    <a:band2H>
      <a:tcTxStyle b="def" i="def"/>
      <a:tcStyle>
        <a:tcBdr/>
        <a:fill>
          <a:solidFill>
            <a:srgbClr val="E7E6E7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160E22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160E22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160E22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160E22"/>
              </a:solidFill>
              <a:prstDash val="solid"/>
              <a:round/>
            </a:ln>
          </a:left>
          <a:right>
            <a:ln w="12700" cap="flat">
              <a:solidFill>
                <a:srgbClr val="160E22"/>
              </a:solidFill>
              <a:prstDash val="solid"/>
              <a:round/>
            </a:ln>
          </a:right>
          <a:top>
            <a:ln w="12700" cap="flat">
              <a:solidFill>
                <a:srgbClr val="160E22"/>
              </a:solidFill>
              <a:prstDash val="solid"/>
              <a:round/>
            </a:ln>
          </a:top>
          <a:bottom>
            <a:ln w="127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solidFill>
                <a:srgbClr val="160E22"/>
              </a:solidFill>
              <a:prstDash val="solid"/>
              <a:round/>
            </a:ln>
          </a:insideH>
          <a:insideV>
            <a:ln w="12700" cap="flat">
              <a:solidFill>
                <a:srgbClr val="160E22"/>
              </a:solidFill>
              <a:prstDash val="solid"/>
              <a:round/>
            </a:ln>
          </a:insideV>
        </a:tcBdr>
        <a:fill>
          <a:solidFill>
            <a:srgbClr val="160E22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160E22"/>
              </a:solidFill>
              <a:prstDash val="solid"/>
              <a:round/>
            </a:ln>
          </a:left>
          <a:right>
            <a:ln w="12700" cap="flat">
              <a:solidFill>
                <a:srgbClr val="160E22"/>
              </a:solidFill>
              <a:prstDash val="solid"/>
              <a:round/>
            </a:ln>
          </a:right>
          <a:top>
            <a:ln w="12700" cap="flat">
              <a:solidFill>
                <a:srgbClr val="160E22"/>
              </a:solidFill>
              <a:prstDash val="solid"/>
              <a:round/>
            </a:ln>
          </a:top>
          <a:bottom>
            <a:ln w="127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solidFill>
                <a:srgbClr val="160E22"/>
              </a:solidFill>
              <a:prstDash val="solid"/>
              <a:round/>
            </a:ln>
          </a:insideH>
          <a:insideV>
            <a:ln w="12700" cap="flat">
              <a:solidFill>
                <a:srgbClr val="160E22"/>
              </a:solidFill>
              <a:prstDash val="solid"/>
              <a:round/>
            </a:ln>
          </a:insideV>
        </a:tcBdr>
        <a:fill>
          <a:solidFill>
            <a:srgbClr val="160E22">
              <a:alpha val="20000"/>
            </a:srgbClr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160E22"/>
              </a:solidFill>
              <a:prstDash val="solid"/>
              <a:round/>
            </a:ln>
          </a:left>
          <a:right>
            <a:ln w="12700" cap="flat">
              <a:solidFill>
                <a:srgbClr val="160E22"/>
              </a:solidFill>
              <a:prstDash val="solid"/>
              <a:round/>
            </a:ln>
          </a:right>
          <a:top>
            <a:ln w="50800" cap="flat">
              <a:solidFill>
                <a:srgbClr val="160E22"/>
              </a:solidFill>
              <a:prstDash val="solid"/>
              <a:round/>
            </a:ln>
          </a:top>
          <a:bottom>
            <a:ln w="127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solidFill>
                <a:srgbClr val="160E22"/>
              </a:solidFill>
              <a:prstDash val="solid"/>
              <a:round/>
            </a:ln>
          </a:insideH>
          <a:insideV>
            <a:ln w="12700" cap="flat">
              <a:solidFill>
                <a:srgbClr val="160E22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160E22"/>
              </a:solidFill>
              <a:prstDash val="solid"/>
              <a:round/>
            </a:ln>
          </a:left>
          <a:right>
            <a:ln w="12700" cap="flat">
              <a:solidFill>
                <a:srgbClr val="160E22"/>
              </a:solidFill>
              <a:prstDash val="solid"/>
              <a:round/>
            </a:ln>
          </a:right>
          <a:top>
            <a:ln w="12700" cap="flat">
              <a:solidFill>
                <a:srgbClr val="160E22"/>
              </a:solidFill>
              <a:prstDash val="solid"/>
              <a:round/>
            </a:ln>
          </a:top>
          <a:bottom>
            <a:ln w="254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solidFill>
                <a:srgbClr val="160E22"/>
              </a:solidFill>
              <a:prstDash val="solid"/>
              <a:round/>
            </a:ln>
          </a:insideH>
          <a:insideV>
            <a:ln w="12700" cap="flat">
              <a:solidFill>
                <a:srgbClr val="160E22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Helvetica Neue"/>
      </a:defRPr>
    </a:lvl1pPr>
    <a:lvl2pPr indent="228600" latinLnBrk="0">
      <a:defRPr sz="1200">
        <a:latin typeface="+mj-lt"/>
        <a:ea typeface="+mj-ea"/>
        <a:cs typeface="+mj-cs"/>
        <a:sym typeface="Helvetica Neue"/>
      </a:defRPr>
    </a:lvl2pPr>
    <a:lvl3pPr indent="457200" latinLnBrk="0">
      <a:defRPr sz="1200">
        <a:latin typeface="+mj-lt"/>
        <a:ea typeface="+mj-ea"/>
        <a:cs typeface="+mj-cs"/>
        <a:sym typeface="Helvetica Neue"/>
      </a:defRPr>
    </a:lvl3pPr>
    <a:lvl4pPr indent="685800" latinLnBrk="0">
      <a:defRPr sz="1200">
        <a:latin typeface="+mj-lt"/>
        <a:ea typeface="+mj-ea"/>
        <a:cs typeface="+mj-cs"/>
        <a:sym typeface="Helvetica Neue"/>
      </a:defRPr>
    </a:lvl4pPr>
    <a:lvl5pPr indent="914400" latinLnBrk="0">
      <a:defRPr sz="1200">
        <a:latin typeface="+mj-lt"/>
        <a:ea typeface="+mj-ea"/>
        <a:cs typeface="+mj-cs"/>
        <a:sym typeface="Helvetica Neue"/>
      </a:defRPr>
    </a:lvl5pPr>
    <a:lvl6pPr indent="1143000" latinLnBrk="0">
      <a:defRPr sz="1200">
        <a:latin typeface="+mj-lt"/>
        <a:ea typeface="+mj-ea"/>
        <a:cs typeface="+mj-cs"/>
        <a:sym typeface="Helvetica Neue"/>
      </a:defRPr>
    </a:lvl6pPr>
    <a:lvl7pPr indent="1371600" latinLnBrk="0">
      <a:defRPr sz="1200">
        <a:latin typeface="+mj-lt"/>
        <a:ea typeface="+mj-ea"/>
        <a:cs typeface="+mj-cs"/>
        <a:sym typeface="Helvetica Neue"/>
      </a:defRPr>
    </a:lvl7pPr>
    <a:lvl8pPr indent="1600200" latinLnBrk="0">
      <a:defRPr sz="1200">
        <a:latin typeface="+mj-lt"/>
        <a:ea typeface="+mj-ea"/>
        <a:cs typeface="+mj-cs"/>
        <a:sym typeface="Helvetica Neue"/>
      </a:defRPr>
    </a:lvl8pPr>
    <a:lvl9pPr indent="1828800" latinLnBrk="0">
      <a:defRPr sz="1200">
        <a:latin typeface="+mj-lt"/>
        <a:ea typeface="+mj-ea"/>
        <a:cs typeface="+mj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umer slajd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 tytułowy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Tekst tytułowy</a:t>
            </a:r>
          </a:p>
        </p:txBody>
      </p:sp>
      <p:sp>
        <p:nvSpPr>
          <p:cNvPr id="3" name="Treść - poziom 1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Treść - poziom 1</a:t>
            </a:r>
          </a:p>
          <a:p>
            <a:pPr lvl="1"/>
            <a:r>
              <a:t>Treść - poziom 2</a:t>
            </a:r>
          </a:p>
          <a:p>
            <a:pPr lvl="2"/>
            <a:r>
              <a:t>Treść - poziom 3</a:t>
            </a:r>
          </a:p>
          <a:p>
            <a:pPr lvl="3"/>
            <a:r>
              <a:t>Treść - poziom 4</a:t>
            </a:r>
          </a:p>
          <a:p>
            <a:pPr lvl="4"/>
            <a:r>
              <a:t>Treść - poziom 5</a:t>
            </a:r>
          </a:p>
        </p:txBody>
      </p:sp>
      <p:sp>
        <p:nvSpPr>
          <p:cNvPr id="4" name="Numer slajdu"/>
          <p:cNvSpPr txBox="1"/>
          <p:nvPr>
            <p:ph type="sldNum" sz="quarter" idx="2"/>
          </p:nvPr>
        </p:nvSpPr>
        <p:spPr>
          <a:xfrm>
            <a:off x="5886661" y="6172200"/>
            <a:ext cx="2841838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.png"/><Relationship Id="rId4" Type="http://schemas.openxmlformats.org/officeDocument/2006/relationships/image" Target="../media/image2.jpeg"/><Relationship Id="rId5" Type="http://schemas.openxmlformats.org/officeDocument/2006/relationships/image" Target="../media/image3.jpe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jpe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jpe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6.jpeg"/><Relationship Id="rId4" Type="http://schemas.openxmlformats.org/officeDocument/2006/relationships/image" Target="../media/image3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jpe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jpeg"/><Relationship Id="rId3" Type="http://schemas.openxmlformats.org/officeDocument/2006/relationships/image" Target="../media/image9.jpe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jpeg"/><Relationship Id="rId3" Type="http://schemas.openxmlformats.org/officeDocument/2006/relationships/image" Target="../media/image11.jpeg"/><Relationship Id="rId4" Type="http://schemas.openxmlformats.org/officeDocument/2006/relationships/image" Target="../media/image12.jpe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0E22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1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22" name="Grafika panelu" descr="Grafika panelu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827264" y="118871"/>
            <a:ext cx="4361689" cy="6739130"/>
          </a:xfrm>
          <a:prstGeom prst="rect">
            <a:avLst/>
          </a:prstGeom>
          <a:ln w="12700">
            <a:miter lim="400000"/>
          </a:ln>
        </p:spPr>
      </p:pic>
      <p:sp>
        <p:nvSpPr>
          <p:cNvPr id="23" name="Text 6"/>
          <p:cNvSpPr txBox="1"/>
          <p:nvPr/>
        </p:nvSpPr>
        <p:spPr>
          <a:xfrm>
            <a:off x="749807" y="511301"/>
            <a:ext cx="621792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100">
                <a:solidFill>
                  <a:srgbClr val="D51A96"/>
                </a:solidFill>
              </a:defRPr>
            </a:lvl1pPr>
          </a:lstStyle>
          <a:p>
            <a:pPr/>
            <a:r>
              <a:t>171. SPOTKANIE WROC.NET</a:t>
            </a:r>
          </a:p>
        </p:txBody>
      </p:sp>
      <p:sp>
        <p:nvSpPr>
          <p:cNvPr id="24" name="Text 7"/>
          <p:cNvSpPr txBox="1"/>
          <p:nvPr/>
        </p:nvSpPr>
        <p:spPr>
          <a:xfrm>
            <a:off x="713231" y="1115102"/>
            <a:ext cx="6629401" cy="750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300">
                <a:solidFill>
                  <a:srgbClr val="FFFFFF"/>
                </a:solidFill>
              </a:defRPr>
            </a:lvl1pPr>
          </a:lstStyle>
          <a:p>
            <a:pPr/>
            <a:r>
              <a:t>AI RETROFIT</a:t>
            </a:r>
          </a:p>
        </p:txBody>
      </p:sp>
      <p:sp>
        <p:nvSpPr>
          <p:cNvPr id="25" name="Text 8"/>
          <p:cNvSpPr txBox="1"/>
          <p:nvPr/>
        </p:nvSpPr>
        <p:spPr>
          <a:xfrm>
            <a:off x="749807" y="2089724"/>
            <a:ext cx="6217922" cy="9229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2600">
                <a:solidFill>
                  <a:srgbClr val="D51A96"/>
                </a:solidFill>
              </a:defRPr>
            </a:pPr>
            <a:r>
              <a:t>Nowe możliwości,</a:t>
            </a:r>
            <a:endParaRPr>
              <a:solidFill>
                <a:srgbClr val="000000"/>
              </a:solidFill>
            </a:endParaRPr>
          </a:p>
          <a:p>
            <a:pPr>
              <a:defRPr b="1" sz="2600">
                <a:solidFill>
                  <a:srgbClr val="D51A96"/>
                </a:solidFill>
              </a:defRPr>
            </a:pPr>
            <a:r>
              <a:t>14 lat bagażu</a:t>
            </a:r>
          </a:p>
        </p:txBody>
      </p:sp>
      <p:sp>
        <p:nvSpPr>
          <p:cNvPr id="26" name="Text 10"/>
          <p:cNvSpPr txBox="1"/>
          <p:nvPr/>
        </p:nvSpPr>
        <p:spPr>
          <a:xfrm>
            <a:off x="749807" y="3927808"/>
            <a:ext cx="6217922" cy="3191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200">
                <a:solidFill>
                  <a:srgbClr val="D51A96"/>
                </a:solidFill>
              </a:defRPr>
            </a:lvl1pPr>
          </a:lstStyle>
          <a:p>
            <a:pPr/>
            <a:r>
              <a:t>DRUGA PRELEKCJA</a:t>
            </a:r>
          </a:p>
        </p:txBody>
      </p:sp>
      <p:sp>
        <p:nvSpPr>
          <p:cNvPr id="27" name="Text 11"/>
          <p:cNvSpPr txBox="1"/>
          <p:nvPr/>
        </p:nvSpPr>
        <p:spPr>
          <a:xfrm>
            <a:off x="749807" y="4304004"/>
            <a:ext cx="6492242" cy="9474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2800">
                <a:solidFill>
                  <a:srgbClr val="FFFFFF"/>
                </a:solidFill>
              </a:defRPr>
            </a:pPr>
            <a:r>
              <a:t>Tańczący</a:t>
            </a:r>
            <a:endParaRPr>
              <a:solidFill>
                <a:srgbClr val="000000"/>
              </a:solidFill>
            </a:endParaRPr>
          </a:p>
          <a:p>
            <a:pPr>
              <a:defRPr b="1" sz="2800">
                <a:solidFill>
                  <a:srgbClr val="FFFFFF"/>
                </a:solidFill>
              </a:defRPr>
            </a:pPr>
            <a:r>
              <a:t>z Agentami</a:t>
            </a:r>
          </a:p>
        </p:txBody>
      </p:sp>
      <p:sp>
        <p:nvSpPr>
          <p:cNvPr id="28" name="Text 12"/>
          <p:cNvSpPr txBox="1"/>
          <p:nvPr/>
        </p:nvSpPr>
        <p:spPr>
          <a:xfrm>
            <a:off x="749807" y="6049217"/>
            <a:ext cx="6583682" cy="3191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20 PAŹDZIERNIKA 2026  ·  18:00  ·  PUB WĘDRÓWKI</a:t>
            </a:r>
          </a:p>
        </p:txBody>
      </p:sp>
      <p:sp>
        <p:nvSpPr>
          <p:cNvPr id="29" name="Text 13"/>
          <p:cNvSpPr txBox="1"/>
          <p:nvPr/>
        </p:nvSpPr>
        <p:spPr>
          <a:xfrm>
            <a:off x="749808" y="6448897"/>
            <a:ext cx="2834640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</a:t>
            </a:r>
          </a:p>
        </p:txBody>
      </p:sp>
      <p:pic>
        <p:nvPicPr>
          <p:cNvPr id="30" name="Wroc.NET logo" descr="Wroc.NET logo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500616" y="475487"/>
            <a:ext cx="1005841" cy="1005841"/>
          </a:xfrm>
          <a:prstGeom prst="rect">
            <a:avLst/>
          </a:prstGeom>
          <a:ln w="12700">
            <a:miter lim="400000"/>
          </a:ln>
        </p:spPr>
      </p:pic>
      <p:pic>
        <p:nvPicPr>
          <p:cNvPr id="31" name="Jakub Kubryński" descr="Jakub Kubryński"/>
          <p:cNvPicPr>
            <a:picLocks noChangeAspect="1"/>
          </p:cNvPicPr>
          <p:nvPr/>
        </p:nvPicPr>
        <p:blipFill>
          <a:blip r:embed="rId4">
            <a:extLst/>
          </a:blip>
          <a:srcRect l="0" t="0" r="9" b="9"/>
          <a:stretch>
            <a:fillRect/>
          </a:stretch>
        </p:blipFill>
        <p:spPr>
          <a:xfrm>
            <a:off x="8174735" y="2194560"/>
            <a:ext cx="1691483" cy="16914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32" name="Maciej Aniserowicz" descr="Maciej Aniserowicz"/>
          <p:cNvPicPr>
            <a:picLocks noChangeAspect="1"/>
          </p:cNvPicPr>
          <p:nvPr/>
        </p:nvPicPr>
        <p:blipFill>
          <a:blip r:embed="rId5">
            <a:extLst/>
          </a:blip>
          <a:srcRect l="0" t="0" r="9" b="9"/>
          <a:stretch>
            <a:fillRect/>
          </a:stretch>
        </p:blipFill>
        <p:spPr>
          <a:xfrm>
            <a:off x="10094976" y="2194560"/>
            <a:ext cx="1691482" cy="16914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33" name="Text 19"/>
          <p:cNvSpPr txBox="1"/>
          <p:nvPr/>
        </p:nvSpPr>
        <p:spPr>
          <a:xfrm>
            <a:off x="8083295" y="4138651"/>
            <a:ext cx="1874521" cy="647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1700">
                <a:solidFill>
                  <a:srgbClr val="FFFFFF"/>
                </a:solidFill>
              </a:defRPr>
            </a:pPr>
            <a:r>
              <a:t>Jakub</a:t>
            </a:r>
            <a:endParaRPr>
              <a:solidFill>
                <a:srgbClr val="000000"/>
              </a:solidFill>
            </a:endParaRPr>
          </a:p>
          <a:p>
            <a:pPr>
              <a:defRPr b="1" sz="1700">
                <a:solidFill>
                  <a:srgbClr val="FFFFFF"/>
                </a:solidFill>
              </a:defRPr>
            </a:pPr>
            <a:r>
              <a:t>Kubryński</a:t>
            </a:r>
          </a:p>
        </p:txBody>
      </p:sp>
      <p:sp>
        <p:nvSpPr>
          <p:cNvPr id="34" name="Text 20"/>
          <p:cNvSpPr txBox="1"/>
          <p:nvPr/>
        </p:nvSpPr>
        <p:spPr>
          <a:xfrm>
            <a:off x="10003535" y="4138651"/>
            <a:ext cx="1874521" cy="647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1700">
                <a:solidFill>
                  <a:srgbClr val="FFFFFF"/>
                </a:solidFill>
              </a:defRPr>
            </a:pPr>
            <a:r>
              <a:t>Maciej</a:t>
            </a:r>
            <a:endParaRPr>
              <a:solidFill>
                <a:srgbClr val="000000"/>
              </a:solidFill>
            </a:endParaRPr>
          </a:p>
          <a:p>
            <a:pPr>
              <a:defRPr b="1" sz="1700">
                <a:solidFill>
                  <a:srgbClr val="FFFFFF"/>
                </a:solidFill>
              </a:defRPr>
            </a:pPr>
            <a:r>
              <a:t>Aniserowicz</a:t>
            </a:r>
          </a:p>
        </p:txBody>
      </p:sp>
      <p:sp>
        <p:nvSpPr>
          <p:cNvPr id="35" name="Text 21"/>
          <p:cNvSpPr txBox="1"/>
          <p:nvPr/>
        </p:nvSpPr>
        <p:spPr>
          <a:xfrm>
            <a:off x="8174735" y="5574675"/>
            <a:ext cx="3611881" cy="4178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900">
                <a:solidFill>
                  <a:srgbClr val="FFFFFF"/>
                </a:solidFill>
              </a:defRPr>
            </a:lvl1pPr>
          </a:lstStyle>
          <a:p>
            <a:pPr/>
            <a:r>
              <a:t>ZACZYNAMY O 18:00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38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39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KILKA SPRAW ORGANIZACYJNYCH</a:t>
            </a:r>
          </a:p>
        </p:txBody>
      </p:sp>
      <p:sp>
        <p:nvSpPr>
          <p:cNvPr id="40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Dziś będzie tłoczno!</a:t>
            </a:r>
          </a:p>
        </p:txBody>
      </p:sp>
      <p:sp>
        <p:nvSpPr>
          <p:cNvPr id="41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42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3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44" name="Text 10"/>
          <p:cNvSpPr txBox="1"/>
          <p:nvPr/>
        </p:nvSpPr>
        <p:spPr>
          <a:xfrm>
            <a:off x="713231" y="1767283"/>
            <a:ext cx="10515601" cy="479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300">
                <a:solidFill>
                  <a:schemeClr val="accent1"/>
                </a:solidFill>
              </a:defRPr>
            </a:lvl1pPr>
          </a:lstStyle>
          <a:p>
            <a:pPr/>
            <a:r>
              <a:t>Jakub, Maciek i Devstyle przyciągnęli ogromne zainteresowanie.</a:t>
            </a:r>
          </a:p>
        </p:txBody>
      </p:sp>
      <p:sp>
        <p:nvSpPr>
          <p:cNvPr id="45" name="Text 11"/>
          <p:cNvSpPr txBox="1"/>
          <p:nvPr/>
        </p:nvSpPr>
        <p:spPr>
          <a:xfrm>
            <a:off x="713231" y="2308950"/>
            <a:ext cx="10515601" cy="722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sz="2000">
                <a:solidFill>
                  <a:srgbClr val="171219"/>
                </a:solidFill>
              </a:defRPr>
            </a:pPr>
            <a:r>
              <a:t>Każdy chce wpaść, przywitać się i przybić piątkę.</a:t>
            </a:r>
            <a:endParaRPr>
              <a:solidFill>
                <a:srgbClr val="000000"/>
              </a:solidFill>
            </a:endParaRPr>
          </a:p>
          <a:p>
            <a:pPr>
              <a:defRPr sz="2000">
                <a:solidFill>
                  <a:srgbClr val="171219"/>
                </a:solidFill>
              </a:defRPr>
            </a:pPr>
            <a:r>
              <a:t>Są z nami także osoby spoza świata .NET. Witajcie!</a:t>
            </a:r>
          </a:p>
        </p:txBody>
      </p:sp>
      <p:sp>
        <p:nvSpPr>
          <p:cNvPr id="46" name="Text 17"/>
          <p:cNvSpPr txBox="1"/>
          <p:nvPr/>
        </p:nvSpPr>
        <p:spPr>
          <a:xfrm>
            <a:off x="713231" y="2959075"/>
            <a:ext cx="10515601" cy="647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1700">
                <a:solidFill>
                  <a:schemeClr val="accent1"/>
                </a:solidFill>
              </a:defRPr>
            </a:pPr>
            <a:r>
              <a:t>Siadamy obok siebie i zajmujemy puste miejsca.</a:t>
            </a:r>
            <a:endParaRPr>
              <a:solidFill>
                <a:srgbClr val="000000"/>
              </a:solidFill>
            </a:endParaRPr>
          </a:p>
          <a:p>
            <a:pPr>
              <a:defRPr b="1" sz="1700">
                <a:solidFill>
                  <a:schemeClr val="accent1"/>
                </a:solidFill>
              </a:defRPr>
            </a:pPr>
            <a:r>
              <a:t>Nie zostawiamy wolnych krzeseł między sobą w rzędzie!</a:t>
            </a:r>
          </a:p>
        </p:txBody>
      </p:sp>
      <p:sp>
        <p:nvSpPr>
          <p:cNvPr id="47" name="Line 12"/>
          <p:cNvSpPr/>
          <p:nvPr/>
        </p:nvSpPr>
        <p:spPr>
          <a:xfrm>
            <a:off x="713232" y="3584447"/>
            <a:ext cx="10479025" cy="1"/>
          </a:xfrm>
          <a:prstGeom prst="line">
            <a:avLst/>
          </a:prstGeom>
          <a:ln w="1905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8" name="Text 13"/>
          <p:cNvSpPr txBox="1"/>
          <p:nvPr/>
        </p:nvSpPr>
        <p:spPr>
          <a:xfrm>
            <a:off x="713231" y="3771736"/>
            <a:ext cx="10515601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chemeClr val="accent1"/>
                </a:solidFill>
              </a:defRPr>
            </a:lvl1pPr>
          </a:lstStyle>
          <a:p>
            <a:pPr/>
            <a:r>
              <a:t>ŁAZIENKI SĄ NA TYŁACH</a:t>
            </a:r>
          </a:p>
        </p:txBody>
      </p:sp>
      <p:sp>
        <p:nvSpPr>
          <p:cNvPr id="49" name="Text 14"/>
          <p:cNvSpPr txBox="1"/>
          <p:nvPr/>
        </p:nvSpPr>
        <p:spPr>
          <a:xfrm>
            <a:off x="713231" y="4312802"/>
            <a:ext cx="10515601" cy="4178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900">
                <a:solidFill>
                  <a:srgbClr val="171219"/>
                </a:solidFill>
              </a:defRPr>
            </a:lvl1pPr>
          </a:lstStyle>
          <a:p>
            <a:pPr/>
            <a:r>
              <a:t>Ponad 90% naszych uczestników to mężczyźni, więc mogą być kolejki.</a:t>
            </a:r>
          </a:p>
        </p:txBody>
      </p:sp>
      <p:sp>
        <p:nvSpPr>
          <p:cNvPr id="50" name="Text 15"/>
          <p:cNvSpPr txBox="1"/>
          <p:nvPr/>
        </p:nvSpPr>
        <p:spPr>
          <a:xfrm>
            <a:off x="713231" y="4889683"/>
            <a:ext cx="10515601" cy="672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>
                <a:solidFill>
                  <a:srgbClr val="171219"/>
                </a:solidFill>
              </a:defRPr>
            </a:pPr>
            <a:r>
              <a:t>Jeśli kolejka będzie długa, zapytajcie panie, czy możecie na chwilę</a:t>
            </a:r>
            <a:endParaRPr>
              <a:solidFill>
                <a:srgbClr val="000000"/>
              </a:solidFill>
            </a:endParaRPr>
          </a:p>
          <a:p>
            <a:pPr>
              <a:defRPr>
                <a:solidFill>
                  <a:srgbClr val="171219"/>
                </a:solidFill>
              </a:defRPr>
            </a:pPr>
            <a:r>
              <a:t>skorzystać z damskiej łazienki. Tylko za ich zgodą i z poszanowaniem prywatności.</a:t>
            </a:r>
          </a:p>
        </p:txBody>
      </p:sp>
      <p:sp>
        <p:nvSpPr>
          <p:cNvPr id="51" name="Text 16"/>
          <p:cNvSpPr txBox="1"/>
          <p:nvPr/>
        </p:nvSpPr>
        <p:spPr>
          <a:xfrm>
            <a:off x="713231" y="5622311"/>
            <a:ext cx="10515601" cy="5968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1600">
                <a:solidFill>
                  <a:schemeClr val="accent1"/>
                </a:solidFill>
              </a:defRPr>
            </a:pPr>
            <a:r>
              <a:t>W razie problemów dajcie nam znać: na sali jest wielu organizatorów.</a:t>
            </a:r>
            <a:endParaRPr>
              <a:solidFill>
                <a:srgbClr val="000000"/>
              </a:solidFill>
            </a:endParaRPr>
          </a:p>
          <a:p>
            <a:pPr>
              <a:defRPr b="1" sz="1600">
                <a:solidFill>
                  <a:schemeClr val="accent1"/>
                </a:solidFill>
              </a:defRPr>
            </a:pPr>
            <a:r>
              <a:t>Możecie też napisać na WhatsAppie. Więcej o grupie za kilka slajdów!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Wrocław połączony społecznością Wroc.NET" descr="Wrocław połączony społecznością Wroc.NET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54" name="Text 5"/>
          <p:cNvSpPr txBox="1"/>
          <p:nvPr/>
        </p:nvSpPr>
        <p:spPr>
          <a:xfrm>
            <a:off x="713231" y="361995"/>
            <a:ext cx="7863842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2"/>
                </a:solidFill>
              </a:defRPr>
            </a:lvl1pPr>
          </a:lstStyle>
          <a:p>
            <a:pPr/>
            <a:r>
              <a:t>OD 2007 ROKU</a:t>
            </a:r>
          </a:p>
        </p:txBody>
      </p:sp>
      <p:sp>
        <p:nvSpPr>
          <p:cNvPr id="55" name="Text 6"/>
          <p:cNvSpPr txBox="1"/>
          <p:nvPr/>
        </p:nvSpPr>
        <p:spPr>
          <a:xfrm>
            <a:off x="713231" y="869324"/>
            <a:ext cx="8229601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O grupie · Wroc.NET w liczbach</a:t>
            </a:r>
          </a:p>
        </p:txBody>
      </p:sp>
      <p:sp>
        <p:nvSpPr>
          <p:cNvPr id="56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57" name="Text 9"/>
          <p:cNvSpPr txBox="1"/>
          <p:nvPr/>
        </p:nvSpPr>
        <p:spPr>
          <a:xfrm>
            <a:off x="713231" y="6403177"/>
            <a:ext cx="48463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· Wroc.NET</a:t>
            </a:r>
          </a:p>
        </p:txBody>
      </p:sp>
      <p:sp>
        <p:nvSpPr>
          <p:cNvPr id="58" name="Text 10"/>
          <p:cNvSpPr txBox="1"/>
          <p:nvPr/>
        </p:nvSpPr>
        <p:spPr>
          <a:xfrm>
            <a:off x="713231" y="1744770"/>
            <a:ext cx="7863842" cy="4423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100">
                <a:solidFill>
                  <a:srgbClr val="FFFFFF"/>
                </a:solidFill>
              </a:defRPr>
            </a:lvl1pPr>
          </a:lstStyle>
          <a:p>
            <a:pPr/>
            <a:r>
              <a:t>Wrocławska społeczność programistów .NET</a:t>
            </a:r>
          </a:p>
        </p:txBody>
      </p:sp>
      <p:sp>
        <p:nvSpPr>
          <p:cNvPr id="59" name="Text 20"/>
          <p:cNvSpPr txBox="1"/>
          <p:nvPr/>
        </p:nvSpPr>
        <p:spPr>
          <a:xfrm>
            <a:off x="713231" y="2583591"/>
            <a:ext cx="1874522" cy="812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600">
                <a:solidFill>
                  <a:srgbClr val="FFFFFF"/>
                </a:solidFill>
              </a:defRPr>
            </a:lvl1pPr>
          </a:lstStyle>
          <a:p>
            <a:pPr/>
            <a:r>
              <a:t>18</a:t>
            </a:r>
          </a:p>
        </p:txBody>
      </p:sp>
      <p:sp>
        <p:nvSpPr>
          <p:cNvPr id="60" name="Text 21"/>
          <p:cNvSpPr txBox="1"/>
          <p:nvPr/>
        </p:nvSpPr>
        <p:spPr>
          <a:xfrm>
            <a:off x="713231" y="3502152"/>
            <a:ext cx="1874522" cy="34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sz="1400">
                <a:solidFill>
                  <a:srgbClr val="DACCE0"/>
                </a:solidFill>
              </a:defRPr>
            </a:lvl1pPr>
          </a:lstStyle>
          <a:p>
            <a:pPr/>
            <a:r>
              <a:t>lat społeczności</a:t>
            </a:r>
          </a:p>
        </p:txBody>
      </p:sp>
      <p:sp>
        <p:nvSpPr>
          <p:cNvPr id="61" name="Text 22"/>
          <p:cNvSpPr txBox="1"/>
          <p:nvPr/>
        </p:nvSpPr>
        <p:spPr>
          <a:xfrm>
            <a:off x="2679192" y="2583591"/>
            <a:ext cx="1874521" cy="812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600">
                <a:solidFill>
                  <a:srgbClr val="FFFFFF"/>
                </a:solidFill>
              </a:defRPr>
            </a:lvl1pPr>
          </a:lstStyle>
          <a:p>
            <a:pPr/>
            <a:r>
              <a:t>171</a:t>
            </a:r>
          </a:p>
        </p:txBody>
      </p:sp>
      <p:sp>
        <p:nvSpPr>
          <p:cNvPr id="62" name="Text 23"/>
          <p:cNvSpPr txBox="1"/>
          <p:nvPr/>
        </p:nvSpPr>
        <p:spPr>
          <a:xfrm>
            <a:off x="2679192" y="3502152"/>
            <a:ext cx="1874521" cy="34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sz="1400">
                <a:solidFill>
                  <a:srgbClr val="DACCE0"/>
                </a:solidFill>
              </a:defRPr>
            </a:lvl1pPr>
          </a:lstStyle>
          <a:p>
            <a:pPr/>
            <a:r>
              <a:t>spotkań</a:t>
            </a:r>
          </a:p>
        </p:txBody>
      </p:sp>
      <p:sp>
        <p:nvSpPr>
          <p:cNvPr id="63" name="Text 24"/>
          <p:cNvSpPr txBox="1"/>
          <p:nvPr/>
        </p:nvSpPr>
        <p:spPr>
          <a:xfrm>
            <a:off x="4645152" y="2583591"/>
            <a:ext cx="1874521" cy="812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600">
                <a:solidFill>
                  <a:srgbClr val="FFFFFF"/>
                </a:solidFill>
              </a:defRPr>
            </a:lvl1pPr>
          </a:lstStyle>
          <a:p>
            <a:pPr/>
            <a:r>
              <a:t>182</a:t>
            </a:r>
          </a:p>
        </p:txBody>
      </p:sp>
      <p:sp>
        <p:nvSpPr>
          <p:cNvPr id="64" name="Text 25"/>
          <p:cNvSpPr txBox="1"/>
          <p:nvPr/>
        </p:nvSpPr>
        <p:spPr>
          <a:xfrm>
            <a:off x="4645152" y="3502152"/>
            <a:ext cx="1874521" cy="5468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sz="1400">
                <a:solidFill>
                  <a:srgbClr val="DACCE0"/>
                </a:solidFill>
              </a:defRPr>
            </a:lvl1pPr>
          </a:lstStyle>
          <a:p>
            <a:pPr/>
            <a:r>
              <a:t>prelegentów i prelegentek</a:t>
            </a:r>
          </a:p>
        </p:txBody>
      </p:sp>
      <p:sp>
        <p:nvSpPr>
          <p:cNvPr id="65" name="Text 26"/>
          <p:cNvSpPr txBox="1"/>
          <p:nvPr/>
        </p:nvSpPr>
        <p:spPr>
          <a:xfrm>
            <a:off x="6611111" y="2583591"/>
            <a:ext cx="1874522" cy="812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600">
                <a:solidFill>
                  <a:srgbClr val="FFFFFF"/>
                </a:solidFill>
              </a:defRPr>
            </a:lvl1pPr>
          </a:lstStyle>
          <a:p>
            <a:pPr/>
            <a:r>
              <a:t>302</a:t>
            </a:r>
          </a:p>
        </p:txBody>
      </p:sp>
      <p:sp>
        <p:nvSpPr>
          <p:cNvPr id="66" name="Text 27"/>
          <p:cNvSpPr txBox="1"/>
          <p:nvPr/>
        </p:nvSpPr>
        <p:spPr>
          <a:xfrm>
            <a:off x="6611111" y="3502152"/>
            <a:ext cx="1874522" cy="34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sz="1400">
                <a:solidFill>
                  <a:srgbClr val="DACCE0"/>
                </a:solidFill>
              </a:defRPr>
            </a:lvl1pPr>
          </a:lstStyle>
          <a:p>
            <a:pPr/>
            <a:r>
              <a:t>prezentacji</a:t>
            </a:r>
          </a:p>
        </p:txBody>
      </p:sp>
      <p:sp>
        <p:nvSpPr>
          <p:cNvPr id="67" name="Line 30"/>
          <p:cNvSpPr/>
          <p:nvPr/>
        </p:nvSpPr>
        <p:spPr>
          <a:xfrm>
            <a:off x="713231" y="4315967"/>
            <a:ext cx="7562090" cy="1"/>
          </a:xfrm>
          <a:prstGeom prst="line">
            <a:avLst/>
          </a:prstGeom>
          <a:ln w="19050">
            <a:solidFill>
              <a:srgbClr val="5E3B69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8" name="Text 31"/>
          <p:cNvSpPr txBox="1"/>
          <p:nvPr/>
        </p:nvSpPr>
        <p:spPr>
          <a:xfrm>
            <a:off x="713231" y="4632887"/>
            <a:ext cx="3200401" cy="7011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000">
                <a:solidFill>
                  <a:schemeClr val="accent2"/>
                </a:solidFill>
              </a:defRPr>
            </a:lvl1pPr>
          </a:lstStyle>
          <a:p>
            <a:pPr/>
            <a:r>
              <a:t>2400+</a:t>
            </a:r>
          </a:p>
        </p:txBody>
      </p:sp>
      <p:sp>
        <p:nvSpPr>
          <p:cNvPr id="69" name="Text 32"/>
          <p:cNvSpPr txBox="1"/>
          <p:nvPr/>
        </p:nvSpPr>
        <p:spPr>
          <a:xfrm>
            <a:off x="713231" y="5454371"/>
            <a:ext cx="3657601" cy="393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700">
                <a:solidFill>
                  <a:srgbClr val="DACCE0"/>
                </a:solidFill>
              </a:defRPr>
            </a:lvl1pPr>
          </a:lstStyle>
          <a:p>
            <a:pPr/>
            <a:r>
              <a:t>członków społeczności</a:t>
            </a:r>
          </a:p>
        </p:txBody>
      </p:sp>
      <p:sp>
        <p:nvSpPr>
          <p:cNvPr id="70" name="Text 33"/>
          <p:cNvSpPr txBox="1"/>
          <p:nvPr/>
        </p:nvSpPr>
        <p:spPr>
          <a:xfrm>
            <a:off x="4709159" y="4632887"/>
            <a:ext cx="3200401" cy="7011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000">
                <a:solidFill>
                  <a:schemeClr val="accent2"/>
                </a:solidFill>
              </a:defRPr>
            </a:lvl1pPr>
          </a:lstStyle>
          <a:p>
            <a:pPr/>
            <a:r>
              <a:t>+ 32</a:t>
            </a:r>
          </a:p>
        </p:txBody>
      </p:sp>
      <p:sp>
        <p:nvSpPr>
          <p:cNvPr id="71" name="Text 34"/>
          <p:cNvSpPr txBox="1"/>
          <p:nvPr/>
        </p:nvSpPr>
        <p:spPr>
          <a:xfrm>
            <a:off x="4709159" y="5454371"/>
            <a:ext cx="3657601" cy="393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700">
                <a:solidFill>
                  <a:srgbClr val="DACCE0"/>
                </a:solidFill>
              </a:defRPr>
            </a:lvl1pPr>
          </a:lstStyle>
          <a:p>
            <a:pPr/>
            <a:r>
              <a:t>dodatkowe wydarzenia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Rekordowe spotkanie Wroc.NET - ilustracja" descr="Rekordowe spotkanie Wroc.NET - ilustracja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74" name="Shape 3"/>
          <p:cNvSpPr/>
          <p:nvPr/>
        </p:nvSpPr>
        <p:spPr>
          <a:xfrm>
            <a:off x="-1" y="0"/>
            <a:ext cx="7178042" cy="6858000"/>
          </a:xfrm>
          <a:prstGeom prst="rect">
            <a:avLst/>
          </a:prstGeom>
          <a:solidFill>
            <a:srgbClr val="160E22">
              <a:alpha val="92000"/>
            </a:srgbClr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75" name="Text 5"/>
          <p:cNvSpPr txBox="1"/>
          <p:nvPr/>
        </p:nvSpPr>
        <p:spPr>
          <a:xfrm>
            <a:off x="713231" y="361995"/>
            <a:ext cx="6035042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2"/>
                </a:solidFill>
              </a:defRPr>
            </a:lvl1pPr>
          </a:lstStyle>
          <a:p>
            <a:pPr/>
            <a:r>
              <a:t>REKORDOWE SPOTKANIE WROC.NET</a:t>
            </a:r>
          </a:p>
        </p:txBody>
      </p:sp>
      <p:sp>
        <p:nvSpPr>
          <p:cNvPr id="76" name="Text 6"/>
          <p:cNvSpPr txBox="1"/>
          <p:nvPr/>
        </p:nvSpPr>
        <p:spPr>
          <a:xfrm>
            <a:off x="713231" y="763152"/>
            <a:ext cx="6035042" cy="997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3000">
                <a:solidFill>
                  <a:srgbClr val="FFFFFF"/>
                </a:solidFill>
              </a:defRPr>
            </a:pPr>
            <a:r>
              <a:t>171 na 171. spotkaniu.</a:t>
            </a:r>
            <a:endParaRPr>
              <a:solidFill>
                <a:srgbClr val="000000"/>
              </a:solidFill>
            </a:endParaRPr>
          </a:p>
          <a:p>
            <a:pPr>
              <a:defRPr b="1" sz="3000">
                <a:solidFill>
                  <a:srgbClr val="FFFFFF"/>
                </a:solidFill>
              </a:defRPr>
            </a:pPr>
            <a:r>
              <a:t>Rekord!</a:t>
            </a:r>
          </a:p>
        </p:txBody>
      </p:sp>
      <p:sp>
        <p:nvSpPr>
          <p:cNvPr id="77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04</a:t>
            </a:r>
          </a:p>
        </p:txBody>
      </p:sp>
      <p:sp>
        <p:nvSpPr>
          <p:cNvPr id="78" name="Text 9"/>
          <p:cNvSpPr txBox="1"/>
          <p:nvPr/>
        </p:nvSpPr>
        <p:spPr>
          <a:xfrm>
            <a:off x="713231" y="6403177"/>
            <a:ext cx="48463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· Wroc.NET</a:t>
            </a:r>
          </a:p>
        </p:txBody>
      </p:sp>
      <p:sp>
        <p:nvSpPr>
          <p:cNvPr id="79" name="Text 10"/>
          <p:cNvSpPr txBox="1"/>
          <p:nvPr/>
        </p:nvSpPr>
        <p:spPr>
          <a:xfrm>
            <a:off x="713231" y="1733383"/>
            <a:ext cx="2743201" cy="1059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6400">
                <a:solidFill>
                  <a:srgbClr val="FFFFFF"/>
                </a:solidFill>
              </a:defRPr>
            </a:lvl1pPr>
          </a:lstStyle>
          <a:p>
            <a:pPr/>
            <a:r>
              <a:t>171</a:t>
            </a:r>
          </a:p>
        </p:txBody>
      </p:sp>
      <p:sp>
        <p:nvSpPr>
          <p:cNvPr id="80" name="Text 11"/>
          <p:cNvSpPr txBox="1"/>
          <p:nvPr/>
        </p:nvSpPr>
        <p:spPr>
          <a:xfrm>
            <a:off x="713232" y="2748094"/>
            <a:ext cx="2834640" cy="355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zapisanych uczestników</a:t>
            </a:r>
          </a:p>
        </p:txBody>
      </p:sp>
      <p:sp>
        <p:nvSpPr>
          <p:cNvPr id="81" name="Text 12"/>
          <p:cNvSpPr txBox="1"/>
          <p:nvPr/>
        </p:nvSpPr>
        <p:spPr>
          <a:xfrm>
            <a:off x="3749040" y="1733383"/>
            <a:ext cx="2743201" cy="1059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6400">
                <a:solidFill>
                  <a:schemeClr val="accent2"/>
                </a:solidFill>
              </a:defRPr>
            </a:lvl1pPr>
          </a:lstStyle>
          <a:p>
            <a:pPr/>
            <a:r>
              <a:t>+ 34</a:t>
            </a:r>
          </a:p>
        </p:txBody>
      </p:sp>
      <p:sp>
        <p:nvSpPr>
          <p:cNvPr id="82" name="Text 13"/>
          <p:cNvSpPr txBox="1"/>
          <p:nvPr/>
        </p:nvSpPr>
        <p:spPr>
          <a:xfrm>
            <a:off x="3749040" y="2748094"/>
            <a:ext cx="2834641" cy="355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na liście oczekujących</a:t>
            </a:r>
          </a:p>
        </p:txBody>
      </p:sp>
      <p:sp>
        <p:nvSpPr>
          <p:cNvPr id="83" name="Text 16"/>
          <p:cNvSpPr txBox="1"/>
          <p:nvPr/>
        </p:nvSpPr>
        <p:spPr>
          <a:xfrm>
            <a:off x="713231" y="3414521"/>
            <a:ext cx="603504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100">
                <a:solidFill>
                  <a:schemeClr val="accent2"/>
                </a:solidFill>
              </a:defRPr>
            </a:lvl1pPr>
          </a:lstStyle>
          <a:p>
            <a:pPr/>
            <a:r>
              <a:t>WCZEŚNIEJSZE NAJLICZNIEJSZE SPOTKANIA</a:t>
            </a:r>
          </a:p>
        </p:txBody>
      </p:sp>
      <p:sp>
        <p:nvSpPr>
          <p:cNvPr id="84" name="Text 20"/>
          <p:cNvSpPr txBox="1"/>
          <p:nvPr/>
        </p:nvSpPr>
        <p:spPr>
          <a:xfrm>
            <a:off x="713231" y="3778686"/>
            <a:ext cx="1051562" cy="5533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900">
                <a:solidFill>
                  <a:schemeClr val="accent2"/>
                </a:solidFill>
              </a:defRPr>
            </a:lvl1pPr>
          </a:lstStyle>
          <a:p>
            <a:pPr/>
            <a:r>
              <a:t>165</a:t>
            </a:r>
          </a:p>
        </p:txBody>
      </p:sp>
      <p:sp>
        <p:nvSpPr>
          <p:cNvPr id="85" name="Text 21"/>
          <p:cNvSpPr txBox="1"/>
          <p:nvPr/>
        </p:nvSpPr>
        <p:spPr>
          <a:xfrm>
            <a:off x="1920239" y="3770651"/>
            <a:ext cx="4663442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TPL Dataflow, Pamięć w .NET</a:t>
            </a:r>
          </a:p>
        </p:txBody>
      </p:sp>
      <p:sp>
        <p:nvSpPr>
          <p:cNvPr id="86" name="Text 22"/>
          <p:cNvSpPr txBox="1"/>
          <p:nvPr/>
        </p:nvSpPr>
        <p:spPr>
          <a:xfrm>
            <a:off x="1920239" y="4091177"/>
            <a:ext cx="466344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100">
                <a:solidFill>
                  <a:srgbClr val="DACCE0"/>
                </a:solidFill>
              </a:defRPr>
            </a:lvl1pPr>
          </a:lstStyle>
          <a:p>
            <a:pPr/>
            <a:r>
              <a:t>100. spotkanie · 20.06.2017</a:t>
            </a:r>
          </a:p>
        </p:txBody>
      </p:sp>
      <p:sp>
        <p:nvSpPr>
          <p:cNvPr id="87" name="Text 23"/>
          <p:cNvSpPr txBox="1"/>
          <p:nvPr/>
        </p:nvSpPr>
        <p:spPr>
          <a:xfrm>
            <a:off x="713231" y="4446198"/>
            <a:ext cx="1051562" cy="5533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900">
                <a:solidFill>
                  <a:schemeClr val="accent2"/>
                </a:solidFill>
              </a:defRPr>
            </a:lvl1pPr>
          </a:lstStyle>
          <a:p>
            <a:pPr/>
            <a:r>
              <a:t>158</a:t>
            </a:r>
          </a:p>
        </p:txBody>
      </p:sp>
      <p:sp>
        <p:nvSpPr>
          <p:cNvPr id="88" name="Text 24"/>
          <p:cNvSpPr txBox="1"/>
          <p:nvPr/>
        </p:nvSpPr>
        <p:spPr>
          <a:xfrm>
            <a:off x="1920239" y="4438163"/>
            <a:ext cx="4663442" cy="36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CQRS w trzech odsłonach</a:t>
            </a:r>
          </a:p>
        </p:txBody>
      </p:sp>
      <p:sp>
        <p:nvSpPr>
          <p:cNvPr id="89" name="Text 25"/>
          <p:cNvSpPr txBox="1"/>
          <p:nvPr/>
        </p:nvSpPr>
        <p:spPr>
          <a:xfrm>
            <a:off x="1920239" y="4758689"/>
            <a:ext cx="466344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100">
                <a:solidFill>
                  <a:srgbClr val="DACCE0"/>
                </a:solidFill>
              </a:defRPr>
            </a:lvl1pPr>
          </a:lstStyle>
          <a:p>
            <a:pPr/>
            <a:r>
              <a:t>75. spotkanie · 11.03.2015</a:t>
            </a:r>
          </a:p>
        </p:txBody>
      </p:sp>
      <p:sp>
        <p:nvSpPr>
          <p:cNvPr id="90" name="Text 26"/>
          <p:cNvSpPr txBox="1"/>
          <p:nvPr/>
        </p:nvSpPr>
        <p:spPr>
          <a:xfrm>
            <a:off x="713231" y="5113710"/>
            <a:ext cx="1051562" cy="5533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900">
                <a:solidFill>
                  <a:schemeClr val="accent2"/>
                </a:solidFill>
              </a:defRPr>
            </a:lvl1pPr>
          </a:lstStyle>
          <a:p>
            <a:pPr/>
            <a:r>
              <a:t>145</a:t>
            </a:r>
          </a:p>
        </p:txBody>
      </p:sp>
      <p:sp>
        <p:nvSpPr>
          <p:cNvPr id="91" name="Text 27"/>
          <p:cNvSpPr txBox="1"/>
          <p:nvPr/>
        </p:nvSpPr>
        <p:spPr>
          <a:xfrm>
            <a:off x="1920239" y="5105676"/>
            <a:ext cx="4663442" cy="36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Microservices, Lightning talki</a:t>
            </a:r>
          </a:p>
        </p:txBody>
      </p:sp>
      <p:sp>
        <p:nvSpPr>
          <p:cNvPr id="92" name="Text 28"/>
          <p:cNvSpPr txBox="1"/>
          <p:nvPr/>
        </p:nvSpPr>
        <p:spPr>
          <a:xfrm>
            <a:off x="1920239" y="5426201"/>
            <a:ext cx="466344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100">
                <a:solidFill>
                  <a:srgbClr val="DACCE0"/>
                </a:solidFill>
              </a:defRPr>
            </a:lvl1pPr>
          </a:lstStyle>
          <a:p>
            <a:pPr/>
            <a:r>
              <a:t>86. spotkanie · 09.03.2016</a:t>
            </a:r>
          </a:p>
        </p:txBody>
      </p:sp>
      <p:sp>
        <p:nvSpPr>
          <p:cNvPr id="93" name="Text 30"/>
          <p:cNvSpPr txBox="1"/>
          <p:nvPr/>
        </p:nvSpPr>
        <p:spPr>
          <a:xfrm>
            <a:off x="713231" y="5834748"/>
            <a:ext cx="6035042" cy="5468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1400">
                <a:solidFill>
                  <a:schemeClr val="accent2"/>
                </a:solidFill>
              </a:defRPr>
            </a:pPr>
            <a:r>
              <a:t>205 osób chce być częścią tego spotkania.</a:t>
            </a:r>
            <a:endParaRPr>
              <a:solidFill>
                <a:srgbClr val="000000"/>
              </a:solidFill>
            </a:endParaRPr>
          </a:p>
          <a:p>
            <a:pPr>
              <a:defRPr b="1" sz="1400">
                <a:solidFill>
                  <a:schemeClr val="accent2"/>
                </a:solidFill>
              </a:defRPr>
            </a:pPr>
            <a:r>
              <a:t>Dziękujemy!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96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97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PARTNER STRATEGICZNY</a:t>
            </a:r>
          </a:p>
        </p:txBody>
      </p:sp>
      <p:sp>
        <p:nvSpPr>
          <p:cNvPr id="98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Wspiera nas Devstyle</a:t>
            </a:r>
          </a:p>
        </p:txBody>
      </p:sp>
      <p:sp>
        <p:nvSpPr>
          <p:cNvPr id="99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05</a:t>
            </a:r>
          </a:p>
        </p:txBody>
      </p:sp>
      <p:sp>
        <p:nvSpPr>
          <p:cNvPr id="100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1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102" name="Text 10"/>
          <p:cNvSpPr txBox="1"/>
          <p:nvPr/>
        </p:nvSpPr>
        <p:spPr>
          <a:xfrm>
            <a:off x="713231" y="1984248"/>
            <a:ext cx="5120642" cy="9224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b="1" sz="2700">
                <a:solidFill>
                  <a:schemeClr val="accent1"/>
                </a:solidFill>
              </a:defRPr>
            </a:pPr>
            <a:r>
              <a:t>DZIĘKUJEMY ZA WSPARCIE</a:t>
            </a:r>
            <a:endParaRPr>
              <a:solidFill>
                <a:srgbClr val="000000"/>
              </a:solidFill>
            </a:endParaRPr>
          </a:p>
          <a:p>
            <a:pPr>
              <a:defRPr b="1" sz="2700">
                <a:solidFill>
                  <a:schemeClr val="accent1"/>
                </a:solidFill>
              </a:defRPr>
            </a:pPr>
            <a:r>
              <a:t>WROC.NET</a:t>
            </a:r>
          </a:p>
        </p:txBody>
      </p:sp>
      <p:sp>
        <p:nvSpPr>
          <p:cNvPr id="103" name="Text 11"/>
          <p:cNvSpPr txBox="1"/>
          <p:nvPr/>
        </p:nvSpPr>
        <p:spPr>
          <a:xfrm>
            <a:off x="713232" y="3291840"/>
            <a:ext cx="5230368" cy="6972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sz="1900">
                <a:solidFill>
                  <a:srgbClr val="171219"/>
                </a:solidFill>
              </a:defRPr>
            </a:pPr>
            <a:r>
              <a:t>Devstyle jest partnerem strategicznym</a:t>
            </a:r>
            <a:endParaRPr>
              <a:solidFill>
                <a:srgbClr val="000000"/>
              </a:solidFill>
            </a:endParaRPr>
          </a:p>
          <a:p>
            <a:pPr>
              <a:defRPr sz="1900">
                <a:solidFill>
                  <a:srgbClr val="171219"/>
                </a:solidFill>
              </a:defRPr>
            </a:pPr>
            <a:r>
              <a:t>naszej społeczności.</a:t>
            </a:r>
          </a:p>
        </p:txBody>
      </p:sp>
      <p:sp>
        <p:nvSpPr>
          <p:cNvPr id="104" name="Shape 14"/>
          <p:cNvSpPr/>
          <p:nvPr/>
        </p:nvSpPr>
        <p:spPr>
          <a:xfrm>
            <a:off x="6656831" y="1828799"/>
            <a:ext cx="4535425" cy="3794761"/>
          </a:xfrm>
          <a:prstGeom prst="rect">
            <a:avLst/>
          </a:prstGeom>
          <a:solidFill>
            <a:srgbClr val="F4EDF7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05" name="Logo Devstyle" descr="Logo Devstyl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031735" y="3081527"/>
            <a:ext cx="3785617" cy="758953"/>
          </a:xfrm>
          <a:prstGeom prst="rect">
            <a:avLst/>
          </a:prstGeom>
          <a:ln w="12700">
            <a:miter lim="400000"/>
          </a:ln>
        </p:spPr>
      </p:pic>
      <p:sp>
        <p:nvSpPr>
          <p:cNvPr id="106" name="Text 16"/>
          <p:cNvSpPr txBox="1"/>
          <p:nvPr/>
        </p:nvSpPr>
        <p:spPr>
          <a:xfrm>
            <a:off x="713231" y="4095749"/>
            <a:ext cx="512064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100">
                <a:solidFill>
                  <a:srgbClr val="5E5264"/>
                </a:solidFill>
              </a:defRPr>
            </a:lvl1pPr>
          </a:lstStyle>
          <a:p>
            <a:pPr/>
            <a:r>
              <a:t>PARTNERZY WSPIERAJĄCY</a:t>
            </a:r>
          </a:p>
        </p:txBody>
      </p:sp>
      <p:pic>
        <p:nvPicPr>
          <p:cNvPr id="107" name="Logo Helion" descr="Logo Helion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13231" y="4434840"/>
            <a:ext cx="1463041" cy="484633"/>
          </a:xfrm>
          <a:prstGeom prst="rect">
            <a:avLst/>
          </a:prstGeom>
          <a:ln w="12700">
            <a:miter lim="400000"/>
          </a:ln>
        </p:spPr>
      </p:pic>
      <p:sp>
        <p:nvSpPr>
          <p:cNvPr id="108" name="Text 18"/>
          <p:cNvSpPr txBox="1"/>
          <p:nvPr/>
        </p:nvSpPr>
        <p:spPr>
          <a:xfrm>
            <a:off x="713231" y="4915706"/>
            <a:ext cx="1737362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000">
                <a:solidFill>
                  <a:srgbClr val="5E5264"/>
                </a:solidFill>
              </a:defRPr>
            </a:lvl1pPr>
          </a:lstStyle>
          <a:p>
            <a:pPr/>
            <a:r>
              <a:t>partner nagród</a:t>
            </a:r>
          </a:p>
        </p:txBody>
      </p:sp>
      <p:pic>
        <p:nvPicPr>
          <p:cNvPr id="109" name="Logo hued.me" descr="Logo hued.me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404872" y="4471415"/>
            <a:ext cx="420624" cy="420625"/>
          </a:xfrm>
          <a:prstGeom prst="rect">
            <a:avLst/>
          </a:prstGeom>
          <a:ln w="12700">
            <a:miter lim="400000"/>
          </a:ln>
        </p:spPr>
      </p:pic>
      <p:sp>
        <p:nvSpPr>
          <p:cNvPr id="110" name="Text 20"/>
          <p:cNvSpPr txBox="1"/>
          <p:nvPr/>
        </p:nvSpPr>
        <p:spPr>
          <a:xfrm>
            <a:off x="2404872" y="4915706"/>
            <a:ext cx="237744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000">
                <a:solidFill>
                  <a:srgbClr val="5E5264"/>
                </a:solidFill>
              </a:defRPr>
            </a:lvl1pPr>
          </a:lstStyle>
          <a:p>
            <a:pPr/>
            <a:r>
              <a:t>hued.me — partner medialny</a:t>
            </a:r>
          </a:p>
        </p:txBody>
      </p:sp>
      <p:sp>
        <p:nvSpPr>
          <p:cNvPr id="111" name="Text 13"/>
          <p:cNvSpPr txBox="1"/>
          <p:nvPr/>
        </p:nvSpPr>
        <p:spPr>
          <a:xfrm>
            <a:off x="713231" y="5357135"/>
            <a:ext cx="5120642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chemeClr val="accent1"/>
                </a:solidFill>
              </a:defRPr>
            </a:lvl1pPr>
          </a:lstStyle>
          <a:p>
            <a:pPr/>
            <a:r>
              <a:t>https://devstyle.pl/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14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15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SEZON 2026/2027</a:t>
            </a:r>
          </a:p>
        </p:txBody>
      </p:sp>
      <p:sp>
        <p:nvSpPr>
          <p:cNvPr id="116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Spotykamy się regularnie</a:t>
            </a:r>
          </a:p>
        </p:txBody>
      </p:sp>
      <p:sp>
        <p:nvSpPr>
          <p:cNvPr id="117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06</a:t>
            </a:r>
          </a:p>
        </p:txBody>
      </p:sp>
      <p:sp>
        <p:nvSpPr>
          <p:cNvPr id="118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9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120" name="Text 10"/>
          <p:cNvSpPr txBox="1"/>
          <p:nvPr/>
        </p:nvSpPr>
        <p:spPr>
          <a:xfrm>
            <a:off x="713231" y="1778483"/>
            <a:ext cx="10515601" cy="393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700">
                <a:solidFill>
                  <a:srgbClr val="5E5264"/>
                </a:solidFill>
              </a:defRPr>
            </a:lvl1pPr>
          </a:lstStyle>
          <a:p>
            <a:pPr/>
            <a:r>
              <a:t>Trzeci wtorek miesiąca. Dzisiaj wyjątkowo zaczynamy o 18:00.</a:t>
            </a:r>
          </a:p>
        </p:txBody>
      </p:sp>
      <p:sp>
        <p:nvSpPr>
          <p:cNvPr id="121" name="Line 11"/>
          <p:cNvSpPr/>
          <p:nvPr/>
        </p:nvSpPr>
        <p:spPr>
          <a:xfrm>
            <a:off x="1243584" y="3081527"/>
            <a:ext cx="9701785" cy="1"/>
          </a:xfrm>
          <a:prstGeom prst="line">
            <a:avLst/>
          </a:prstGeom>
          <a:ln w="254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2" name="Circle 20"/>
          <p:cNvSpPr/>
          <p:nvPr/>
        </p:nvSpPr>
        <p:spPr>
          <a:xfrm>
            <a:off x="2496311" y="2862072"/>
            <a:ext cx="438913" cy="438912"/>
          </a:xfrm>
          <a:prstGeom prst="ellipse">
            <a:avLst/>
          </a:prstGeom>
          <a:solidFill>
            <a:srgbClr val="D51A96"/>
          </a:solidFill>
          <a:ln w="19050">
            <a:solidFill>
              <a:srgbClr val="FFFFF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23" name="Text 21"/>
          <p:cNvSpPr txBox="1"/>
          <p:nvPr/>
        </p:nvSpPr>
        <p:spPr>
          <a:xfrm>
            <a:off x="1792223" y="2207627"/>
            <a:ext cx="1847089" cy="5042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500">
                <a:solidFill>
                  <a:srgbClr val="D51A96"/>
                </a:solidFill>
              </a:defRPr>
            </a:lvl1pPr>
          </a:lstStyle>
          <a:p>
            <a:pPr/>
            <a:r>
              <a:t>20 PAŹ</a:t>
            </a:r>
          </a:p>
        </p:txBody>
      </p:sp>
      <p:sp>
        <p:nvSpPr>
          <p:cNvPr id="124" name="Text 22"/>
          <p:cNvSpPr txBox="1"/>
          <p:nvPr/>
        </p:nvSpPr>
        <p:spPr>
          <a:xfrm>
            <a:off x="1792223" y="3543760"/>
            <a:ext cx="1847089" cy="3191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200">
                <a:solidFill>
                  <a:srgbClr val="5E5264"/>
                </a:solidFill>
              </a:defRPr>
            </a:lvl1pPr>
          </a:lstStyle>
          <a:p>
            <a:pPr/>
            <a:r>
              <a:t>dzisiaj · 18:00</a:t>
            </a:r>
          </a:p>
        </p:txBody>
      </p:sp>
      <p:sp>
        <p:nvSpPr>
          <p:cNvPr id="125" name="Circle 23"/>
          <p:cNvSpPr/>
          <p:nvPr/>
        </p:nvSpPr>
        <p:spPr>
          <a:xfrm>
            <a:off x="5788152" y="2862072"/>
            <a:ext cx="438913" cy="438912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26" name="Text 24"/>
          <p:cNvSpPr txBox="1"/>
          <p:nvPr/>
        </p:nvSpPr>
        <p:spPr>
          <a:xfrm>
            <a:off x="5084064" y="2207627"/>
            <a:ext cx="1847089" cy="5042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500">
                <a:solidFill>
                  <a:srgbClr val="171219"/>
                </a:solidFill>
              </a:defRPr>
            </a:lvl1pPr>
          </a:lstStyle>
          <a:p>
            <a:pPr/>
            <a:r>
              <a:t>17 LIS</a:t>
            </a:r>
          </a:p>
        </p:txBody>
      </p:sp>
      <p:sp>
        <p:nvSpPr>
          <p:cNvPr id="127" name="Text 25"/>
          <p:cNvSpPr txBox="1"/>
          <p:nvPr/>
        </p:nvSpPr>
        <p:spPr>
          <a:xfrm>
            <a:off x="5084064" y="3543760"/>
            <a:ext cx="1847089" cy="3191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200">
                <a:solidFill>
                  <a:srgbClr val="5E5264"/>
                </a:solidFill>
              </a:defRPr>
            </a:lvl1pPr>
          </a:lstStyle>
          <a:p>
            <a:pPr/>
            <a:r>
              <a:t>18:30</a:t>
            </a:r>
          </a:p>
        </p:txBody>
      </p:sp>
      <p:sp>
        <p:nvSpPr>
          <p:cNvPr id="128" name="Circle 26"/>
          <p:cNvSpPr/>
          <p:nvPr/>
        </p:nvSpPr>
        <p:spPr>
          <a:xfrm>
            <a:off x="9079992" y="2862072"/>
            <a:ext cx="438913" cy="438912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29" name="Text 27"/>
          <p:cNvSpPr txBox="1"/>
          <p:nvPr/>
        </p:nvSpPr>
        <p:spPr>
          <a:xfrm>
            <a:off x="8375904" y="2207627"/>
            <a:ext cx="1847089" cy="5042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500">
                <a:solidFill>
                  <a:srgbClr val="171219"/>
                </a:solidFill>
              </a:defRPr>
            </a:lvl1pPr>
          </a:lstStyle>
          <a:p>
            <a:pPr/>
            <a:r>
              <a:t>15 GRU</a:t>
            </a:r>
          </a:p>
        </p:txBody>
      </p:sp>
      <p:sp>
        <p:nvSpPr>
          <p:cNvPr id="130" name="Text 28"/>
          <p:cNvSpPr txBox="1"/>
          <p:nvPr/>
        </p:nvSpPr>
        <p:spPr>
          <a:xfrm>
            <a:off x="8375904" y="3543760"/>
            <a:ext cx="1847089" cy="3191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200">
                <a:solidFill>
                  <a:srgbClr val="5E5264"/>
                </a:solidFill>
              </a:defRPr>
            </a:lvl1pPr>
          </a:lstStyle>
          <a:p>
            <a:pPr/>
            <a:r>
              <a:t>18:30</a:t>
            </a:r>
          </a:p>
        </p:txBody>
      </p:sp>
      <p:sp>
        <p:nvSpPr>
          <p:cNvPr id="131" name="Shape 40"/>
          <p:cNvSpPr/>
          <p:nvPr/>
        </p:nvSpPr>
        <p:spPr>
          <a:xfrm>
            <a:off x="1847088" y="4636008"/>
            <a:ext cx="8485632" cy="804673"/>
          </a:xfrm>
          <a:prstGeom prst="rect">
            <a:avLst/>
          </a:prstGeom>
          <a:solidFill>
            <a:srgbClr val="F4EDF7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32" name="Text 41"/>
          <p:cNvSpPr txBox="1"/>
          <p:nvPr/>
        </p:nvSpPr>
        <p:spPr>
          <a:xfrm>
            <a:off x="2057400" y="4826783"/>
            <a:ext cx="8065007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chemeClr val="accent1"/>
                </a:solidFill>
              </a:defRPr>
            </a:lvl1pPr>
          </a:lstStyle>
          <a:p>
            <a:pPr/>
            <a:r>
              <a:t>PUB WĘDRÓWKI  ·  UL. PODWALE 37/38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35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36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NASZE MIEJSCE</a:t>
            </a:r>
          </a:p>
        </p:txBody>
      </p:sp>
      <p:sp>
        <p:nvSpPr>
          <p:cNvPr id="137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Pub Wędrówki</a:t>
            </a:r>
          </a:p>
        </p:txBody>
      </p:sp>
      <p:sp>
        <p:nvSpPr>
          <p:cNvPr id="138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07</a:t>
            </a:r>
          </a:p>
        </p:txBody>
      </p:sp>
      <p:sp>
        <p:nvSpPr>
          <p:cNvPr id="139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0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141" name="Text 11"/>
          <p:cNvSpPr txBox="1"/>
          <p:nvPr/>
        </p:nvSpPr>
        <p:spPr>
          <a:xfrm>
            <a:off x="713231" y="2493330"/>
            <a:ext cx="7498082" cy="664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700">
                <a:solidFill>
                  <a:srgbClr val="171219"/>
                </a:solidFill>
              </a:defRPr>
            </a:lvl1pPr>
          </a:lstStyle>
          <a:p>
            <a:pPr/>
            <a:r>
              <a:t>Nie ma pizzy.</a:t>
            </a:r>
          </a:p>
        </p:txBody>
      </p:sp>
      <p:sp>
        <p:nvSpPr>
          <p:cNvPr id="142" name="Text 12"/>
          <p:cNvSpPr txBox="1"/>
          <p:nvPr/>
        </p:nvSpPr>
        <p:spPr>
          <a:xfrm>
            <a:off x="713231" y="3261426"/>
            <a:ext cx="7498082" cy="664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700">
                <a:solidFill>
                  <a:schemeClr val="accent1"/>
                </a:solidFill>
              </a:defRPr>
            </a:lvl1pPr>
          </a:lstStyle>
          <a:p>
            <a:pPr/>
            <a:r>
              <a:t>Bar działa.</a:t>
            </a:r>
          </a:p>
        </p:txBody>
      </p:sp>
      <p:sp>
        <p:nvSpPr>
          <p:cNvPr id="143" name="Shape 13"/>
          <p:cNvSpPr/>
          <p:nvPr/>
        </p:nvSpPr>
        <p:spPr>
          <a:xfrm>
            <a:off x="8723376" y="2432304"/>
            <a:ext cx="2404873" cy="1956817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44" name="Text 14"/>
          <p:cNvSpPr txBox="1"/>
          <p:nvPr/>
        </p:nvSpPr>
        <p:spPr>
          <a:xfrm>
            <a:off x="8979407" y="2991402"/>
            <a:ext cx="1892808" cy="7471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2100">
                <a:solidFill>
                  <a:srgbClr val="FFFFFF"/>
                </a:solidFill>
              </a:defRPr>
            </a:pPr>
            <a:r>
              <a:t>PIWO</a:t>
            </a:r>
            <a:endParaRPr>
              <a:solidFill>
                <a:srgbClr val="000000"/>
              </a:solidFill>
            </a:endParaRPr>
          </a:p>
          <a:p>
            <a:pPr>
              <a:defRPr b="1" sz="2100">
                <a:solidFill>
                  <a:srgbClr val="FFFFFF"/>
                </a:solidFill>
              </a:defRPr>
            </a:pPr>
            <a:r>
              <a:t>I NAPOJE</a:t>
            </a:r>
          </a:p>
        </p:txBody>
      </p:sp>
      <p:sp>
        <p:nvSpPr>
          <p:cNvPr id="145" name="Text 16"/>
          <p:cNvSpPr txBox="1"/>
          <p:nvPr/>
        </p:nvSpPr>
        <p:spPr>
          <a:xfrm>
            <a:off x="713232" y="4675907"/>
            <a:ext cx="9738360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600">
                <a:solidFill>
                  <a:srgbClr val="5E5264"/>
                </a:solidFill>
              </a:defRPr>
            </a:lvl1pPr>
          </a:lstStyle>
          <a:p>
            <a:pPr/>
            <a:r>
              <a:t>Na miejscu nie zamówimy jedzenia.</a:t>
            </a:r>
          </a:p>
        </p:txBody>
      </p:sp>
      <p:sp>
        <p:nvSpPr>
          <p:cNvPr id="146" name="Text 17"/>
          <p:cNvSpPr txBox="1"/>
          <p:nvPr/>
        </p:nvSpPr>
        <p:spPr>
          <a:xfrm>
            <a:off x="713231" y="5176910"/>
            <a:ext cx="10515601" cy="4178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900">
                <a:solidFill>
                  <a:schemeClr val="accent1"/>
                </a:solidFill>
              </a:defRPr>
            </a:lvl1pPr>
          </a:lstStyle>
          <a:p>
            <a:pPr/>
            <a:r>
              <a:t>Pierwsze 80 napojów na koszt sponsora. Kto pierwszy, ten lepszy!</a:t>
            </a:r>
          </a:p>
        </p:txBody>
      </p:sp>
      <p:sp>
        <p:nvSpPr>
          <p:cNvPr id="147" name="Text 18"/>
          <p:cNvSpPr txBox="1"/>
          <p:nvPr/>
        </p:nvSpPr>
        <p:spPr>
          <a:xfrm>
            <a:off x="713232" y="5663459"/>
            <a:ext cx="9738360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171219"/>
                </a:solidFill>
              </a:defRPr>
            </a:lvl1pPr>
          </a:lstStyle>
          <a:p>
            <a:pPr/>
            <a:r>
              <a:t>Po części oficjalnej zostajemy na rozmowy.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50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51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NA KONIEC SPOTKANIA</a:t>
            </a:r>
          </a:p>
        </p:txBody>
      </p:sp>
      <p:sp>
        <p:nvSpPr>
          <p:cNvPr id="152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Lista obecności = udział w losowaniu</a:t>
            </a:r>
          </a:p>
        </p:txBody>
      </p:sp>
      <p:sp>
        <p:nvSpPr>
          <p:cNvPr id="153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08</a:t>
            </a:r>
          </a:p>
        </p:txBody>
      </p:sp>
      <p:sp>
        <p:nvSpPr>
          <p:cNvPr id="154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5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156" name="Text 10"/>
          <p:cNvSpPr txBox="1"/>
          <p:nvPr/>
        </p:nvSpPr>
        <p:spPr>
          <a:xfrm>
            <a:off x="713232" y="1972261"/>
            <a:ext cx="4983480" cy="6274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400">
                <a:solidFill>
                  <a:schemeClr val="accent1"/>
                </a:solidFill>
              </a:defRPr>
            </a:lvl1pPr>
          </a:lstStyle>
          <a:p>
            <a:pPr/>
            <a:r>
              <a:t>WPISUJESZ SIĘ</a:t>
            </a:r>
          </a:p>
        </p:txBody>
      </p:sp>
      <p:sp>
        <p:nvSpPr>
          <p:cNvPr id="157" name="Text 11"/>
          <p:cNvSpPr txBox="1"/>
          <p:nvPr/>
        </p:nvSpPr>
        <p:spPr>
          <a:xfrm>
            <a:off x="713231" y="2759754"/>
            <a:ext cx="5852162" cy="4423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100">
                <a:solidFill>
                  <a:srgbClr val="171219"/>
                </a:solidFill>
              </a:defRPr>
            </a:lvl1pPr>
          </a:lstStyle>
          <a:p>
            <a:pPr/>
            <a:r>
              <a:t>Bierzesz udział w losowaniu nagród.</a:t>
            </a:r>
          </a:p>
        </p:txBody>
      </p:sp>
      <p:sp>
        <p:nvSpPr>
          <p:cNvPr id="158" name="Shape 12"/>
          <p:cNvSpPr/>
          <p:nvPr/>
        </p:nvSpPr>
        <p:spPr>
          <a:xfrm>
            <a:off x="6931152" y="1856231"/>
            <a:ext cx="4261105" cy="331013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59" name="Text 13"/>
          <p:cNvSpPr txBox="1"/>
          <p:nvPr/>
        </p:nvSpPr>
        <p:spPr>
          <a:xfrm>
            <a:off x="7278623" y="2300038"/>
            <a:ext cx="3566160" cy="355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500">
                <a:solidFill>
                  <a:srgbClr val="D51A96"/>
                </a:solidFill>
              </a:defRPr>
            </a:lvl1pPr>
          </a:lstStyle>
          <a:p>
            <a:pPr/>
            <a:r>
              <a:t>LOSOWANIE</a:t>
            </a:r>
          </a:p>
        </p:txBody>
      </p:sp>
      <p:sp>
        <p:nvSpPr>
          <p:cNvPr id="160" name="Text 14"/>
          <p:cNvSpPr txBox="1"/>
          <p:nvPr/>
        </p:nvSpPr>
        <p:spPr>
          <a:xfrm>
            <a:off x="7278623" y="2924484"/>
            <a:ext cx="3566160" cy="972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2900">
                <a:solidFill>
                  <a:srgbClr val="FFFFFF"/>
                </a:solidFill>
              </a:defRPr>
            </a:pPr>
            <a:r>
              <a:t>NA KONIEC</a:t>
            </a:r>
            <a:endParaRPr>
              <a:solidFill>
                <a:srgbClr val="000000"/>
              </a:solidFill>
            </a:endParaRPr>
          </a:p>
          <a:p>
            <a:pPr>
              <a:defRPr b="1" sz="2900">
                <a:solidFill>
                  <a:srgbClr val="FFFFFF"/>
                </a:solidFill>
              </a:defRPr>
            </a:pPr>
            <a:r>
              <a:t>SPOTKANIA</a:t>
            </a:r>
          </a:p>
        </p:txBody>
      </p:sp>
      <p:sp>
        <p:nvSpPr>
          <p:cNvPr id="161" name="Text 15"/>
          <p:cNvSpPr txBox="1"/>
          <p:nvPr/>
        </p:nvSpPr>
        <p:spPr>
          <a:xfrm>
            <a:off x="713231" y="4041647"/>
            <a:ext cx="5870450" cy="6722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>
                <a:solidFill>
                  <a:srgbClr val="5E5264"/>
                </a:solidFill>
              </a:defRPr>
            </a:pPr>
            <a:r>
              <a:t>Do wygrania są różne nagrody.</a:t>
            </a:r>
            <a:endParaRPr>
              <a:solidFill>
                <a:srgbClr val="000000"/>
              </a:solidFill>
            </a:endParaRPr>
          </a:p>
          <a:p>
            <a:pPr>
              <a:defRPr>
                <a:solidFill>
                  <a:srgbClr val="5E5264"/>
                </a:solidFill>
              </a:defRPr>
            </a:pPr>
            <a:r>
              <a:t>Najczęściej książki od sponsorów.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4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5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NOWOŚĆ</a:t>
            </a:r>
          </a:p>
        </p:txBody>
      </p:sp>
      <p:sp>
        <p:nvSpPr>
          <p:cNvPr id="166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Nowe wrocnet.org</a:t>
            </a:r>
          </a:p>
        </p:txBody>
      </p:sp>
      <p:sp>
        <p:nvSpPr>
          <p:cNvPr id="167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09</a:t>
            </a:r>
          </a:p>
        </p:txBody>
      </p:sp>
      <p:sp>
        <p:nvSpPr>
          <p:cNvPr id="168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9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170" name="Shape 10"/>
          <p:cNvSpPr/>
          <p:nvPr/>
        </p:nvSpPr>
        <p:spPr>
          <a:xfrm>
            <a:off x="658367" y="1847088"/>
            <a:ext cx="7424930" cy="3877057"/>
          </a:xfrm>
          <a:prstGeom prst="rect">
            <a:avLst/>
          </a:prstGeom>
          <a:solidFill>
            <a:srgbClr val="F4EDF7"/>
          </a:solidFill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71" name="Strona główna wrocnet.org" descr="Strona główna wrocnet.or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231" y="1901951"/>
            <a:ext cx="7315201" cy="3767330"/>
          </a:xfrm>
          <a:prstGeom prst="rect">
            <a:avLst/>
          </a:prstGeom>
          <a:ln w="12700">
            <a:miter lim="400000"/>
          </a:ln>
        </p:spPr>
      </p:pic>
      <p:sp>
        <p:nvSpPr>
          <p:cNvPr id="172" name="Shape 12"/>
          <p:cNvSpPr/>
          <p:nvPr/>
        </p:nvSpPr>
        <p:spPr>
          <a:xfrm>
            <a:off x="8321040" y="1847088"/>
            <a:ext cx="2871217" cy="3877057"/>
          </a:xfrm>
          <a:prstGeom prst="rect">
            <a:avLst/>
          </a:prstGeom>
          <a:solidFill>
            <a:srgbClr val="F4EDF7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73" name="Text 13"/>
          <p:cNvSpPr txBox="1"/>
          <p:nvPr/>
        </p:nvSpPr>
        <p:spPr>
          <a:xfrm>
            <a:off x="8613647" y="2189824"/>
            <a:ext cx="2304289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rgbClr val="D51A96"/>
                </a:solidFill>
              </a:defRPr>
            </a:lvl1pPr>
          </a:lstStyle>
          <a:p>
            <a:pPr/>
            <a:r>
              <a:t>PROŚCIEJ</a:t>
            </a:r>
          </a:p>
        </p:txBody>
      </p:sp>
      <p:sp>
        <p:nvSpPr>
          <p:cNvPr id="174" name="Text 14"/>
          <p:cNvSpPr txBox="1"/>
          <p:nvPr/>
        </p:nvSpPr>
        <p:spPr>
          <a:xfrm>
            <a:off x="8613647" y="2834639"/>
            <a:ext cx="2267713" cy="12560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b="1" sz="1900">
                <a:solidFill>
                  <a:srgbClr val="171219"/>
                </a:solidFill>
              </a:defRPr>
            </a:pPr>
            <a:r>
              <a:t>Spotkania, ludzie</a:t>
            </a:r>
            <a:endParaRPr>
              <a:solidFill>
                <a:srgbClr val="000000"/>
              </a:solidFill>
            </a:endParaRPr>
          </a:p>
          <a:p>
            <a:pPr>
              <a:defRPr b="1" sz="1900">
                <a:solidFill>
                  <a:srgbClr val="171219"/>
                </a:solidFill>
              </a:defRPr>
            </a:pPr>
            <a:r>
              <a:t>i historia grupy</a:t>
            </a:r>
            <a:endParaRPr>
              <a:solidFill>
                <a:srgbClr val="000000"/>
              </a:solidFill>
            </a:endParaRPr>
          </a:p>
          <a:p>
            <a:pPr>
              <a:defRPr b="1" sz="1900">
                <a:solidFill>
                  <a:srgbClr val="171219"/>
                </a:solidFill>
              </a:defRPr>
            </a:pPr>
            <a:r>
              <a:t>w jednym miejscu.</a:t>
            </a:r>
          </a:p>
        </p:txBody>
      </p:sp>
      <p:sp>
        <p:nvSpPr>
          <p:cNvPr id="175" name="Text 16"/>
          <p:cNvSpPr txBox="1"/>
          <p:nvPr/>
        </p:nvSpPr>
        <p:spPr>
          <a:xfrm>
            <a:off x="8613647" y="4991375"/>
            <a:ext cx="2267713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chemeClr val="accent1"/>
                </a:solidFill>
              </a:defRPr>
            </a:lvl1pPr>
          </a:lstStyle>
          <a:p>
            <a:pPr/>
            <a:r>
              <a:t>wrocnet.org</a:t>
            </a:r>
          </a:p>
        </p:txBody>
      </p:sp>
      <p:sp>
        <p:nvSpPr>
          <p:cNvPr id="176" name="Text 17"/>
          <p:cNvSpPr txBox="1"/>
          <p:nvPr/>
        </p:nvSpPr>
        <p:spPr>
          <a:xfrm>
            <a:off x="713231" y="5802675"/>
            <a:ext cx="7315201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000">
                <a:solidFill>
                  <a:srgbClr val="5E5264"/>
                </a:solidFill>
              </a:defRPr>
            </a:lvl1pPr>
          </a:lstStyle>
          <a:p>
            <a:pPr/>
            <a:r>
              <a:t>https://wrocnet.org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79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80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WROCNET.ORG</a:t>
            </a:r>
          </a:p>
        </p:txBody>
      </p:sp>
      <p:sp>
        <p:nvSpPr>
          <p:cNvPr id="181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Masz temat? Zostań prelegentem</a:t>
            </a:r>
          </a:p>
        </p:txBody>
      </p:sp>
      <p:sp>
        <p:nvSpPr>
          <p:cNvPr id="182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183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4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185" name="Shape 10"/>
          <p:cNvSpPr/>
          <p:nvPr/>
        </p:nvSpPr>
        <p:spPr>
          <a:xfrm>
            <a:off x="658367" y="1847088"/>
            <a:ext cx="7424930" cy="3877057"/>
          </a:xfrm>
          <a:prstGeom prst="rect">
            <a:avLst/>
          </a:prstGeom>
          <a:solidFill>
            <a:srgbClr val="F4EDF7"/>
          </a:solidFill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86" name="Strona Zostań prelegentem" descr="Strona Zostań prelegentem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231" y="1901951"/>
            <a:ext cx="7315201" cy="3767330"/>
          </a:xfrm>
          <a:prstGeom prst="rect">
            <a:avLst/>
          </a:prstGeom>
          <a:ln w="12700">
            <a:miter lim="400000"/>
          </a:ln>
        </p:spPr>
      </p:pic>
      <p:pic>
        <p:nvPicPr>
          <p:cNvPr id="187" name="Grafika mikrofonu" descr="Grafika mikrofonu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321040" y="1847088"/>
            <a:ext cx="2871217" cy="3877057"/>
          </a:xfrm>
          <a:prstGeom prst="rect">
            <a:avLst/>
          </a:prstGeom>
          <a:ln w="12700">
            <a:miter lim="400000"/>
          </a:ln>
        </p:spPr>
      </p:pic>
      <p:sp>
        <p:nvSpPr>
          <p:cNvPr id="188" name="Shape 16"/>
          <p:cNvSpPr/>
          <p:nvPr/>
        </p:nvSpPr>
        <p:spPr>
          <a:xfrm>
            <a:off x="8321040" y="1847088"/>
            <a:ext cx="2871217" cy="3877057"/>
          </a:xfrm>
          <a:prstGeom prst="rect">
            <a:avLst/>
          </a:prstGeom>
          <a:solidFill>
            <a:schemeClr val="accent1">
              <a:alpha val="70000"/>
            </a:schemeClr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89" name="Text 13"/>
          <p:cNvSpPr txBox="1"/>
          <p:nvPr/>
        </p:nvSpPr>
        <p:spPr>
          <a:xfrm>
            <a:off x="8613647" y="2220397"/>
            <a:ext cx="2304289" cy="4055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>
                <a:solidFill>
                  <a:srgbClr val="D51A96"/>
                </a:solidFill>
              </a:defRPr>
            </a:lvl1pPr>
          </a:lstStyle>
          <a:p>
            <a:pPr/>
            <a:r>
              <a:t>MASZ POMYSŁ?</a:t>
            </a:r>
          </a:p>
        </p:txBody>
      </p:sp>
      <p:sp>
        <p:nvSpPr>
          <p:cNvPr id="190" name="Text 14"/>
          <p:cNvSpPr txBox="1"/>
          <p:nvPr/>
        </p:nvSpPr>
        <p:spPr>
          <a:xfrm>
            <a:off x="8613647" y="2834639"/>
            <a:ext cx="2286001" cy="10142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b="1" sz="2000">
                <a:solidFill>
                  <a:srgbClr val="FFFFFF"/>
                </a:solidFill>
              </a:defRPr>
            </a:pPr>
            <a:r>
              <a:t>Nie musisz mieć</a:t>
            </a:r>
            <a:endParaRPr>
              <a:solidFill>
                <a:srgbClr val="000000"/>
              </a:solidFill>
            </a:endParaRPr>
          </a:p>
          <a:p>
            <a:pPr>
              <a:defRPr b="1" sz="2000">
                <a:solidFill>
                  <a:srgbClr val="FFFFFF"/>
                </a:solidFill>
              </a:defRPr>
            </a:pPr>
            <a:r>
              <a:t>gotowej prezentacji.</a:t>
            </a:r>
          </a:p>
        </p:txBody>
      </p:sp>
      <p:sp>
        <p:nvSpPr>
          <p:cNvPr id="191" name="Text 15"/>
          <p:cNvSpPr txBox="1"/>
          <p:nvPr/>
        </p:nvSpPr>
        <p:spPr>
          <a:xfrm>
            <a:off x="8613647" y="4142232"/>
            <a:ext cx="2267713" cy="596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Zgłoś temat.</a:t>
            </a:r>
            <a:endParaRPr>
              <a:solidFill>
                <a:srgbClr val="000000"/>
              </a:solidFill>
            </a:endParaRP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Pomożemy dalej.</a:t>
            </a:r>
          </a:p>
        </p:txBody>
      </p:sp>
      <p:sp>
        <p:nvSpPr>
          <p:cNvPr id="192" name="Text 17"/>
          <p:cNvSpPr txBox="1"/>
          <p:nvPr/>
        </p:nvSpPr>
        <p:spPr>
          <a:xfrm>
            <a:off x="713231" y="5802675"/>
            <a:ext cx="7315201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000">
                <a:solidFill>
                  <a:srgbClr val="5E5264"/>
                </a:solidFill>
              </a:defRPr>
            </a:lvl1pPr>
          </a:lstStyle>
          <a:p>
            <a:pPr/>
            <a:r>
              <a:t>https://wrocnet.org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95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96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WROCNET.ORG</a:t>
            </a:r>
          </a:p>
        </p:txBody>
      </p:sp>
      <p:sp>
        <p:nvSpPr>
          <p:cNvPr id="197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Poznaj organizatorów</a:t>
            </a:r>
          </a:p>
        </p:txBody>
      </p:sp>
      <p:sp>
        <p:nvSpPr>
          <p:cNvPr id="198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199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0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201" name="Shape 10"/>
          <p:cNvSpPr/>
          <p:nvPr/>
        </p:nvSpPr>
        <p:spPr>
          <a:xfrm>
            <a:off x="658367" y="1847088"/>
            <a:ext cx="7424930" cy="3877057"/>
          </a:xfrm>
          <a:prstGeom prst="rect">
            <a:avLst/>
          </a:prstGeom>
          <a:solidFill>
            <a:srgbClr val="F4EDF7"/>
          </a:solidFill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202" name="Strona Organizatorzy" descr="Strona Organizatorzy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231" y="1901951"/>
            <a:ext cx="7315201" cy="3767330"/>
          </a:xfrm>
          <a:prstGeom prst="rect">
            <a:avLst/>
          </a:prstGeom>
          <a:ln w="12700">
            <a:miter lim="400000"/>
          </a:ln>
        </p:spPr>
      </p:pic>
      <p:sp>
        <p:nvSpPr>
          <p:cNvPr id="203" name="Shape 12"/>
          <p:cNvSpPr/>
          <p:nvPr/>
        </p:nvSpPr>
        <p:spPr>
          <a:xfrm>
            <a:off x="8321040" y="1847088"/>
            <a:ext cx="2871217" cy="3877057"/>
          </a:xfrm>
          <a:prstGeom prst="rect">
            <a:avLst/>
          </a:prstGeom>
          <a:solidFill>
            <a:srgbClr val="F4EDF7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04" name="Text 13"/>
          <p:cNvSpPr txBox="1"/>
          <p:nvPr/>
        </p:nvSpPr>
        <p:spPr>
          <a:xfrm>
            <a:off x="8613647" y="2212848"/>
            <a:ext cx="2304289" cy="672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b="1">
                <a:solidFill>
                  <a:srgbClr val="D51A96"/>
                </a:solidFill>
              </a:defRPr>
            </a:lvl1pPr>
          </a:lstStyle>
          <a:p>
            <a:pPr/>
            <a:r>
              <a:t>LUDZIE ZA WROC.NET</a:t>
            </a:r>
          </a:p>
        </p:txBody>
      </p:sp>
      <p:sp>
        <p:nvSpPr>
          <p:cNvPr id="205" name="Text 14"/>
          <p:cNvSpPr txBox="1"/>
          <p:nvPr/>
        </p:nvSpPr>
        <p:spPr>
          <a:xfrm>
            <a:off x="8613647" y="3136392"/>
            <a:ext cx="2267713" cy="12056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b="1">
                <a:solidFill>
                  <a:srgbClr val="171219"/>
                </a:solidFill>
              </a:defRPr>
            </a:pPr>
            <a:r>
              <a:t>Poznaj aktualnych</a:t>
            </a:r>
            <a:endParaRPr>
              <a:solidFill>
                <a:srgbClr val="000000"/>
              </a:solidFill>
            </a:endParaRPr>
          </a:p>
          <a:p>
            <a:pPr>
              <a:defRPr b="1">
                <a:solidFill>
                  <a:srgbClr val="171219"/>
                </a:solidFill>
              </a:defRPr>
            </a:pPr>
            <a:r>
              <a:t>i byłych organizatorów społeczności.</a:t>
            </a:r>
          </a:p>
        </p:txBody>
      </p:sp>
      <p:sp>
        <p:nvSpPr>
          <p:cNvPr id="206" name="Text 16"/>
          <p:cNvSpPr txBox="1"/>
          <p:nvPr/>
        </p:nvSpPr>
        <p:spPr>
          <a:xfrm>
            <a:off x="8613647" y="5037581"/>
            <a:ext cx="2267713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100">
                <a:solidFill>
                  <a:schemeClr val="accent1"/>
                </a:solidFill>
              </a:defRPr>
            </a:lvl1pPr>
          </a:lstStyle>
          <a:p>
            <a:pPr/>
            <a:r>
              <a:t>wrocnet.org/organizatorzy/</a:t>
            </a:r>
          </a:p>
        </p:txBody>
      </p:sp>
      <p:sp>
        <p:nvSpPr>
          <p:cNvPr id="207" name="Text 17"/>
          <p:cNvSpPr txBox="1"/>
          <p:nvPr/>
        </p:nvSpPr>
        <p:spPr>
          <a:xfrm>
            <a:off x="713231" y="5802675"/>
            <a:ext cx="7315201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000">
                <a:solidFill>
                  <a:srgbClr val="5E5264"/>
                </a:solidFill>
              </a:defRPr>
            </a:lvl1pPr>
          </a:lstStyle>
          <a:p>
            <a:pPr/>
            <a:r>
              <a:t>https://wrocnet.org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10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11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BĄDŹMY W KONTAKCIE</a:t>
            </a:r>
          </a:p>
        </p:txBody>
      </p:sp>
      <p:sp>
        <p:nvSpPr>
          <p:cNvPr id="212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Dołącz do społeczności na WhatsAppie</a:t>
            </a:r>
          </a:p>
        </p:txBody>
      </p:sp>
      <p:sp>
        <p:nvSpPr>
          <p:cNvPr id="213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12</a:t>
            </a:r>
          </a:p>
        </p:txBody>
      </p:sp>
      <p:sp>
        <p:nvSpPr>
          <p:cNvPr id="214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5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216" name="Shape 10"/>
          <p:cNvSpPr/>
          <p:nvPr/>
        </p:nvSpPr>
        <p:spPr>
          <a:xfrm>
            <a:off x="713231" y="1837943"/>
            <a:ext cx="3959354" cy="3959354"/>
          </a:xfrm>
          <a:prstGeom prst="rect">
            <a:avLst/>
          </a:prstGeom>
          <a:solidFill>
            <a:srgbClr val="F4EDF7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217" name="Kod QR społeczności WhatsApp" descr="Kod QR społeczności WhatsApp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41247" y="1965960"/>
            <a:ext cx="3703322" cy="3703321"/>
          </a:xfrm>
          <a:prstGeom prst="rect">
            <a:avLst/>
          </a:prstGeom>
          <a:ln w="12700">
            <a:miter lim="400000"/>
          </a:ln>
        </p:spPr>
      </p:pic>
      <p:pic>
        <p:nvPicPr>
          <p:cNvPr id="218" name="Grafika panelu" descr="Grafika panelu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956047" y="1837944"/>
            <a:ext cx="6236209" cy="3959353"/>
          </a:xfrm>
          <a:prstGeom prst="rect">
            <a:avLst/>
          </a:prstGeom>
          <a:ln w="12700">
            <a:miter lim="400000"/>
          </a:ln>
        </p:spPr>
      </p:pic>
      <p:sp>
        <p:nvSpPr>
          <p:cNvPr id="219" name="Text 13"/>
          <p:cNvSpPr txBox="1"/>
          <p:nvPr/>
        </p:nvSpPr>
        <p:spPr>
          <a:xfrm>
            <a:off x="5358384" y="2293895"/>
            <a:ext cx="5394961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D51A96"/>
                </a:solidFill>
              </a:defRPr>
            </a:lvl1pPr>
          </a:lstStyle>
          <a:p>
            <a:pPr/>
            <a:r>
              <a:t>ZESKANUJ KOD</a:t>
            </a:r>
          </a:p>
        </p:txBody>
      </p:sp>
      <p:sp>
        <p:nvSpPr>
          <p:cNvPr id="220" name="Text 14"/>
          <p:cNvSpPr txBox="1"/>
          <p:nvPr/>
        </p:nvSpPr>
        <p:spPr>
          <a:xfrm>
            <a:off x="5358384" y="2809398"/>
            <a:ext cx="5248657" cy="1147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3500">
                <a:solidFill>
                  <a:srgbClr val="FFFFFF"/>
                </a:solidFill>
              </a:defRPr>
            </a:pPr>
            <a:r>
              <a:t>Wrocławska</a:t>
            </a:r>
            <a:endParaRPr>
              <a:solidFill>
                <a:srgbClr val="000000"/>
              </a:solidFill>
            </a:endParaRPr>
          </a:p>
          <a:p>
            <a:pPr>
              <a:defRPr b="1" sz="3500">
                <a:solidFill>
                  <a:srgbClr val="FFFFFF"/>
                </a:solidFill>
              </a:defRPr>
            </a:pPr>
            <a:r>
              <a:t>Grupa .NET</a:t>
            </a:r>
          </a:p>
        </p:txBody>
      </p:sp>
      <p:sp>
        <p:nvSpPr>
          <p:cNvPr id="221" name="Text 15"/>
          <p:cNvSpPr txBox="1"/>
          <p:nvPr/>
        </p:nvSpPr>
        <p:spPr>
          <a:xfrm>
            <a:off x="5358384" y="4288535"/>
            <a:ext cx="5047489" cy="6722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Ogłoszenia, rozmowy i kontakt między spotkaniami.</a:t>
            </a:r>
          </a:p>
        </p:txBody>
      </p:sp>
      <p:sp>
        <p:nvSpPr>
          <p:cNvPr id="222" name="Text 17"/>
          <p:cNvSpPr txBox="1"/>
          <p:nvPr/>
        </p:nvSpPr>
        <p:spPr>
          <a:xfrm>
            <a:off x="5358384" y="5311554"/>
            <a:ext cx="5047489" cy="331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300">
                <a:solidFill>
                  <a:srgbClr val="D51A96"/>
                </a:solidFill>
              </a:defRPr>
            </a:lvl1pPr>
          </a:lstStyle>
          <a:p>
            <a:pPr/>
            <a:r>
              <a:t>wrocnet.org/whatsapp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25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26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PO CZĘŚCI OFICJALNEJ</a:t>
            </a:r>
          </a:p>
        </p:txBody>
      </p:sp>
      <p:sp>
        <p:nvSpPr>
          <p:cNvPr id="227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Zostajemy. Bo tak trzeba.</a:t>
            </a:r>
          </a:p>
        </p:txBody>
      </p:sp>
      <p:sp>
        <p:nvSpPr>
          <p:cNvPr id="228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13</a:t>
            </a:r>
          </a:p>
        </p:txBody>
      </p:sp>
      <p:sp>
        <p:nvSpPr>
          <p:cNvPr id="229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0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231" name="Text 10"/>
          <p:cNvSpPr txBox="1"/>
          <p:nvPr/>
        </p:nvSpPr>
        <p:spPr>
          <a:xfrm>
            <a:off x="713232" y="1814068"/>
            <a:ext cx="9966960" cy="5781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600">
                <a:solidFill>
                  <a:srgbClr val="171219"/>
                </a:solidFill>
              </a:defRPr>
            </a:lvl1pPr>
          </a:lstStyle>
          <a:p>
            <a:pPr/>
            <a:r>
              <a:t>🍺 Piwo. 💬 Rozmowy. 🤝 Networking.</a:t>
            </a:r>
          </a:p>
        </p:txBody>
      </p:sp>
      <p:sp>
        <p:nvSpPr>
          <p:cNvPr id="232" name="Text 11"/>
          <p:cNvSpPr txBox="1"/>
          <p:nvPr/>
        </p:nvSpPr>
        <p:spPr>
          <a:xfrm>
            <a:off x="713232" y="2480862"/>
            <a:ext cx="9966960" cy="4423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100">
                <a:solidFill>
                  <a:schemeClr val="accent1"/>
                </a:solidFill>
              </a:defRPr>
            </a:lvl1pPr>
          </a:lstStyle>
          <a:p>
            <a:pPr/>
            <a:r>
              <a:t>A czasem — całkiem serio — nowa praca.</a:t>
            </a:r>
          </a:p>
        </p:txBody>
      </p:sp>
      <p:sp>
        <p:nvSpPr>
          <p:cNvPr id="233" name="Shape 12"/>
          <p:cNvSpPr/>
          <p:nvPr/>
        </p:nvSpPr>
        <p:spPr>
          <a:xfrm>
            <a:off x="713232" y="3364991"/>
            <a:ext cx="9966960" cy="1691641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34" name="Text 13"/>
          <p:cNvSpPr txBox="1"/>
          <p:nvPr/>
        </p:nvSpPr>
        <p:spPr>
          <a:xfrm>
            <a:off x="1005840" y="3611879"/>
            <a:ext cx="9418320" cy="847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b="1" sz="2400">
                <a:solidFill>
                  <a:srgbClr val="FFFFFF"/>
                </a:solidFill>
              </a:defRPr>
            </a:pPr>
            <a:r>
              <a:t>PONOĆ NAJWIĘKSZE KARIERY ZACZYNAJĄ SIĘ</a:t>
            </a:r>
            <a:endParaRPr>
              <a:solidFill>
                <a:srgbClr val="000000"/>
              </a:solidFill>
            </a:endParaRPr>
          </a:p>
          <a:p>
            <a:pPr>
              <a:defRPr b="1" sz="2400">
                <a:solidFill>
                  <a:srgbClr val="FFFFFF"/>
                </a:solidFill>
              </a:defRPr>
            </a:pPr>
            <a:r>
              <a:t>PRZY BARZE, NIE NA LINKEDIN</a:t>
            </a:r>
          </a:p>
        </p:txBody>
      </p:sp>
      <p:sp>
        <p:nvSpPr>
          <p:cNvPr id="235" name="Text 14"/>
          <p:cNvSpPr txBox="1"/>
          <p:nvPr/>
        </p:nvSpPr>
        <p:spPr>
          <a:xfrm>
            <a:off x="1005840" y="4526279"/>
            <a:ext cx="9418320" cy="3436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b="1" sz="1400">
                <a:solidFill>
                  <a:srgbClr val="D51A96"/>
                </a:solidFill>
              </a:defRPr>
            </a:lvl1pPr>
          </a:lstStyle>
          <a:p>
            <a:pPr/>
            <a:r>
              <a:t>(przynajmniej tak mówią ci, którzy zostali dłużej)</a:t>
            </a:r>
          </a:p>
        </p:txBody>
      </p:sp>
      <p:sp>
        <p:nvSpPr>
          <p:cNvPr id="236" name="Text 15"/>
          <p:cNvSpPr txBox="1"/>
          <p:nvPr/>
        </p:nvSpPr>
        <p:spPr>
          <a:xfrm>
            <a:off x="713232" y="5370851"/>
            <a:ext cx="9966960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600">
                <a:solidFill>
                  <a:srgbClr val="5E5264"/>
                </a:solidFill>
              </a:defRPr>
            </a:lvl1pPr>
          </a:lstStyle>
          <a:p>
            <a:pPr/>
            <a:r>
              <a:t>Zostań chwilę dłużej — może właśnie tu jest Twoja następna okazja.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39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40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172. SPOTKANIE · 17 LISTOPADA 2026 · 18:30</a:t>
            </a:r>
          </a:p>
        </p:txBody>
      </p:sp>
      <p:sp>
        <p:nvSpPr>
          <p:cNvPr id="241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Następne spotkanie Wroc.NET</a:t>
            </a:r>
          </a:p>
        </p:txBody>
      </p:sp>
      <p:sp>
        <p:nvSpPr>
          <p:cNvPr id="242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14</a:t>
            </a:r>
          </a:p>
        </p:txBody>
      </p:sp>
      <p:sp>
        <p:nvSpPr>
          <p:cNvPr id="243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4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pic>
        <p:nvPicPr>
          <p:cNvPr id="245" name="Piotr Gankiewicz" descr="Piotr Gankiewicz"/>
          <p:cNvPicPr>
            <a:picLocks noChangeAspect="1"/>
          </p:cNvPicPr>
          <p:nvPr/>
        </p:nvPicPr>
        <p:blipFill>
          <a:blip r:embed="rId2">
            <a:extLst/>
          </a:blip>
          <a:srcRect l="0" t="0" r="10" b="10"/>
          <a:stretch>
            <a:fillRect/>
          </a:stretch>
        </p:blipFill>
        <p:spPr>
          <a:xfrm>
            <a:off x="9189719" y="1600199"/>
            <a:ext cx="1462882" cy="146288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246" name="Piotr Gankiewicz - panel" descr="Piotr Gankiewicz - panel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412480" y="4069079"/>
            <a:ext cx="868681" cy="8686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0"/>
                </a:moveTo>
                <a:cubicBezTo>
                  <a:pt x="4831" y="0"/>
                  <a:pt x="0" y="4831"/>
                  <a:pt x="0" y="10795"/>
                </a:cubicBezTo>
                <a:cubicBezTo>
                  <a:pt x="0" y="16759"/>
                  <a:pt x="4831" y="21600"/>
                  <a:pt x="10795" y="21600"/>
                </a:cubicBezTo>
                <a:cubicBezTo>
                  <a:pt x="16759" y="21600"/>
                  <a:pt x="21600" y="16759"/>
                  <a:pt x="21600" y="10795"/>
                </a:cubicBezTo>
                <a:cubicBezTo>
                  <a:pt x="21600" y="4831"/>
                  <a:pt x="16759" y="0"/>
                  <a:pt x="10795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247" name="Łukasz Olbromski - panel" descr="Łukasz Olbromski - panel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418319" y="4069079"/>
            <a:ext cx="868681" cy="8686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0"/>
                </a:moveTo>
                <a:cubicBezTo>
                  <a:pt x="4831" y="0"/>
                  <a:pt x="0" y="4831"/>
                  <a:pt x="0" y="10795"/>
                </a:cubicBezTo>
                <a:cubicBezTo>
                  <a:pt x="0" y="16759"/>
                  <a:pt x="4831" y="21600"/>
                  <a:pt x="10795" y="21600"/>
                </a:cubicBezTo>
                <a:cubicBezTo>
                  <a:pt x="16759" y="21600"/>
                  <a:pt x="21600" y="16759"/>
                  <a:pt x="21600" y="10795"/>
                </a:cubicBezTo>
                <a:cubicBezTo>
                  <a:pt x="21600" y="4831"/>
                  <a:pt x="16759" y="0"/>
                  <a:pt x="10795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248" name="Łukasz Pyrzyk - panel" descr="Łukasz Pyrzyk - panel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0424159" y="4069079"/>
            <a:ext cx="868681" cy="8686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0"/>
                </a:moveTo>
                <a:cubicBezTo>
                  <a:pt x="4831" y="0"/>
                  <a:pt x="0" y="4831"/>
                  <a:pt x="0" y="10795"/>
                </a:cubicBezTo>
                <a:cubicBezTo>
                  <a:pt x="0" y="16759"/>
                  <a:pt x="4831" y="21600"/>
                  <a:pt x="10795" y="21600"/>
                </a:cubicBezTo>
                <a:cubicBezTo>
                  <a:pt x="16759" y="21600"/>
                  <a:pt x="21600" y="16759"/>
                  <a:pt x="21600" y="10795"/>
                </a:cubicBezTo>
                <a:cubicBezTo>
                  <a:pt x="21600" y="4831"/>
                  <a:pt x="16759" y="0"/>
                  <a:pt x="10795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249" name="Text 10"/>
          <p:cNvSpPr txBox="1"/>
          <p:nvPr/>
        </p:nvSpPr>
        <p:spPr>
          <a:xfrm>
            <a:off x="713231" y="1735002"/>
            <a:ext cx="7498082" cy="5533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900">
                <a:solidFill>
                  <a:schemeClr val="accent1"/>
                </a:solidFill>
              </a:defRPr>
            </a:lvl1pPr>
          </a:lstStyle>
          <a:p>
            <a:pPr/>
            <a:r>
              <a:t>Piotr Gankiewicz</a:t>
            </a:r>
          </a:p>
        </p:txBody>
      </p:sp>
      <p:sp>
        <p:nvSpPr>
          <p:cNvPr id="250" name="Text 11"/>
          <p:cNvSpPr txBox="1"/>
          <p:nvPr/>
        </p:nvSpPr>
        <p:spPr>
          <a:xfrm>
            <a:off x="713231" y="2275838"/>
            <a:ext cx="7498082" cy="7975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sz="2200">
                <a:solidFill>
                  <a:srgbClr val="5E5264"/>
                </a:solidFill>
              </a:defRPr>
            </a:pPr>
            <a:r>
              <a:t>Ultra-wydajność -</a:t>
            </a:r>
            <a:endParaRPr>
              <a:solidFill>
                <a:srgbClr val="000000"/>
              </a:solidFill>
            </a:endParaRPr>
          </a:p>
          <a:p>
            <a:pPr>
              <a:defRPr sz="2200">
                <a:solidFill>
                  <a:srgbClr val="5E5264"/>
                </a:solidFill>
              </a:defRPr>
            </a:pPr>
            <a:r>
              <a:t>gdy liczy się każda mikrosekunda</a:t>
            </a:r>
          </a:p>
        </p:txBody>
      </p:sp>
      <p:sp>
        <p:nvSpPr>
          <p:cNvPr id="251" name="Line 12"/>
          <p:cNvSpPr/>
          <p:nvPr/>
        </p:nvSpPr>
        <p:spPr>
          <a:xfrm>
            <a:off x="713232" y="3136392"/>
            <a:ext cx="10479025" cy="1"/>
          </a:xfrm>
          <a:prstGeom prst="line">
            <a:avLst/>
          </a:prstGeom>
          <a:ln w="1905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2" name="Text 13"/>
          <p:cNvSpPr txBox="1"/>
          <p:nvPr/>
        </p:nvSpPr>
        <p:spPr>
          <a:xfrm>
            <a:off x="713231" y="3423318"/>
            <a:ext cx="10515601" cy="331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300">
                <a:solidFill>
                  <a:srgbClr val="D51A96"/>
                </a:solidFill>
              </a:defRPr>
            </a:lvl1pPr>
          </a:lstStyle>
          <a:p>
            <a:pPr/>
            <a:r>
              <a:t>PANEL DYSKUSYJNY</a:t>
            </a:r>
          </a:p>
        </p:txBody>
      </p:sp>
      <p:sp>
        <p:nvSpPr>
          <p:cNvPr id="253" name="Text 14"/>
          <p:cNvSpPr txBox="1"/>
          <p:nvPr/>
        </p:nvSpPr>
        <p:spPr>
          <a:xfrm>
            <a:off x="713231" y="3732181"/>
            <a:ext cx="7498082" cy="847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2400">
                <a:solidFill>
                  <a:srgbClr val="171219"/>
                </a:solidFill>
              </a:defRPr>
            </a:pPr>
            <a:r>
              <a:t>Kiedy .NET wystarcza,</a:t>
            </a:r>
            <a:endParaRPr>
              <a:solidFill>
                <a:srgbClr val="000000"/>
              </a:solidFill>
            </a:endParaRPr>
          </a:p>
          <a:p>
            <a:pPr>
              <a:defRPr b="1" sz="2400">
                <a:solidFill>
                  <a:srgbClr val="171219"/>
                </a:solidFill>
              </a:defRPr>
            </a:pPr>
            <a:r>
              <a:t>a kiedy warto wyjść poza niego?</a:t>
            </a:r>
          </a:p>
        </p:txBody>
      </p:sp>
      <p:sp>
        <p:nvSpPr>
          <p:cNvPr id="254" name="Text 15"/>
          <p:cNvSpPr txBox="1"/>
          <p:nvPr/>
        </p:nvSpPr>
        <p:spPr>
          <a:xfrm>
            <a:off x="713231" y="4622382"/>
            <a:ext cx="7498082" cy="722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2000">
                <a:solidFill>
                  <a:schemeClr val="accent1"/>
                </a:solidFill>
              </a:defRPr>
            </a:pPr>
            <a:r>
              <a:t>Piotr Gankiewicz · Łukasz Olbromski</a:t>
            </a:r>
            <a:endParaRPr>
              <a:solidFill>
                <a:srgbClr val="000000"/>
              </a:solidFill>
            </a:endParaRPr>
          </a:p>
          <a:p>
            <a:pPr>
              <a:defRPr b="1" sz="2000">
                <a:solidFill>
                  <a:schemeClr val="accent1"/>
                </a:solidFill>
              </a:defRPr>
            </a:pPr>
            <a:r>
              <a:t>Łukasz Pyrzyk</a:t>
            </a:r>
          </a:p>
        </p:txBody>
      </p:sp>
      <p:sp>
        <p:nvSpPr>
          <p:cNvPr id="255" name="Text 16"/>
          <p:cNvSpPr txBox="1"/>
          <p:nvPr/>
        </p:nvSpPr>
        <p:spPr>
          <a:xfrm>
            <a:off x="713231" y="5297214"/>
            <a:ext cx="10515601" cy="4423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2100">
                <a:solidFill>
                  <a:srgbClr val="5E5264"/>
                </a:solidFill>
              </a:defRPr>
            </a:lvl1pPr>
          </a:lstStyle>
          <a:p>
            <a:pPr/>
            <a:r>
              <a:t>+ uczestnicy spotkania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58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59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171. SPOTKANIE · DZISIEJSZY PROGRAM · GODZINY ORIENTACYJNE</a:t>
            </a:r>
          </a:p>
        </p:txBody>
      </p:sp>
      <p:sp>
        <p:nvSpPr>
          <p:cNvPr id="260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AI w praktyce</a:t>
            </a:r>
          </a:p>
        </p:txBody>
      </p:sp>
      <p:sp>
        <p:nvSpPr>
          <p:cNvPr id="261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15</a:t>
            </a:r>
          </a:p>
        </p:txBody>
      </p:sp>
      <p:sp>
        <p:nvSpPr>
          <p:cNvPr id="262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3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pic>
        <p:nvPicPr>
          <p:cNvPr id="264" name="Jakub Kubryński" descr="Jakub Kubryński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646919" y="1691639"/>
            <a:ext cx="1051561" cy="1051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6" y="0"/>
                  <a:pt x="0" y="4836"/>
                  <a:pt x="0" y="10800"/>
                </a:cubicBezTo>
                <a:cubicBezTo>
                  <a:pt x="0" y="16764"/>
                  <a:pt x="4836" y="21600"/>
                  <a:pt x="10800" y="21600"/>
                </a:cubicBezTo>
                <a:cubicBezTo>
                  <a:pt x="16764" y="21600"/>
                  <a:pt x="21600" y="16764"/>
                  <a:pt x="21600" y="10800"/>
                </a:cubicBezTo>
                <a:cubicBezTo>
                  <a:pt x="21600" y="4836"/>
                  <a:pt x="16764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265" name="Maciej Aniserowicz" descr="Maciej Aniserowicz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646919" y="2834639"/>
            <a:ext cx="1051561" cy="1051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6" y="0"/>
                  <a:pt x="0" y="4836"/>
                  <a:pt x="0" y="10800"/>
                </a:cubicBezTo>
                <a:cubicBezTo>
                  <a:pt x="0" y="16764"/>
                  <a:pt x="4836" y="21600"/>
                  <a:pt x="10800" y="21600"/>
                </a:cubicBezTo>
                <a:cubicBezTo>
                  <a:pt x="16764" y="21600"/>
                  <a:pt x="21600" y="16764"/>
                  <a:pt x="21600" y="10800"/>
                </a:cubicBezTo>
                <a:cubicBezTo>
                  <a:pt x="21600" y="4836"/>
                  <a:pt x="16764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266" name="Text 21"/>
          <p:cNvSpPr txBox="1"/>
          <p:nvPr/>
        </p:nvSpPr>
        <p:spPr>
          <a:xfrm>
            <a:off x="713231" y="1682332"/>
            <a:ext cx="1097282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chemeClr val="accent1"/>
                </a:solidFill>
              </a:defRPr>
            </a:lvl1pPr>
          </a:lstStyle>
          <a:p>
            <a:pPr/>
            <a:r>
              <a:t>18:15</a:t>
            </a:r>
          </a:p>
        </p:txBody>
      </p:sp>
      <p:sp>
        <p:nvSpPr>
          <p:cNvPr id="267" name="Text 10"/>
          <p:cNvSpPr txBox="1"/>
          <p:nvPr/>
        </p:nvSpPr>
        <p:spPr>
          <a:xfrm>
            <a:off x="1920240" y="1657555"/>
            <a:ext cx="7223760" cy="479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300">
                <a:solidFill>
                  <a:schemeClr val="accent1"/>
                </a:solidFill>
              </a:defRPr>
            </a:lvl1pPr>
          </a:lstStyle>
          <a:p>
            <a:pPr/>
            <a:r>
              <a:t>Jakub Kubryński</a:t>
            </a:r>
          </a:p>
        </p:txBody>
      </p:sp>
      <p:sp>
        <p:nvSpPr>
          <p:cNvPr id="268" name="Text 11"/>
          <p:cNvSpPr txBox="1"/>
          <p:nvPr/>
        </p:nvSpPr>
        <p:spPr>
          <a:xfrm>
            <a:off x="1920240" y="2180680"/>
            <a:ext cx="7223760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rgbClr val="171219"/>
                </a:solidFill>
              </a:defRPr>
            </a:lvl1pPr>
          </a:lstStyle>
          <a:p>
            <a:pPr/>
            <a:r>
              <a:t>AI Retrofit: nowe możliwości, 14 lat bagażu</a:t>
            </a:r>
          </a:p>
        </p:txBody>
      </p:sp>
      <p:sp>
        <p:nvSpPr>
          <p:cNvPr id="269" name="Line 12"/>
          <p:cNvSpPr/>
          <p:nvPr/>
        </p:nvSpPr>
        <p:spPr>
          <a:xfrm>
            <a:off x="713232" y="2743200"/>
            <a:ext cx="10479025" cy="0"/>
          </a:xfrm>
          <a:prstGeom prst="line">
            <a:avLst/>
          </a:prstGeom>
          <a:ln w="1905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0" name="Text 22"/>
          <p:cNvSpPr txBox="1"/>
          <p:nvPr/>
        </p:nvSpPr>
        <p:spPr>
          <a:xfrm>
            <a:off x="713231" y="2843620"/>
            <a:ext cx="1097282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chemeClr val="accent1"/>
                </a:solidFill>
              </a:defRPr>
            </a:lvl1pPr>
          </a:lstStyle>
          <a:p>
            <a:pPr/>
            <a:r>
              <a:t>19:15</a:t>
            </a:r>
          </a:p>
        </p:txBody>
      </p:sp>
      <p:sp>
        <p:nvSpPr>
          <p:cNvPr id="271" name="Text 13"/>
          <p:cNvSpPr txBox="1"/>
          <p:nvPr/>
        </p:nvSpPr>
        <p:spPr>
          <a:xfrm>
            <a:off x="1920240" y="2818843"/>
            <a:ext cx="7223760" cy="479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300">
                <a:solidFill>
                  <a:schemeClr val="accent1"/>
                </a:solidFill>
              </a:defRPr>
            </a:lvl1pPr>
          </a:lstStyle>
          <a:p>
            <a:pPr/>
            <a:r>
              <a:t>Maciej Aniserowicz</a:t>
            </a:r>
          </a:p>
        </p:txBody>
      </p:sp>
      <p:sp>
        <p:nvSpPr>
          <p:cNvPr id="272" name="Text 14"/>
          <p:cNvSpPr txBox="1"/>
          <p:nvPr/>
        </p:nvSpPr>
        <p:spPr>
          <a:xfrm>
            <a:off x="1920240" y="3323334"/>
            <a:ext cx="7223760" cy="4673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200">
                <a:solidFill>
                  <a:srgbClr val="171219"/>
                </a:solidFill>
              </a:defRPr>
            </a:lvl1pPr>
          </a:lstStyle>
          <a:p>
            <a:pPr/>
            <a:r>
              <a:t>Tańczący z Agentami</a:t>
            </a:r>
          </a:p>
        </p:txBody>
      </p:sp>
      <p:sp>
        <p:nvSpPr>
          <p:cNvPr id="273" name="Line 17"/>
          <p:cNvSpPr/>
          <p:nvPr/>
        </p:nvSpPr>
        <p:spPr>
          <a:xfrm>
            <a:off x="713232" y="3977640"/>
            <a:ext cx="10479025" cy="1"/>
          </a:xfrm>
          <a:prstGeom prst="line">
            <a:avLst/>
          </a:prstGeom>
          <a:ln w="1905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4" name="Text 23"/>
          <p:cNvSpPr txBox="1"/>
          <p:nvPr/>
        </p:nvSpPr>
        <p:spPr>
          <a:xfrm>
            <a:off x="713231" y="4151212"/>
            <a:ext cx="1097282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chemeClr val="accent1"/>
                </a:solidFill>
              </a:defRPr>
            </a:lvl1pPr>
          </a:lstStyle>
          <a:p>
            <a:pPr/>
            <a:r>
              <a:t>20:15</a:t>
            </a:r>
          </a:p>
        </p:txBody>
      </p:sp>
      <p:sp>
        <p:nvSpPr>
          <p:cNvPr id="275" name="Text 18"/>
          <p:cNvSpPr txBox="1"/>
          <p:nvPr/>
        </p:nvSpPr>
        <p:spPr>
          <a:xfrm>
            <a:off x="1920240" y="4132578"/>
            <a:ext cx="7223760" cy="4673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200">
                <a:solidFill>
                  <a:schemeClr val="accent1"/>
                </a:solidFill>
              </a:defRPr>
            </a:lvl1pPr>
          </a:lstStyle>
          <a:p>
            <a:pPr/>
            <a:r>
              <a:t>Panel dyskusyjny</a:t>
            </a:r>
          </a:p>
        </p:txBody>
      </p:sp>
      <p:sp>
        <p:nvSpPr>
          <p:cNvPr id="276" name="Text 24"/>
          <p:cNvSpPr txBox="1"/>
          <p:nvPr/>
        </p:nvSpPr>
        <p:spPr>
          <a:xfrm>
            <a:off x="1920240" y="4553687"/>
            <a:ext cx="7223760" cy="393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700">
                <a:solidFill>
                  <a:srgbClr val="171219"/>
                </a:solidFill>
              </a:defRPr>
            </a:lvl1pPr>
          </a:lstStyle>
          <a:p>
            <a:pPr/>
            <a:r>
              <a:t>Aniserowicz x Kubryński</a:t>
            </a:r>
          </a:p>
        </p:txBody>
      </p:sp>
      <p:pic>
        <p:nvPicPr>
          <p:cNvPr id="277" name="Maciej Aniserowicz - panel" descr="Maciej Aniserowicz - panel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235440" y="4160520"/>
            <a:ext cx="868681" cy="8686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0"/>
                </a:moveTo>
                <a:cubicBezTo>
                  <a:pt x="4831" y="0"/>
                  <a:pt x="0" y="4831"/>
                  <a:pt x="0" y="10795"/>
                </a:cubicBezTo>
                <a:cubicBezTo>
                  <a:pt x="0" y="16759"/>
                  <a:pt x="4831" y="21600"/>
                  <a:pt x="10795" y="21600"/>
                </a:cubicBezTo>
                <a:cubicBezTo>
                  <a:pt x="16759" y="21600"/>
                  <a:pt x="21600" y="16759"/>
                  <a:pt x="21600" y="10795"/>
                </a:cubicBezTo>
                <a:cubicBezTo>
                  <a:pt x="21600" y="4831"/>
                  <a:pt x="16759" y="0"/>
                  <a:pt x="10795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278" name="Jakub Kubryński - panel" descr="Jakub Kubryński - panel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286999" y="4160520"/>
            <a:ext cx="868682" cy="8686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0"/>
                </a:moveTo>
                <a:cubicBezTo>
                  <a:pt x="4831" y="0"/>
                  <a:pt x="0" y="4831"/>
                  <a:pt x="0" y="10795"/>
                </a:cubicBezTo>
                <a:cubicBezTo>
                  <a:pt x="0" y="16759"/>
                  <a:pt x="4831" y="21600"/>
                  <a:pt x="10795" y="21600"/>
                </a:cubicBezTo>
                <a:cubicBezTo>
                  <a:pt x="16759" y="21600"/>
                  <a:pt x="21600" y="16759"/>
                  <a:pt x="21600" y="10795"/>
                </a:cubicBezTo>
                <a:cubicBezTo>
                  <a:pt x="21600" y="4831"/>
                  <a:pt x="16759" y="0"/>
                  <a:pt x="10795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279" name="Text 27"/>
          <p:cNvSpPr txBox="1"/>
          <p:nvPr/>
        </p:nvSpPr>
        <p:spPr>
          <a:xfrm>
            <a:off x="713231" y="5157052"/>
            <a:ext cx="1097282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chemeClr val="accent1"/>
                </a:solidFill>
              </a:defRPr>
            </a:lvl1pPr>
          </a:lstStyle>
          <a:p>
            <a:pPr/>
            <a:r>
              <a:t>21:00</a:t>
            </a:r>
          </a:p>
        </p:txBody>
      </p:sp>
      <p:sp>
        <p:nvSpPr>
          <p:cNvPr id="280" name="Text 19"/>
          <p:cNvSpPr txBox="1"/>
          <p:nvPr/>
        </p:nvSpPr>
        <p:spPr>
          <a:xfrm>
            <a:off x="1920240" y="5138418"/>
            <a:ext cx="9052560" cy="4673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200">
                <a:solidFill>
                  <a:schemeClr val="accent1"/>
                </a:solidFill>
              </a:defRPr>
            </a:lvl1pPr>
          </a:lstStyle>
          <a:p>
            <a:pPr/>
            <a:r>
              <a:t>After party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Wroc.NET">
  <a:themeElements>
    <a:clrScheme name="Wroc.NET">
      <a:dk1>
        <a:srgbClr val="160E22"/>
      </a:dk1>
      <a:lt1>
        <a:srgbClr val="1C2214"/>
      </a:lt1>
      <a:dk2>
        <a:srgbClr val="A7A7A7"/>
      </a:dk2>
      <a:lt2>
        <a:srgbClr val="535353"/>
      </a:lt2>
      <a:accent1>
        <a:srgbClr val="641E78"/>
      </a:accent1>
      <a:accent2>
        <a:srgbClr val="F13BB8"/>
      </a:accent2>
      <a:accent3>
        <a:srgbClr val="8B2BBE"/>
      </a:accent3>
      <a:accent4>
        <a:srgbClr val="25D366"/>
      </a:accent4>
      <a:accent5>
        <a:srgbClr val="B9ADBF"/>
      </a:accent5>
      <a:accent6>
        <a:srgbClr val="6E347E"/>
      </a:accent6>
      <a:hlink>
        <a:srgbClr val="0000FF"/>
      </a:hlink>
      <a:folHlink>
        <a:srgbClr val="FF00FF"/>
      </a:folHlink>
    </a:clrScheme>
    <a:fontScheme name="Wroc.NE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Wroc.NE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60E22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60E22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Wroc.NET">
  <a:themeElements>
    <a:clrScheme name="Wroc.NE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641E78"/>
      </a:accent1>
      <a:accent2>
        <a:srgbClr val="F13BB8"/>
      </a:accent2>
      <a:accent3>
        <a:srgbClr val="8B2BBE"/>
      </a:accent3>
      <a:accent4>
        <a:srgbClr val="25D366"/>
      </a:accent4>
      <a:accent5>
        <a:srgbClr val="B9ADBF"/>
      </a:accent5>
      <a:accent6>
        <a:srgbClr val="6E347E"/>
      </a:accent6>
      <a:hlink>
        <a:srgbClr val="0000FF"/>
      </a:hlink>
      <a:folHlink>
        <a:srgbClr val="FF00FF"/>
      </a:folHlink>
    </a:clrScheme>
    <a:fontScheme name="Wroc.NE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Wroc.NE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60E22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60E22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